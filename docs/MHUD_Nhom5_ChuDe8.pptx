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43"/>
  </p:notesMasterIdLst>
  <p:sldIdLst>
    <p:sldId id="256" r:id="rId2"/>
    <p:sldId id="257" r:id="rId3"/>
    <p:sldId id="259" r:id="rId4"/>
    <p:sldId id="263" r:id="rId5"/>
    <p:sldId id="261" r:id="rId6"/>
    <p:sldId id="262"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9" r:id="rId31"/>
    <p:sldId id="288" r:id="rId32"/>
    <p:sldId id="290" r:id="rId33"/>
    <p:sldId id="291" r:id="rId34"/>
    <p:sldId id="292" r:id="rId35"/>
    <p:sldId id="295" r:id="rId36"/>
    <p:sldId id="296" r:id="rId37"/>
    <p:sldId id="297" r:id="rId38"/>
    <p:sldId id="298" r:id="rId39"/>
    <p:sldId id="299" r:id="rId40"/>
    <p:sldId id="300" r:id="rId41"/>
    <p:sldId id="301"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E2E6378-EC7F-40A2-9802-7511336C5F0F}">
          <p14:sldIdLst>
            <p14:sldId id="256"/>
            <p14:sldId id="257"/>
            <p14:sldId id="259"/>
          </p14:sldIdLst>
        </p14:section>
        <p14:section name="1" id="{7E82E5E1-8C77-47A3-A781-47B8BBEFF23B}">
          <p14:sldIdLst>
            <p14:sldId id="263"/>
            <p14:sldId id="261"/>
            <p14:sldId id="262"/>
            <p14:sldId id="265"/>
            <p14:sldId id="266"/>
            <p14:sldId id="267"/>
          </p14:sldIdLst>
        </p14:section>
        <p14:section name="2" id="{D8529D9A-9CFB-4BA2-B988-6431447A9A91}">
          <p14:sldIdLst>
            <p14:sldId id="268"/>
            <p14:sldId id="269"/>
            <p14:sldId id="270"/>
            <p14:sldId id="271"/>
            <p14:sldId id="272"/>
          </p14:sldIdLst>
        </p14:section>
        <p14:section name="3" id="{9BC97399-F46C-471A-ACDE-63058B96D1D5}">
          <p14:sldIdLst>
            <p14:sldId id="273"/>
            <p14:sldId id="274"/>
            <p14:sldId id="275"/>
            <p14:sldId id="276"/>
            <p14:sldId id="277"/>
            <p14:sldId id="278"/>
            <p14:sldId id="279"/>
          </p14:sldIdLst>
        </p14:section>
        <p14:section name="4" id="{B9DD2CFD-E6B8-4DAD-9322-43A5C3D2F6AB}">
          <p14:sldIdLst>
            <p14:sldId id="280"/>
            <p14:sldId id="281"/>
            <p14:sldId id="282"/>
            <p14:sldId id="283"/>
            <p14:sldId id="284"/>
            <p14:sldId id="285"/>
            <p14:sldId id="286"/>
            <p14:sldId id="287"/>
            <p14:sldId id="289"/>
            <p14:sldId id="288"/>
            <p14:sldId id="290"/>
            <p14:sldId id="291"/>
            <p14:sldId id="292"/>
            <p14:sldId id="295"/>
            <p14:sldId id="296"/>
            <p14:sldId id="297"/>
            <p14:sldId id="298"/>
            <p14:sldId id="299"/>
            <p14:sldId id="300"/>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FFFF"/>
    <a:srgbClr val="242476"/>
    <a:srgbClr val="A0B0DC"/>
    <a:srgbClr val="FF37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0.26178" units="1/cm"/>
          <inkml:channelProperty channel="Y" name="resolution" value="50.23256" units="1/cm"/>
          <inkml:channelProperty channel="T" name="resolution" value="1" units="1/dev"/>
        </inkml:channelProperties>
      </inkml:inkSource>
      <inkml:timestamp xml:id="ts0" timeString="2025-12-16T10:42:45.274"/>
    </inkml:context>
    <inkml:brush xml:id="br0">
      <inkml:brushProperty name="width" value="0.05292" units="cm"/>
      <inkml:brushProperty name="height" value="0.05292" units="cm"/>
      <inkml:brushProperty name="color" value="#FF0000"/>
    </inkml:brush>
  </inkml:definitions>
  <inkml:trace contextRef="#ctx0" brushRef="#br0">3598 3898 0,'0'18'63,"18"-18"-48,53-18 1,17 1 0,-35 17-1,-36 0 1,-34 0 0,-1 0 30,-35 17-30,-35-17 0,70 0-1,36 0 32,0 18-31,-1-18-1,1 0 48,-36 0-47,36 17 93,-1-17-109</inkml:trace>
  <inkml:trace contextRef="#ctx0" brushRef="#br0" timeOffset="1579.33">16969 3845 0,'-18'0'0,"0"0"31,1-17-15,-1 17 0,53 17 46,54 54-46,-72-71-16,18 35 15,-17-35 1,-36 0 46,1-18-30,-18 1-17,17-1 1,0 18 0,18 0 15,0 18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DC3046-A6E0-4106-8797-5F0AD6C00787}" type="datetimeFigureOut">
              <a:rPr lang="en-US" smtClean="0"/>
              <a:t>12/16/2025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9A7C00-6B00-4463-B24C-FEA5C454620F}" type="slidenum">
              <a:rPr lang="en-US" smtClean="0"/>
              <a:t>‹#›</a:t>
            </a:fld>
            <a:endParaRPr lang="en-US"/>
          </a:p>
        </p:txBody>
      </p:sp>
    </p:spTree>
    <p:extLst>
      <p:ext uri="{BB962C8B-B14F-4D97-AF65-F5344CB8AC3E}">
        <p14:creationId xmlns:p14="http://schemas.microsoft.com/office/powerpoint/2010/main" val="311846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69A7C00-6B00-4463-B24C-FEA5C454620F}" type="slidenum">
              <a:rPr lang="en-US" smtClean="0"/>
              <a:t>17</a:t>
            </a:fld>
            <a:endParaRPr lang="en-US"/>
          </a:p>
        </p:txBody>
      </p:sp>
    </p:spTree>
    <p:extLst>
      <p:ext uri="{BB962C8B-B14F-4D97-AF65-F5344CB8AC3E}">
        <p14:creationId xmlns:p14="http://schemas.microsoft.com/office/powerpoint/2010/main" val="3961676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9C464-1808-DFB6-134A-E02D77D14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35AC5-6C3E-1D51-111B-3016094BDA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95C8DA-26EB-3A77-19EC-34521EE354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4FC500-284E-37C1-6256-A4AF3F4BE6E8}"/>
              </a:ext>
            </a:extLst>
          </p:cNvPr>
          <p:cNvSpPr>
            <a:spLocks noGrp="1"/>
          </p:cNvSpPr>
          <p:nvPr>
            <p:ph type="sldNum" sz="quarter" idx="5"/>
          </p:nvPr>
        </p:nvSpPr>
        <p:spPr/>
        <p:txBody>
          <a:bodyPr/>
          <a:lstStyle/>
          <a:p>
            <a:fld id="{769A7C00-6B00-4463-B24C-FEA5C454620F}" type="slidenum">
              <a:rPr lang="en-US" smtClean="0"/>
              <a:t>18</a:t>
            </a:fld>
            <a:endParaRPr lang="en-US"/>
          </a:p>
        </p:txBody>
      </p:sp>
    </p:spTree>
    <p:extLst>
      <p:ext uri="{BB962C8B-B14F-4D97-AF65-F5344CB8AC3E}">
        <p14:creationId xmlns:p14="http://schemas.microsoft.com/office/powerpoint/2010/main" val="24937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01E68-EEC5-D5E3-5FFD-76BAD27A1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DFC58-EC87-5AD3-88AF-6738205462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A5219A-F932-B155-51DA-23AF02FEEB1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AC27EE-969A-C1E4-04F0-5D42CE66C909}"/>
              </a:ext>
            </a:extLst>
          </p:cNvPr>
          <p:cNvSpPr>
            <a:spLocks noGrp="1"/>
          </p:cNvSpPr>
          <p:nvPr>
            <p:ph type="sldNum" sz="quarter" idx="5"/>
          </p:nvPr>
        </p:nvSpPr>
        <p:spPr/>
        <p:txBody>
          <a:bodyPr/>
          <a:lstStyle/>
          <a:p>
            <a:fld id="{769A7C00-6B00-4463-B24C-FEA5C454620F}" type="slidenum">
              <a:rPr lang="en-US" smtClean="0"/>
              <a:t>19</a:t>
            </a:fld>
            <a:endParaRPr lang="en-US"/>
          </a:p>
        </p:txBody>
      </p:sp>
    </p:spTree>
    <p:extLst>
      <p:ext uri="{BB962C8B-B14F-4D97-AF65-F5344CB8AC3E}">
        <p14:creationId xmlns:p14="http://schemas.microsoft.com/office/powerpoint/2010/main" val="3118085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E3276-9EB9-5C70-D47D-D90B832C0B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02D04-6E6C-0CCF-707D-D48C95566C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5AA6F2-ED47-5641-4C43-68B03CBC41E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FEAF881-3E9C-03B9-C903-45A3B3AF796E}"/>
              </a:ext>
            </a:extLst>
          </p:cNvPr>
          <p:cNvSpPr>
            <a:spLocks noGrp="1"/>
          </p:cNvSpPr>
          <p:nvPr>
            <p:ph type="sldNum" sz="quarter" idx="5"/>
          </p:nvPr>
        </p:nvSpPr>
        <p:spPr/>
        <p:txBody>
          <a:bodyPr/>
          <a:lstStyle/>
          <a:p>
            <a:fld id="{769A7C00-6B00-4463-B24C-FEA5C454620F}" type="slidenum">
              <a:rPr lang="en-US" smtClean="0"/>
              <a:t>20</a:t>
            </a:fld>
            <a:endParaRPr lang="en-US"/>
          </a:p>
        </p:txBody>
      </p:sp>
    </p:spTree>
    <p:extLst>
      <p:ext uri="{BB962C8B-B14F-4D97-AF65-F5344CB8AC3E}">
        <p14:creationId xmlns:p14="http://schemas.microsoft.com/office/powerpoint/2010/main" val="3351039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5F0D9-4B73-0788-A05C-E04DE7B95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8C91BB-0EAB-685F-BC58-28C19929F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5571E-5180-A1B9-6E93-27FD40EA2B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CE10676-2FCA-BD2D-4AE1-C54EAE98473C}"/>
              </a:ext>
            </a:extLst>
          </p:cNvPr>
          <p:cNvSpPr>
            <a:spLocks noGrp="1"/>
          </p:cNvSpPr>
          <p:nvPr>
            <p:ph type="sldNum" sz="quarter" idx="5"/>
          </p:nvPr>
        </p:nvSpPr>
        <p:spPr/>
        <p:txBody>
          <a:bodyPr/>
          <a:lstStyle/>
          <a:p>
            <a:fld id="{769A7C00-6B00-4463-B24C-FEA5C454620F}" type="slidenum">
              <a:rPr lang="en-US" smtClean="0"/>
              <a:t>21</a:t>
            </a:fld>
            <a:endParaRPr lang="en-US"/>
          </a:p>
        </p:txBody>
      </p:sp>
    </p:spTree>
    <p:extLst>
      <p:ext uri="{BB962C8B-B14F-4D97-AF65-F5344CB8AC3E}">
        <p14:creationId xmlns:p14="http://schemas.microsoft.com/office/powerpoint/2010/main" val="2029798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EEA04-A751-9F5C-D009-D398EC9B3D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8595F7-A9FC-14C7-13A4-531E4A33D9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BA4CA-B1DC-62A8-D8A0-46FEF8B3F3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9188077-D25B-D35E-22FB-4A8A7B28CDD6}"/>
              </a:ext>
            </a:extLst>
          </p:cNvPr>
          <p:cNvSpPr>
            <a:spLocks noGrp="1"/>
          </p:cNvSpPr>
          <p:nvPr>
            <p:ph type="sldNum" sz="quarter" idx="5"/>
          </p:nvPr>
        </p:nvSpPr>
        <p:spPr/>
        <p:txBody>
          <a:bodyPr/>
          <a:lstStyle/>
          <a:p>
            <a:fld id="{769A7C00-6B00-4463-B24C-FEA5C454620F}" type="slidenum">
              <a:rPr lang="en-US" smtClean="0"/>
              <a:t>22</a:t>
            </a:fld>
            <a:endParaRPr lang="en-US"/>
          </a:p>
        </p:txBody>
      </p:sp>
    </p:spTree>
    <p:extLst>
      <p:ext uri="{BB962C8B-B14F-4D97-AF65-F5344CB8AC3E}">
        <p14:creationId xmlns:p14="http://schemas.microsoft.com/office/powerpoint/2010/main" val="19517528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D39B3-5DF8-4BD7-0FAF-58F87EE7FA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A4CE70-811B-D9AE-2778-6B24792179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35325E-62F5-FC88-19AB-66BD410F257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A6D589B-37C7-A695-45F1-8242518AA278}"/>
              </a:ext>
            </a:extLst>
          </p:cNvPr>
          <p:cNvSpPr>
            <a:spLocks noGrp="1"/>
          </p:cNvSpPr>
          <p:nvPr>
            <p:ph type="sldNum" sz="quarter" idx="5"/>
          </p:nvPr>
        </p:nvSpPr>
        <p:spPr/>
        <p:txBody>
          <a:bodyPr/>
          <a:lstStyle/>
          <a:p>
            <a:fld id="{769A7C00-6B00-4463-B24C-FEA5C454620F}" type="slidenum">
              <a:rPr lang="en-US" smtClean="0"/>
              <a:t>23</a:t>
            </a:fld>
            <a:endParaRPr lang="en-US"/>
          </a:p>
        </p:txBody>
      </p:sp>
    </p:spTree>
    <p:extLst>
      <p:ext uri="{BB962C8B-B14F-4D97-AF65-F5344CB8AC3E}">
        <p14:creationId xmlns:p14="http://schemas.microsoft.com/office/powerpoint/2010/main" val="4174091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B412C-662E-5B1C-F17B-F33D4F8A42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F2C437-17E1-2673-FC57-B259D2413A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5F487A-C044-85F2-397E-1693BEB62A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2E0DA61-014B-864D-8B87-3B639C27DD2B}"/>
              </a:ext>
            </a:extLst>
          </p:cNvPr>
          <p:cNvSpPr>
            <a:spLocks noGrp="1"/>
          </p:cNvSpPr>
          <p:nvPr>
            <p:ph type="sldNum" sz="quarter" idx="5"/>
          </p:nvPr>
        </p:nvSpPr>
        <p:spPr/>
        <p:txBody>
          <a:bodyPr/>
          <a:lstStyle/>
          <a:p>
            <a:fld id="{769A7C00-6B00-4463-B24C-FEA5C454620F}" type="slidenum">
              <a:rPr lang="en-US" smtClean="0"/>
              <a:t>24</a:t>
            </a:fld>
            <a:endParaRPr lang="en-US"/>
          </a:p>
        </p:txBody>
      </p:sp>
    </p:spTree>
    <p:extLst>
      <p:ext uri="{BB962C8B-B14F-4D97-AF65-F5344CB8AC3E}">
        <p14:creationId xmlns:p14="http://schemas.microsoft.com/office/powerpoint/2010/main" val="1792500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239E9-B8AD-5656-A9FF-0F92D9D985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E9A0A-DD4C-B58E-335A-C777D7F5C3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C026CB-37E7-50FD-5FD7-3BE99529F7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411D4C-A050-0639-7113-E9F61C0900BD}"/>
              </a:ext>
            </a:extLst>
          </p:cNvPr>
          <p:cNvSpPr>
            <a:spLocks noGrp="1"/>
          </p:cNvSpPr>
          <p:nvPr>
            <p:ph type="sldNum" sz="quarter" idx="5"/>
          </p:nvPr>
        </p:nvSpPr>
        <p:spPr/>
        <p:txBody>
          <a:bodyPr/>
          <a:lstStyle/>
          <a:p>
            <a:fld id="{769A7C00-6B00-4463-B24C-FEA5C454620F}" type="slidenum">
              <a:rPr lang="en-US" smtClean="0"/>
              <a:t>25</a:t>
            </a:fld>
            <a:endParaRPr lang="en-US"/>
          </a:p>
        </p:txBody>
      </p:sp>
    </p:spTree>
    <p:extLst>
      <p:ext uri="{BB962C8B-B14F-4D97-AF65-F5344CB8AC3E}">
        <p14:creationId xmlns:p14="http://schemas.microsoft.com/office/powerpoint/2010/main" val="1061331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8103B-62C1-5400-D4F8-738415C20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0A0773-7A05-555D-D80E-7FC8DA45FB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DDA9BB-A29A-BC63-CC75-32BE9C462D8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F21597-442F-F152-FF12-02FC8CB62AA7}"/>
              </a:ext>
            </a:extLst>
          </p:cNvPr>
          <p:cNvSpPr>
            <a:spLocks noGrp="1"/>
          </p:cNvSpPr>
          <p:nvPr>
            <p:ph type="sldNum" sz="quarter" idx="5"/>
          </p:nvPr>
        </p:nvSpPr>
        <p:spPr/>
        <p:txBody>
          <a:bodyPr/>
          <a:lstStyle/>
          <a:p>
            <a:fld id="{769A7C00-6B00-4463-B24C-FEA5C454620F}" type="slidenum">
              <a:rPr lang="en-US" smtClean="0"/>
              <a:t>26</a:t>
            </a:fld>
            <a:endParaRPr lang="en-US"/>
          </a:p>
        </p:txBody>
      </p:sp>
    </p:spTree>
    <p:extLst>
      <p:ext uri="{BB962C8B-B14F-4D97-AF65-F5344CB8AC3E}">
        <p14:creationId xmlns:p14="http://schemas.microsoft.com/office/powerpoint/2010/main" val="420223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82011-00A2-AEA4-F279-846C2B906D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8FFDE9-F988-58DD-5BA9-3D6BBF4407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E70BC4-83CE-4FB2-52F2-A6BFABD419F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F326D5-017D-0109-9084-D57F4147CFA7}"/>
              </a:ext>
            </a:extLst>
          </p:cNvPr>
          <p:cNvSpPr>
            <a:spLocks noGrp="1"/>
          </p:cNvSpPr>
          <p:nvPr>
            <p:ph type="sldNum" sz="quarter" idx="5"/>
          </p:nvPr>
        </p:nvSpPr>
        <p:spPr/>
        <p:txBody>
          <a:bodyPr/>
          <a:lstStyle/>
          <a:p>
            <a:fld id="{769A7C00-6B00-4463-B24C-FEA5C454620F}" type="slidenum">
              <a:rPr lang="en-US" smtClean="0"/>
              <a:t>27</a:t>
            </a:fld>
            <a:endParaRPr lang="en-US"/>
          </a:p>
        </p:txBody>
      </p:sp>
    </p:spTree>
    <p:extLst>
      <p:ext uri="{BB962C8B-B14F-4D97-AF65-F5344CB8AC3E}">
        <p14:creationId xmlns:p14="http://schemas.microsoft.com/office/powerpoint/2010/main" val="1482140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C41CA-EFF4-C5EC-6FC3-632A0D7417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4AB8E-D996-CF75-D03B-722E172258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7DE0A-AB46-ADC8-1944-920BDFDEA3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220910-A635-F7D4-2F39-61582B02A92B}"/>
              </a:ext>
            </a:extLst>
          </p:cNvPr>
          <p:cNvSpPr>
            <a:spLocks noGrp="1"/>
          </p:cNvSpPr>
          <p:nvPr>
            <p:ph type="sldNum" sz="quarter" idx="5"/>
          </p:nvPr>
        </p:nvSpPr>
        <p:spPr/>
        <p:txBody>
          <a:bodyPr/>
          <a:lstStyle/>
          <a:p>
            <a:fld id="{769A7C00-6B00-4463-B24C-FEA5C454620F}" type="slidenum">
              <a:rPr lang="en-US" smtClean="0"/>
              <a:t>28</a:t>
            </a:fld>
            <a:endParaRPr lang="en-US"/>
          </a:p>
        </p:txBody>
      </p:sp>
    </p:spTree>
    <p:extLst>
      <p:ext uri="{BB962C8B-B14F-4D97-AF65-F5344CB8AC3E}">
        <p14:creationId xmlns:p14="http://schemas.microsoft.com/office/powerpoint/2010/main" val="22887341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09F63-210C-2D83-5F14-3AEFE314A9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D6BA57-E4C0-898F-A9A5-86B0A0B836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C5C51-5D7D-4B79-399E-E599426D6AC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15BA1F-875D-E7D6-8512-28FA0EC10A35}"/>
              </a:ext>
            </a:extLst>
          </p:cNvPr>
          <p:cNvSpPr>
            <a:spLocks noGrp="1"/>
          </p:cNvSpPr>
          <p:nvPr>
            <p:ph type="sldNum" sz="quarter" idx="5"/>
          </p:nvPr>
        </p:nvSpPr>
        <p:spPr/>
        <p:txBody>
          <a:bodyPr/>
          <a:lstStyle/>
          <a:p>
            <a:fld id="{769A7C00-6B00-4463-B24C-FEA5C454620F}" type="slidenum">
              <a:rPr lang="en-US" smtClean="0"/>
              <a:t>29</a:t>
            </a:fld>
            <a:endParaRPr lang="en-US"/>
          </a:p>
        </p:txBody>
      </p:sp>
    </p:spTree>
    <p:extLst>
      <p:ext uri="{BB962C8B-B14F-4D97-AF65-F5344CB8AC3E}">
        <p14:creationId xmlns:p14="http://schemas.microsoft.com/office/powerpoint/2010/main" val="33276208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451AC-E9C8-3ACB-25D8-BF74060FE1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2804D-AC21-0A2E-77A2-88FE9496C4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8773F0-08A4-BDBB-8081-61B02110000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63042C-7473-5701-9B1F-F991111731A6}"/>
              </a:ext>
            </a:extLst>
          </p:cNvPr>
          <p:cNvSpPr>
            <a:spLocks noGrp="1"/>
          </p:cNvSpPr>
          <p:nvPr>
            <p:ph type="sldNum" sz="quarter" idx="5"/>
          </p:nvPr>
        </p:nvSpPr>
        <p:spPr/>
        <p:txBody>
          <a:bodyPr/>
          <a:lstStyle/>
          <a:p>
            <a:fld id="{769A7C00-6B00-4463-B24C-FEA5C454620F}" type="slidenum">
              <a:rPr lang="en-US" smtClean="0"/>
              <a:t>30</a:t>
            </a:fld>
            <a:endParaRPr lang="en-US"/>
          </a:p>
        </p:txBody>
      </p:sp>
    </p:spTree>
    <p:extLst>
      <p:ext uri="{BB962C8B-B14F-4D97-AF65-F5344CB8AC3E}">
        <p14:creationId xmlns:p14="http://schemas.microsoft.com/office/powerpoint/2010/main" val="551981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2D63D-5F23-4BBC-EAA7-5D1506E05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2387E6-AAFB-F3A1-757F-5E35E6363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67F8DA-92C4-09D3-0EF6-2FB5A7A2CE9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525C71-33A7-BE9C-EFCE-3393BA0B3880}"/>
              </a:ext>
            </a:extLst>
          </p:cNvPr>
          <p:cNvSpPr>
            <a:spLocks noGrp="1"/>
          </p:cNvSpPr>
          <p:nvPr>
            <p:ph type="sldNum" sz="quarter" idx="5"/>
          </p:nvPr>
        </p:nvSpPr>
        <p:spPr/>
        <p:txBody>
          <a:bodyPr/>
          <a:lstStyle/>
          <a:p>
            <a:fld id="{769A7C00-6B00-4463-B24C-FEA5C454620F}" type="slidenum">
              <a:rPr lang="en-US" smtClean="0"/>
              <a:t>31</a:t>
            </a:fld>
            <a:endParaRPr lang="en-US"/>
          </a:p>
        </p:txBody>
      </p:sp>
    </p:spTree>
    <p:extLst>
      <p:ext uri="{BB962C8B-B14F-4D97-AF65-F5344CB8AC3E}">
        <p14:creationId xmlns:p14="http://schemas.microsoft.com/office/powerpoint/2010/main" val="42946570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00B8A-158D-E3C1-3666-00EB68D3D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A756F4-694C-77CB-252A-29A9AE4C6C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37ED34-1BAE-BCA8-508F-274D0F089E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3CB6F28-71F9-E758-2DD3-7C13E1AAE821}"/>
              </a:ext>
            </a:extLst>
          </p:cNvPr>
          <p:cNvSpPr>
            <a:spLocks noGrp="1"/>
          </p:cNvSpPr>
          <p:nvPr>
            <p:ph type="sldNum" sz="quarter" idx="5"/>
          </p:nvPr>
        </p:nvSpPr>
        <p:spPr/>
        <p:txBody>
          <a:bodyPr/>
          <a:lstStyle/>
          <a:p>
            <a:fld id="{769A7C00-6B00-4463-B24C-FEA5C454620F}" type="slidenum">
              <a:rPr lang="en-US" smtClean="0"/>
              <a:t>32</a:t>
            </a:fld>
            <a:endParaRPr lang="en-US"/>
          </a:p>
        </p:txBody>
      </p:sp>
    </p:spTree>
    <p:extLst>
      <p:ext uri="{BB962C8B-B14F-4D97-AF65-F5344CB8AC3E}">
        <p14:creationId xmlns:p14="http://schemas.microsoft.com/office/powerpoint/2010/main" val="30169938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35CD6-C161-ED0B-F1A0-8A712ACFF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64E261-4CE3-4739-8131-3F097E7F0A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AEFD74-A29D-6274-3005-4B192F7E2FD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445D79-7F06-0F55-DCBE-F030625A4AAC}"/>
              </a:ext>
            </a:extLst>
          </p:cNvPr>
          <p:cNvSpPr>
            <a:spLocks noGrp="1"/>
          </p:cNvSpPr>
          <p:nvPr>
            <p:ph type="sldNum" sz="quarter" idx="5"/>
          </p:nvPr>
        </p:nvSpPr>
        <p:spPr/>
        <p:txBody>
          <a:bodyPr/>
          <a:lstStyle/>
          <a:p>
            <a:fld id="{769A7C00-6B00-4463-B24C-FEA5C454620F}" type="slidenum">
              <a:rPr lang="en-US" smtClean="0"/>
              <a:t>33</a:t>
            </a:fld>
            <a:endParaRPr lang="en-US"/>
          </a:p>
        </p:txBody>
      </p:sp>
    </p:spTree>
    <p:extLst>
      <p:ext uri="{BB962C8B-B14F-4D97-AF65-F5344CB8AC3E}">
        <p14:creationId xmlns:p14="http://schemas.microsoft.com/office/powerpoint/2010/main" val="876558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86A29-DF70-9EFC-9D2A-0B98AD5CC8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DE905-44AF-25DC-E078-6A8F63B112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5650CC-6671-3C2C-8E27-DA8C17F1B64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40545D-7834-D982-5A3F-A10AB8D0A225}"/>
              </a:ext>
            </a:extLst>
          </p:cNvPr>
          <p:cNvSpPr>
            <a:spLocks noGrp="1"/>
          </p:cNvSpPr>
          <p:nvPr>
            <p:ph type="sldNum" sz="quarter" idx="5"/>
          </p:nvPr>
        </p:nvSpPr>
        <p:spPr/>
        <p:txBody>
          <a:bodyPr/>
          <a:lstStyle/>
          <a:p>
            <a:fld id="{769A7C00-6B00-4463-B24C-FEA5C454620F}" type="slidenum">
              <a:rPr lang="en-US" smtClean="0"/>
              <a:t>34</a:t>
            </a:fld>
            <a:endParaRPr lang="en-US"/>
          </a:p>
        </p:txBody>
      </p:sp>
    </p:spTree>
    <p:extLst>
      <p:ext uri="{BB962C8B-B14F-4D97-AF65-F5344CB8AC3E}">
        <p14:creationId xmlns:p14="http://schemas.microsoft.com/office/powerpoint/2010/main" val="22410217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53C2-7485-5ABF-CD91-55E46A5BAC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463D7-0C65-6FAA-4CA2-6ED213F4EB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2E14D6-A925-C8A0-70BE-AF9526A0AC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712FBDE-252B-7B04-3912-D5D0A3CFEB05}"/>
              </a:ext>
            </a:extLst>
          </p:cNvPr>
          <p:cNvSpPr>
            <a:spLocks noGrp="1"/>
          </p:cNvSpPr>
          <p:nvPr>
            <p:ph type="sldNum" sz="quarter" idx="5"/>
          </p:nvPr>
        </p:nvSpPr>
        <p:spPr/>
        <p:txBody>
          <a:bodyPr/>
          <a:lstStyle/>
          <a:p>
            <a:fld id="{769A7C00-6B00-4463-B24C-FEA5C454620F}" type="slidenum">
              <a:rPr lang="en-US" smtClean="0"/>
              <a:t>35</a:t>
            </a:fld>
            <a:endParaRPr lang="en-US"/>
          </a:p>
        </p:txBody>
      </p:sp>
    </p:spTree>
    <p:extLst>
      <p:ext uri="{BB962C8B-B14F-4D97-AF65-F5344CB8AC3E}">
        <p14:creationId xmlns:p14="http://schemas.microsoft.com/office/powerpoint/2010/main" val="6348298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9CD80-A369-7F0C-0D7B-4B8D32184E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E8CF4-EBD2-DFFA-EDC5-7DE8575066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ECCF3-9E69-99DF-D286-AC0E468B943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14EB008-4B42-92C9-5227-681A9BA3FE77}"/>
              </a:ext>
            </a:extLst>
          </p:cNvPr>
          <p:cNvSpPr>
            <a:spLocks noGrp="1"/>
          </p:cNvSpPr>
          <p:nvPr>
            <p:ph type="sldNum" sz="quarter" idx="5"/>
          </p:nvPr>
        </p:nvSpPr>
        <p:spPr/>
        <p:txBody>
          <a:bodyPr/>
          <a:lstStyle/>
          <a:p>
            <a:fld id="{769A7C00-6B00-4463-B24C-FEA5C454620F}" type="slidenum">
              <a:rPr lang="en-US" smtClean="0"/>
              <a:t>36</a:t>
            </a:fld>
            <a:endParaRPr lang="en-US"/>
          </a:p>
        </p:txBody>
      </p:sp>
    </p:spTree>
    <p:extLst>
      <p:ext uri="{BB962C8B-B14F-4D97-AF65-F5344CB8AC3E}">
        <p14:creationId xmlns:p14="http://schemas.microsoft.com/office/powerpoint/2010/main" val="32220895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55BCB-48F9-6BFB-FEA4-B1529D4F6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19CDD-EA62-F6A9-EF83-2B5C793760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D6879B-AFEF-3282-096D-461BD60629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EA7DF1-705A-F457-9506-4F78DE6E5F0D}"/>
              </a:ext>
            </a:extLst>
          </p:cNvPr>
          <p:cNvSpPr>
            <a:spLocks noGrp="1"/>
          </p:cNvSpPr>
          <p:nvPr>
            <p:ph type="sldNum" sz="quarter" idx="5"/>
          </p:nvPr>
        </p:nvSpPr>
        <p:spPr/>
        <p:txBody>
          <a:bodyPr/>
          <a:lstStyle/>
          <a:p>
            <a:fld id="{769A7C00-6B00-4463-B24C-FEA5C454620F}" type="slidenum">
              <a:rPr lang="en-US" smtClean="0"/>
              <a:t>37</a:t>
            </a:fld>
            <a:endParaRPr lang="en-US"/>
          </a:p>
        </p:txBody>
      </p:sp>
    </p:spTree>
    <p:extLst>
      <p:ext uri="{BB962C8B-B14F-4D97-AF65-F5344CB8AC3E}">
        <p14:creationId xmlns:p14="http://schemas.microsoft.com/office/powerpoint/2010/main" val="30869575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0B470-553C-76FA-017B-C706352E0E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1AA209-31ED-FFDD-A1A5-B85179EFDA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BFC841-AEDD-E825-C64A-A53702D79F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E49569D-C9B6-14E4-8918-EEECC5EDF8F3}"/>
              </a:ext>
            </a:extLst>
          </p:cNvPr>
          <p:cNvSpPr>
            <a:spLocks noGrp="1"/>
          </p:cNvSpPr>
          <p:nvPr>
            <p:ph type="sldNum" sz="quarter" idx="5"/>
          </p:nvPr>
        </p:nvSpPr>
        <p:spPr/>
        <p:txBody>
          <a:bodyPr/>
          <a:lstStyle/>
          <a:p>
            <a:fld id="{769A7C00-6B00-4463-B24C-FEA5C454620F}" type="slidenum">
              <a:rPr lang="en-US" smtClean="0"/>
              <a:t>38</a:t>
            </a:fld>
            <a:endParaRPr lang="en-US"/>
          </a:p>
        </p:txBody>
      </p:sp>
    </p:spTree>
    <p:extLst>
      <p:ext uri="{BB962C8B-B14F-4D97-AF65-F5344CB8AC3E}">
        <p14:creationId xmlns:p14="http://schemas.microsoft.com/office/powerpoint/2010/main" val="24174769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5CAA9-00A3-0BEB-EFEA-17D49C0A8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45B8E-188A-E443-E73C-D120DFECB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CC58F1-0D3C-135E-95F8-C9ED663B35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1CBA9DD-775C-E379-9007-415F9BB5DD79}"/>
              </a:ext>
            </a:extLst>
          </p:cNvPr>
          <p:cNvSpPr>
            <a:spLocks noGrp="1"/>
          </p:cNvSpPr>
          <p:nvPr>
            <p:ph type="sldNum" sz="quarter" idx="5"/>
          </p:nvPr>
        </p:nvSpPr>
        <p:spPr/>
        <p:txBody>
          <a:bodyPr/>
          <a:lstStyle/>
          <a:p>
            <a:fld id="{769A7C00-6B00-4463-B24C-FEA5C454620F}" type="slidenum">
              <a:rPr lang="en-US" smtClean="0"/>
              <a:t>39</a:t>
            </a:fld>
            <a:endParaRPr lang="en-US"/>
          </a:p>
        </p:txBody>
      </p:sp>
    </p:spTree>
    <p:extLst>
      <p:ext uri="{BB962C8B-B14F-4D97-AF65-F5344CB8AC3E}">
        <p14:creationId xmlns:p14="http://schemas.microsoft.com/office/powerpoint/2010/main" val="24457960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A43D4-0C97-D01C-783D-C1B1FAA3D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3EEC61-2838-579F-5EEC-B09223986D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281528-E1BB-B9FF-10EA-7119D58F6B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B3A607-1B1A-E1BE-70A2-3AA8B751C995}"/>
              </a:ext>
            </a:extLst>
          </p:cNvPr>
          <p:cNvSpPr>
            <a:spLocks noGrp="1"/>
          </p:cNvSpPr>
          <p:nvPr>
            <p:ph type="sldNum" sz="quarter" idx="5"/>
          </p:nvPr>
        </p:nvSpPr>
        <p:spPr/>
        <p:txBody>
          <a:bodyPr/>
          <a:lstStyle/>
          <a:p>
            <a:fld id="{769A7C00-6B00-4463-B24C-FEA5C454620F}" type="slidenum">
              <a:rPr lang="en-US" smtClean="0"/>
              <a:t>40</a:t>
            </a:fld>
            <a:endParaRPr lang="en-US"/>
          </a:p>
        </p:txBody>
      </p:sp>
    </p:spTree>
    <p:extLst>
      <p:ext uri="{BB962C8B-B14F-4D97-AF65-F5344CB8AC3E}">
        <p14:creationId xmlns:p14="http://schemas.microsoft.com/office/powerpoint/2010/main" val="10604755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58A92-4C93-D7AA-0ECE-9ECE42E649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ACB246-9C0A-45D1-E56F-C888924C3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A01C7C-E39A-77F8-CC3F-AE4ED9C099F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8A55471-61BE-0CCE-8C55-BF021DE6C5B8}"/>
              </a:ext>
            </a:extLst>
          </p:cNvPr>
          <p:cNvSpPr>
            <a:spLocks noGrp="1"/>
          </p:cNvSpPr>
          <p:nvPr>
            <p:ph type="sldNum" sz="quarter" idx="5"/>
          </p:nvPr>
        </p:nvSpPr>
        <p:spPr/>
        <p:txBody>
          <a:bodyPr/>
          <a:lstStyle/>
          <a:p>
            <a:fld id="{769A7C00-6B00-4463-B24C-FEA5C454620F}" type="slidenum">
              <a:rPr lang="en-US" smtClean="0"/>
              <a:t>41</a:t>
            </a:fld>
            <a:endParaRPr lang="en-US"/>
          </a:p>
        </p:txBody>
      </p:sp>
    </p:spTree>
    <p:extLst>
      <p:ext uri="{BB962C8B-B14F-4D97-AF65-F5344CB8AC3E}">
        <p14:creationId xmlns:p14="http://schemas.microsoft.com/office/powerpoint/2010/main" val="3346932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FA7958-EE13-4746-8667-2BEBFF97C29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9D07AA-6D18-4ECD-9FDB-34A7B8FF6A1C}" type="slidenum">
              <a:rPr lang="en-US" smtClean="0"/>
              <a:t>‹#›</a:t>
            </a:fld>
            <a:endParaRPr lang="en-US"/>
          </a:p>
        </p:txBody>
      </p:sp>
    </p:spTree>
    <p:extLst>
      <p:ext uri="{BB962C8B-B14F-4D97-AF65-F5344CB8AC3E}">
        <p14:creationId xmlns:p14="http://schemas.microsoft.com/office/powerpoint/2010/main" val="2359436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FA7958-EE13-4746-8667-2BEBFF97C29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9D07AA-6D18-4ECD-9FDB-34A7B8FF6A1C}" type="slidenum">
              <a:rPr lang="en-US" smtClean="0"/>
              <a:t>‹#›</a:t>
            </a:fld>
            <a:endParaRPr lang="en-US"/>
          </a:p>
        </p:txBody>
      </p:sp>
    </p:spTree>
    <p:extLst>
      <p:ext uri="{BB962C8B-B14F-4D97-AF65-F5344CB8AC3E}">
        <p14:creationId xmlns:p14="http://schemas.microsoft.com/office/powerpoint/2010/main" val="4193382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FA7958-EE13-4746-8667-2BEBFF97C29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9D07AA-6D18-4ECD-9FDB-34A7B8FF6A1C}" type="slidenum">
              <a:rPr lang="en-US" smtClean="0"/>
              <a:t>‹#›</a:t>
            </a:fld>
            <a:endParaRPr lang="en-US"/>
          </a:p>
        </p:txBody>
      </p:sp>
    </p:spTree>
    <p:extLst>
      <p:ext uri="{BB962C8B-B14F-4D97-AF65-F5344CB8AC3E}">
        <p14:creationId xmlns:p14="http://schemas.microsoft.com/office/powerpoint/2010/main" val="2514308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FA7958-EE13-4746-8667-2BEBFF97C29E}"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9D07AA-6D18-4ECD-9FDB-34A7B8FF6A1C}" type="slidenum">
              <a:rPr lang="en-US" smtClean="0"/>
              <a:t>‹#›</a:t>
            </a:fld>
            <a:endParaRPr lang="en-US"/>
          </a:p>
        </p:txBody>
      </p:sp>
    </p:spTree>
    <p:extLst>
      <p:ext uri="{BB962C8B-B14F-4D97-AF65-F5344CB8AC3E}">
        <p14:creationId xmlns:p14="http://schemas.microsoft.com/office/powerpoint/2010/main" val="3939443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FA7958-EE13-4746-8667-2BEBFF97C29E}"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9D07AA-6D18-4ECD-9FDB-34A7B8FF6A1C}" type="slidenum">
              <a:rPr lang="en-US" smtClean="0"/>
              <a:t>‹#›</a:t>
            </a:fld>
            <a:endParaRPr lang="en-US"/>
          </a:p>
        </p:txBody>
      </p:sp>
    </p:spTree>
    <p:extLst>
      <p:ext uri="{BB962C8B-B14F-4D97-AF65-F5344CB8AC3E}">
        <p14:creationId xmlns:p14="http://schemas.microsoft.com/office/powerpoint/2010/main" val="169200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FA7958-EE13-4746-8667-2BEBFF97C29E}"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9D07AA-6D18-4ECD-9FDB-34A7B8FF6A1C}" type="slidenum">
              <a:rPr lang="en-US" smtClean="0"/>
              <a:t>‹#›</a:t>
            </a:fld>
            <a:endParaRPr lang="en-US"/>
          </a:p>
        </p:txBody>
      </p:sp>
    </p:spTree>
    <p:extLst>
      <p:ext uri="{BB962C8B-B14F-4D97-AF65-F5344CB8AC3E}">
        <p14:creationId xmlns:p14="http://schemas.microsoft.com/office/powerpoint/2010/main" val="2612700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FA7958-EE13-4746-8667-2BEBFF97C29E}"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9D07AA-6D18-4ECD-9FDB-34A7B8FF6A1C}" type="slidenum">
              <a:rPr lang="en-US" smtClean="0"/>
              <a:t>‹#›</a:t>
            </a:fld>
            <a:endParaRPr lang="en-US"/>
          </a:p>
        </p:txBody>
      </p:sp>
    </p:spTree>
    <p:extLst>
      <p:ext uri="{BB962C8B-B14F-4D97-AF65-F5344CB8AC3E}">
        <p14:creationId xmlns:p14="http://schemas.microsoft.com/office/powerpoint/2010/main" val="1996562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FA7958-EE13-4746-8667-2BEBFF97C29E}"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9D07AA-6D18-4ECD-9FDB-34A7B8FF6A1C}" type="slidenum">
              <a:rPr lang="en-US" smtClean="0"/>
              <a:t>‹#›</a:t>
            </a:fld>
            <a:endParaRPr lang="en-US"/>
          </a:p>
        </p:txBody>
      </p:sp>
    </p:spTree>
    <p:extLst>
      <p:ext uri="{BB962C8B-B14F-4D97-AF65-F5344CB8AC3E}">
        <p14:creationId xmlns:p14="http://schemas.microsoft.com/office/powerpoint/2010/main" val="1840624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FA7958-EE13-4746-8667-2BEBFF97C29E}"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9D07AA-6D18-4ECD-9FDB-34A7B8FF6A1C}" type="slidenum">
              <a:rPr lang="en-US" smtClean="0"/>
              <a:t>‹#›</a:t>
            </a:fld>
            <a:endParaRPr lang="en-US"/>
          </a:p>
        </p:txBody>
      </p:sp>
    </p:spTree>
    <p:extLst>
      <p:ext uri="{BB962C8B-B14F-4D97-AF65-F5344CB8AC3E}">
        <p14:creationId xmlns:p14="http://schemas.microsoft.com/office/powerpoint/2010/main" val="144567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FA7958-EE13-4746-8667-2BEBFF97C29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9D07AA-6D18-4ECD-9FDB-34A7B8FF6A1C}" type="slidenum">
              <a:rPr lang="en-US" smtClean="0"/>
              <a:t>‹#›</a:t>
            </a:fld>
            <a:endParaRPr lang="en-US"/>
          </a:p>
        </p:txBody>
      </p:sp>
    </p:spTree>
    <p:extLst>
      <p:ext uri="{BB962C8B-B14F-4D97-AF65-F5344CB8AC3E}">
        <p14:creationId xmlns:p14="http://schemas.microsoft.com/office/powerpoint/2010/main" val="2090717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FA7958-EE13-4746-8667-2BEBFF97C29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9D07AA-6D18-4ECD-9FDB-34A7B8FF6A1C}" type="slidenum">
              <a:rPr lang="en-US" smtClean="0"/>
              <a:t>‹#›</a:t>
            </a:fld>
            <a:endParaRPr lang="en-US"/>
          </a:p>
        </p:txBody>
      </p:sp>
    </p:spTree>
    <p:extLst>
      <p:ext uri="{BB962C8B-B14F-4D97-AF65-F5344CB8AC3E}">
        <p14:creationId xmlns:p14="http://schemas.microsoft.com/office/powerpoint/2010/main" val="1881543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FA7958-EE13-4746-8667-2BEBFF97C29E}" type="datetimeFigureOut">
              <a:rPr lang="en-US" smtClean="0"/>
              <a:t>12/16/2025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9D07AA-6D18-4ECD-9FDB-34A7B8FF6A1C}" type="slidenum">
              <a:rPr lang="en-US" smtClean="0"/>
              <a:t>‹#›</a:t>
            </a:fld>
            <a:endParaRPr lang="en-US"/>
          </a:p>
        </p:txBody>
      </p:sp>
    </p:spTree>
    <p:extLst>
      <p:ext uri="{BB962C8B-B14F-4D97-AF65-F5344CB8AC3E}">
        <p14:creationId xmlns:p14="http://schemas.microsoft.com/office/powerpoint/2010/main" val="304339772"/>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3.pn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13.png"/><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BF673-738E-75D0-13A8-9E5BA6DB45AF}"/>
              </a:ext>
            </a:extLst>
          </p:cNvPr>
          <p:cNvSpPr>
            <a:spLocks noGrp="1"/>
          </p:cNvSpPr>
          <p:nvPr>
            <p:ph type="ctrTitle"/>
          </p:nvPr>
        </p:nvSpPr>
        <p:spPr>
          <a:xfrm>
            <a:off x="1686963" y="2462276"/>
            <a:ext cx="9144000" cy="643063"/>
          </a:xfrm>
        </p:spPr>
        <p:txBody>
          <a:bodyPr>
            <a:normAutofit/>
          </a:bodyPr>
          <a:lstStyle/>
          <a:p>
            <a:r>
              <a:rPr lang="en-US" sz="3200" b="1" dirty="0">
                <a:latin typeface="Arial" panose="020B0604020202020204" pitchFamily="34" charset="0"/>
                <a:cs typeface="Arial" panose="020B0604020202020204" pitchFamily="34" charset="0"/>
              </a:rPr>
              <a:t>ĐỒ ÁN MÔN HỌC: MÃ HÓA VÀ ỨNG DỤNG</a:t>
            </a:r>
          </a:p>
        </p:txBody>
      </p:sp>
      <p:sp>
        <p:nvSpPr>
          <p:cNvPr id="3" name="Subtitle 2">
            <a:extLst>
              <a:ext uri="{FF2B5EF4-FFF2-40B4-BE49-F238E27FC236}">
                <a16:creationId xmlns:a16="http://schemas.microsoft.com/office/drawing/2014/main" id="{489FA796-F930-1454-B172-D578700B38C3}"/>
              </a:ext>
            </a:extLst>
          </p:cNvPr>
          <p:cNvSpPr>
            <a:spLocks noGrp="1"/>
          </p:cNvSpPr>
          <p:nvPr>
            <p:ph type="subTitle" idx="1"/>
          </p:nvPr>
        </p:nvSpPr>
        <p:spPr>
          <a:xfrm>
            <a:off x="1686963" y="3348541"/>
            <a:ext cx="9144000" cy="569346"/>
          </a:xfrm>
        </p:spPr>
        <p:txBody>
          <a:bodyPr/>
          <a:lstStyle/>
          <a:p>
            <a:r>
              <a:rPr lang="en-US" dirty="0" err="1">
                <a:latin typeface="Arial" panose="020B0604020202020204" pitchFamily="34" charset="0"/>
                <a:cs typeface="Arial" panose="020B0604020202020204" pitchFamily="34" charset="0"/>
              </a:rPr>
              <a:t>Đề</a:t>
            </a:r>
            <a:r>
              <a:rPr lang="en-US">
                <a:latin typeface="Arial" panose="020B0604020202020204" pitchFamily="34" charset="0"/>
                <a:cs typeface="Arial" panose="020B0604020202020204" pitchFamily="34" charset="0"/>
              </a:rPr>
              <a:t> tài 8. Phân tích và Phá mã Vigenère bằng Phân tích Tần suất </a:t>
            </a:r>
          </a:p>
        </p:txBody>
      </p:sp>
      <p:sp>
        <p:nvSpPr>
          <p:cNvPr id="4" name="Subtitle 2">
            <a:extLst>
              <a:ext uri="{FF2B5EF4-FFF2-40B4-BE49-F238E27FC236}">
                <a16:creationId xmlns:a16="http://schemas.microsoft.com/office/drawing/2014/main" id="{F1239F4C-435B-20AA-BF16-A85F077A29DE}"/>
              </a:ext>
            </a:extLst>
          </p:cNvPr>
          <p:cNvSpPr txBox="1">
            <a:spLocks/>
          </p:cNvSpPr>
          <p:nvPr/>
        </p:nvSpPr>
        <p:spPr>
          <a:xfrm>
            <a:off x="1597937" y="4316020"/>
            <a:ext cx="1463643" cy="5693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a:latin typeface="Arial" panose="020B0604020202020204" pitchFamily="34" charset="0"/>
                <a:cs typeface="Arial" panose="020B0604020202020204" pitchFamily="34" charset="0"/>
              </a:rPr>
              <a:t>Nhóm 5</a:t>
            </a:r>
          </a:p>
        </p:txBody>
      </p:sp>
      <p:cxnSp>
        <p:nvCxnSpPr>
          <p:cNvPr id="6" name="Straight Connector 5">
            <a:extLst>
              <a:ext uri="{FF2B5EF4-FFF2-40B4-BE49-F238E27FC236}">
                <a16:creationId xmlns:a16="http://schemas.microsoft.com/office/drawing/2014/main" id="{896FFCB6-3FEA-A577-C3E3-DB0A6AF8949D}"/>
              </a:ext>
            </a:extLst>
          </p:cNvPr>
          <p:cNvCxnSpPr>
            <a:cxnSpLocks/>
          </p:cNvCxnSpPr>
          <p:nvPr/>
        </p:nvCxnSpPr>
        <p:spPr>
          <a:xfrm>
            <a:off x="0" y="4161089"/>
            <a:ext cx="12192000"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 name="Straight Connector 8">
            <a:extLst>
              <a:ext uri="{FF2B5EF4-FFF2-40B4-BE49-F238E27FC236}">
                <a16:creationId xmlns:a16="http://schemas.microsoft.com/office/drawing/2014/main" id="{89390A30-6D98-431F-D685-1E098A396CE6}"/>
              </a:ext>
            </a:extLst>
          </p:cNvPr>
          <p:cNvCxnSpPr>
            <a:cxnSpLocks/>
          </p:cNvCxnSpPr>
          <p:nvPr/>
        </p:nvCxnSpPr>
        <p:spPr>
          <a:xfrm>
            <a:off x="0" y="2276459"/>
            <a:ext cx="12192000"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950562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DE358-128F-318E-FA0D-AAD77FE888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805223-59EA-0BFE-3622-E48AB3A4D4FA}"/>
              </a:ext>
            </a:extLst>
          </p:cNvPr>
          <p:cNvSpPr>
            <a:spLocks noGrp="1"/>
          </p:cNvSpPr>
          <p:nvPr>
            <p:ph type="ctrTitle"/>
          </p:nvPr>
        </p:nvSpPr>
        <p:spPr>
          <a:xfrm>
            <a:off x="4240041" y="733064"/>
            <a:ext cx="4016720" cy="643063"/>
          </a:xfrm>
        </p:spPr>
        <p:txBody>
          <a:bodyPr>
            <a:normAutofit/>
          </a:bodyPr>
          <a:lstStyle/>
          <a:p>
            <a:r>
              <a:rPr lang="en-US" sz="3200" b="1">
                <a:latin typeface="Arial" panose="020B0604020202020204" pitchFamily="34" charset="0"/>
                <a:cs typeface="Arial" panose="020B0604020202020204" pitchFamily="34" charset="0"/>
              </a:rPr>
              <a:t>Thành viên nhóm 5</a:t>
            </a:r>
          </a:p>
        </p:txBody>
      </p:sp>
      <p:graphicFrame>
        <p:nvGraphicFramePr>
          <p:cNvPr id="6" name="Table 5">
            <a:extLst>
              <a:ext uri="{FF2B5EF4-FFF2-40B4-BE49-F238E27FC236}">
                <a16:creationId xmlns:a16="http://schemas.microsoft.com/office/drawing/2014/main" id="{166CB7C3-2BB8-8FA0-641C-1BF49CAF6D41}"/>
              </a:ext>
            </a:extLst>
          </p:cNvPr>
          <p:cNvGraphicFramePr>
            <a:graphicFrameLocks noGrp="1"/>
          </p:cNvGraphicFramePr>
          <p:nvPr>
            <p:extLst>
              <p:ext uri="{D42A27DB-BD31-4B8C-83A1-F6EECF244321}">
                <p14:modId xmlns:p14="http://schemas.microsoft.com/office/powerpoint/2010/main" val="3672376037"/>
              </p:ext>
            </p:extLst>
          </p:nvPr>
        </p:nvGraphicFramePr>
        <p:xfrm>
          <a:off x="1929143" y="1709202"/>
          <a:ext cx="8333714" cy="2926764"/>
        </p:xfrm>
        <a:graphic>
          <a:graphicData uri="http://schemas.openxmlformats.org/drawingml/2006/table">
            <a:tbl>
              <a:tblPr firstRow="1" bandRow="1">
                <a:tableStyleId>{7E9639D4-E3E2-4D34-9284-5A2195B3D0D7}</a:tableStyleId>
              </a:tblPr>
              <a:tblGrid>
                <a:gridCol w="2777905">
                  <a:extLst>
                    <a:ext uri="{9D8B030D-6E8A-4147-A177-3AD203B41FA5}">
                      <a16:colId xmlns:a16="http://schemas.microsoft.com/office/drawing/2014/main" val="3953930873"/>
                    </a:ext>
                  </a:extLst>
                </a:gridCol>
                <a:gridCol w="1868037">
                  <a:extLst>
                    <a:ext uri="{9D8B030D-6E8A-4147-A177-3AD203B41FA5}">
                      <a16:colId xmlns:a16="http://schemas.microsoft.com/office/drawing/2014/main" val="1669216142"/>
                    </a:ext>
                  </a:extLst>
                </a:gridCol>
                <a:gridCol w="3687772">
                  <a:extLst>
                    <a:ext uri="{9D8B030D-6E8A-4147-A177-3AD203B41FA5}">
                      <a16:colId xmlns:a16="http://schemas.microsoft.com/office/drawing/2014/main" val="3033567023"/>
                    </a:ext>
                  </a:extLst>
                </a:gridCol>
              </a:tblGrid>
              <a:tr h="527004">
                <a:tc>
                  <a:txBody>
                    <a:bodyPr/>
                    <a:lstStyle/>
                    <a:p>
                      <a:pPr algn="ctr"/>
                      <a:r>
                        <a:rPr lang="en-US"/>
                        <a:t>Họ và tên</a:t>
                      </a:r>
                    </a:p>
                  </a:txBody>
                  <a:tcPr anchor="ctr"/>
                </a:tc>
                <a:tc>
                  <a:txBody>
                    <a:bodyPr/>
                    <a:lstStyle/>
                    <a:p>
                      <a:pPr algn="ctr"/>
                      <a:r>
                        <a:rPr lang="en-US"/>
                        <a:t>MSSV</a:t>
                      </a:r>
                    </a:p>
                  </a:txBody>
                  <a:tcPr anchor="ctr"/>
                </a:tc>
                <a:tc>
                  <a:txBody>
                    <a:bodyPr/>
                    <a:lstStyle/>
                    <a:p>
                      <a:pPr algn="ctr"/>
                      <a:r>
                        <a:rPr lang="en-US"/>
                        <a:t>Nội dung phụ trách</a:t>
                      </a:r>
                    </a:p>
                  </a:txBody>
                  <a:tcPr anchor="ctr"/>
                </a:tc>
                <a:extLst>
                  <a:ext uri="{0D108BD9-81ED-4DB2-BD59-A6C34878D82A}">
                    <a16:rowId xmlns:a16="http://schemas.microsoft.com/office/drawing/2014/main" val="3882135971"/>
                  </a:ext>
                </a:extLst>
              </a:tr>
              <a:tr h="799920">
                <a:tc>
                  <a:txBody>
                    <a:bodyPr/>
                    <a:lstStyle/>
                    <a:p>
                      <a:pPr algn="ctr"/>
                      <a:r>
                        <a:rPr lang="en-US"/>
                        <a:t>Võ Phát Đạt</a:t>
                      </a:r>
                    </a:p>
                  </a:txBody>
                  <a:tcPr anchor="ctr"/>
                </a:tc>
                <a:tc>
                  <a:txBody>
                    <a:bodyPr/>
                    <a:lstStyle/>
                    <a:p>
                      <a:pPr algn="ctr"/>
                      <a:r>
                        <a:rPr lang="en-US"/>
                        <a:t>2033230063</a:t>
                      </a:r>
                    </a:p>
                  </a:txBody>
                  <a:tcPr anchor="ctr"/>
                </a:tc>
                <a:tc>
                  <a:txBody>
                    <a:bodyPr/>
                    <a:lstStyle/>
                    <a:p>
                      <a:pPr algn="ctr"/>
                      <a:r>
                        <a:rPr lang="en-US"/>
                        <a:t>Phân tích tần suất, Giải mã, Demo</a:t>
                      </a:r>
                    </a:p>
                  </a:txBody>
                  <a:tcPr anchor="ctr"/>
                </a:tc>
                <a:extLst>
                  <a:ext uri="{0D108BD9-81ED-4DB2-BD59-A6C34878D82A}">
                    <a16:rowId xmlns:a16="http://schemas.microsoft.com/office/drawing/2014/main" val="2718735062"/>
                  </a:ext>
                </a:extLst>
              </a:tr>
              <a:tr h="799920">
                <a:tc>
                  <a:txBody>
                    <a:bodyPr/>
                    <a:lstStyle/>
                    <a:p>
                      <a:pPr algn="ctr"/>
                      <a:r>
                        <a:rPr lang="en-US"/>
                        <a:t>Đào Phan Quốc Anh</a:t>
                      </a:r>
                    </a:p>
                  </a:txBody>
                  <a:tcPr anchor="ctr"/>
                </a:tc>
                <a:tc>
                  <a:txBody>
                    <a:bodyPr/>
                    <a:lstStyle/>
                    <a:p>
                      <a:pPr algn="ctr"/>
                      <a:r>
                        <a:rPr lang="en-US"/>
                        <a:t>2033230011</a:t>
                      </a:r>
                    </a:p>
                  </a:txBody>
                  <a:tcPr anchor="ctr"/>
                </a:tc>
                <a:tc>
                  <a:txBody>
                    <a:bodyPr/>
                    <a:lstStyle/>
                    <a:p>
                      <a:pPr algn="ctr"/>
                      <a:r>
                        <a:rPr lang="vi-VN"/>
                        <a:t>Cơ sở lý thuyết mật mã Vigenère</a:t>
                      </a:r>
                    </a:p>
                  </a:txBody>
                  <a:tcPr anchor="ctr"/>
                </a:tc>
                <a:extLst>
                  <a:ext uri="{0D108BD9-81ED-4DB2-BD59-A6C34878D82A}">
                    <a16:rowId xmlns:a16="http://schemas.microsoft.com/office/drawing/2014/main" val="2961997737"/>
                  </a:ext>
                </a:extLst>
              </a:tr>
              <a:tr h="799920">
                <a:tc>
                  <a:txBody>
                    <a:bodyPr/>
                    <a:lstStyle/>
                    <a:p>
                      <a:pPr algn="ctr"/>
                      <a:r>
                        <a:rPr lang="en-US"/>
                        <a:t>Phạm Văn Quý </a:t>
                      </a:r>
                    </a:p>
                  </a:txBody>
                  <a:tcPr anchor="ctr"/>
                </a:tc>
                <a:tc>
                  <a:txBody>
                    <a:bodyPr/>
                    <a:lstStyle/>
                    <a:p>
                      <a:pPr algn="ctr"/>
                      <a:r>
                        <a:rPr lang="en-US"/>
                        <a:t>2033230242</a:t>
                      </a:r>
                    </a:p>
                  </a:txBody>
                  <a:tcPr anchor="ctr"/>
                </a:tc>
                <a:tc>
                  <a:txBody>
                    <a:bodyPr/>
                    <a:lstStyle/>
                    <a:p>
                      <a:pPr algn="ctr"/>
                      <a:r>
                        <a:rPr lang="vi-VN"/>
                        <a:t>Phương pháp Kasiski</a:t>
                      </a:r>
                    </a:p>
                  </a:txBody>
                  <a:tcPr anchor="ctr"/>
                </a:tc>
                <a:extLst>
                  <a:ext uri="{0D108BD9-81ED-4DB2-BD59-A6C34878D82A}">
                    <a16:rowId xmlns:a16="http://schemas.microsoft.com/office/drawing/2014/main" val="175981605"/>
                  </a:ext>
                </a:extLst>
              </a:tr>
            </a:tbl>
          </a:graphicData>
        </a:graphic>
      </p:graphicFrame>
    </p:spTree>
    <p:extLst>
      <p:ext uri="{BB962C8B-B14F-4D97-AF65-F5344CB8AC3E}">
        <p14:creationId xmlns:p14="http://schemas.microsoft.com/office/powerpoint/2010/main" val="265890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C452D-B9AF-29B3-2B5C-890D59D41B3B}"/>
              </a:ext>
            </a:extLst>
          </p:cNvPr>
          <p:cNvSpPr>
            <a:spLocks noGrp="1"/>
          </p:cNvSpPr>
          <p:nvPr>
            <p:ph type="title"/>
          </p:nvPr>
        </p:nvSpPr>
        <p:spPr/>
        <p:txBody>
          <a:bodyPr/>
          <a:lstStyle/>
          <a:p>
            <a:r>
              <a:rPr lang="en-US" b="1">
                <a:latin typeface="Arial" panose="020B0604020202020204" pitchFamily="34" charset="0"/>
                <a:cs typeface="Arial" panose="020B0604020202020204" pitchFamily="34" charset="0"/>
              </a:rPr>
              <a:t>Nội dung chính</a:t>
            </a:r>
            <a:endParaRPr lang="en-US"/>
          </a:p>
        </p:txBody>
      </p:sp>
      <p:sp>
        <p:nvSpPr>
          <p:cNvPr id="3" name="Content Placeholder 2">
            <a:extLst>
              <a:ext uri="{FF2B5EF4-FFF2-40B4-BE49-F238E27FC236}">
                <a16:creationId xmlns:a16="http://schemas.microsoft.com/office/drawing/2014/main" id="{534D357A-E35D-6E80-4D77-AA94E31B055F}"/>
              </a:ext>
            </a:extLst>
          </p:cNvPr>
          <p:cNvSpPr>
            <a:spLocks noGrp="1"/>
          </p:cNvSpPr>
          <p:nvPr>
            <p:ph idx="1"/>
          </p:nvPr>
        </p:nvSpPr>
        <p:spPr>
          <a:xfrm>
            <a:off x="1593410" y="1825625"/>
            <a:ext cx="9760390" cy="4351338"/>
          </a:xfrm>
        </p:spPr>
        <p:txBody>
          <a:bodyPr/>
          <a:lstStyle/>
          <a:p>
            <a:pPr marL="514350" indent="-514350" algn="just">
              <a:lnSpc>
                <a:spcPct val="150000"/>
              </a:lnSpc>
              <a:buFont typeface="+mj-lt"/>
              <a:buAutoNum type="arabicPeriod"/>
            </a:pPr>
            <a:r>
              <a:rPr lang="en-US" b="1">
                <a:latin typeface="Arial" panose="020B0604020202020204" pitchFamily="34" charset="0"/>
                <a:cs typeface="Arial" panose="020B0604020202020204" pitchFamily="34" charset="0"/>
              </a:rPr>
              <a:t>Cơ sở lý thuyết mật mã Vigenère</a:t>
            </a:r>
          </a:p>
          <a:p>
            <a:pPr marL="514350" indent="-514350" algn="just">
              <a:lnSpc>
                <a:spcPct val="150000"/>
              </a:lnSpc>
              <a:buFont typeface="+mj-lt"/>
              <a:buAutoNum type="arabicPeriod"/>
            </a:pPr>
            <a:r>
              <a:rPr lang="en-US" b="1">
                <a:latin typeface="Arial" panose="020B0604020202020204" pitchFamily="34" charset="0"/>
                <a:cs typeface="Arial" panose="020B0604020202020204" pitchFamily="34" charset="0"/>
              </a:rPr>
              <a:t>Phương pháp Kasiski</a:t>
            </a:r>
          </a:p>
          <a:p>
            <a:pPr marL="514350" indent="-514350" algn="just">
              <a:lnSpc>
                <a:spcPct val="150000"/>
              </a:lnSpc>
              <a:buFont typeface="+mj-lt"/>
              <a:buAutoNum type="arabicPeriod"/>
            </a:pPr>
            <a:r>
              <a:rPr lang="en-US" b="1">
                <a:latin typeface="Arial" panose="020B0604020202020204" pitchFamily="34" charset="0"/>
                <a:cs typeface="Arial" panose="020B0604020202020204" pitchFamily="34" charset="0"/>
              </a:rPr>
              <a:t>Kỹ thuật phân tích tần suất </a:t>
            </a:r>
          </a:p>
          <a:p>
            <a:pPr marL="514350" indent="-514350" algn="just">
              <a:lnSpc>
                <a:spcPct val="150000"/>
              </a:lnSpc>
              <a:buFont typeface="+mj-lt"/>
              <a:buAutoNum type="arabicPeriod"/>
            </a:pPr>
            <a:r>
              <a:rPr lang="en-US" b="1">
                <a:latin typeface="Arial" panose="020B0604020202020204" pitchFamily="34" charset="0"/>
                <a:cs typeface="Arial" panose="020B0604020202020204" pitchFamily="34" charset="0"/>
              </a:rPr>
              <a:t>Thực hiện giải mã</a:t>
            </a:r>
          </a:p>
          <a:p>
            <a:pPr marL="514350" indent="-514350" algn="just">
              <a:lnSpc>
                <a:spcPct val="150000"/>
              </a:lnSpc>
              <a:buFont typeface="+mj-lt"/>
              <a:buAutoNum type="arabicPeriod"/>
            </a:pPr>
            <a:r>
              <a:rPr lang="en-US" b="1">
                <a:latin typeface="Arial" panose="020B0604020202020204" pitchFamily="34" charset="0"/>
                <a:cs typeface="Arial" panose="020B0604020202020204" pitchFamily="34" charset="0"/>
              </a:rPr>
              <a:t>Demo Code</a:t>
            </a:r>
          </a:p>
          <a:p>
            <a:pPr algn="just">
              <a:lnSpc>
                <a:spcPct val="150000"/>
              </a:lnSpc>
            </a:pPr>
            <a:endParaRPr lang="en-US" b="1">
              <a:latin typeface="Arial" panose="020B0604020202020204" pitchFamily="34" charset="0"/>
              <a:cs typeface="Arial" panose="020B0604020202020204" pitchFamily="34" charset="0"/>
            </a:endParaRPr>
          </a:p>
          <a:p>
            <a:pPr algn="just">
              <a:lnSpc>
                <a:spcPct val="150000"/>
              </a:lnSpc>
            </a:pPr>
            <a:endParaRPr lang="en-US" b="1">
              <a:latin typeface="Arial" panose="020B0604020202020204" pitchFamily="34" charset="0"/>
              <a:cs typeface="Arial" panose="020B0604020202020204" pitchFamily="34" charset="0"/>
            </a:endParaRPr>
          </a:p>
          <a:p>
            <a:pPr algn="just">
              <a:lnSpc>
                <a:spcPct val="150000"/>
              </a:lnSpc>
            </a:pPr>
            <a:endParaRPr lang="en-US" b="1">
              <a:latin typeface="Arial" panose="020B0604020202020204" pitchFamily="34" charset="0"/>
              <a:cs typeface="Arial" panose="020B0604020202020204" pitchFamily="34" charset="0"/>
            </a:endParaRPr>
          </a:p>
          <a:p>
            <a:pPr algn="just">
              <a:lnSpc>
                <a:spcPct val="150000"/>
              </a:lnSpc>
            </a:pPr>
            <a:endParaRPr lang="en-US"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72341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38B33-E978-D146-D817-B8D333140D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A7DAE-B2A8-D215-A773-1B0A9672ED7E}"/>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1. Cơ sở lý thuyết mật mã Vigenère</a:t>
            </a:r>
          </a:p>
        </p:txBody>
      </p:sp>
      <p:sp>
        <p:nvSpPr>
          <p:cNvPr id="4" name="Title 1">
            <a:extLst>
              <a:ext uri="{FF2B5EF4-FFF2-40B4-BE49-F238E27FC236}">
                <a16:creationId xmlns:a16="http://schemas.microsoft.com/office/drawing/2014/main" id="{4A77F2CC-EBDB-80D3-3B25-0CAC399D62A8}"/>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1.1 Giới thiệu</a:t>
            </a:r>
          </a:p>
        </p:txBody>
      </p:sp>
      <p:pic>
        <p:nvPicPr>
          <p:cNvPr id="1026" name="Picture 2">
            <a:extLst>
              <a:ext uri="{FF2B5EF4-FFF2-40B4-BE49-F238E27FC236}">
                <a16:creationId xmlns:a16="http://schemas.microsoft.com/office/drawing/2014/main" id="{B2E0A088-AF1F-8F28-D712-91F91EA2F6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7338" y="1359270"/>
            <a:ext cx="1860645" cy="25621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4">
            <a:extLst>
              <a:ext uri="{FF2B5EF4-FFF2-40B4-BE49-F238E27FC236}">
                <a16:creationId xmlns:a16="http://schemas.microsoft.com/office/drawing/2014/main" id="{18E3F145-20B5-2D5B-1714-A34CBF37328B}"/>
              </a:ext>
            </a:extLst>
          </p:cNvPr>
          <p:cNvPicPr>
            <a:picLocks noChangeAspect="1"/>
          </p:cNvPicPr>
          <p:nvPr/>
        </p:nvPicPr>
        <p:blipFill>
          <a:blip r:embed="rId3"/>
          <a:stretch>
            <a:fillRect/>
          </a:stretch>
        </p:blipFill>
        <p:spPr>
          <a:xfrm>
            <a:off x="7623950" y="2124578"/>
            <a:ext cx="2298303" cy="29695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TextBox 6">
            <a:extLst>
              <a:ext uri="{FF2B5EF4-FFF2-40B4-BE49-F238E27FC236}">
                <a16:creationId xmlns:a16="http://schemas.microsoft.com/office/drawing/2014/main" id="{9ED25475-86CA-6A51-D21D-9AC9B09370C4}"/>
              </a:ext>
            </a:extLst>
          </p:cNvPr>
          <p:cNvSpPr txBox="1"/>
          <p:nvPr/>
        </p:nvSpPr>
        <p:spPr>
          <a:xfrm>
            <a:off x="8320893" y="5094114"/>
            <a:ext cx="904415" cy="323165"/>
          </a:xfrm>
          <a:prstGeom prst="rect">
            <a:avLst/>
          </a:prstGeom>
          <a:noFill/>
        </p:spPr>
        <p:txBody>
          <a:bodyPr wrap="none" rtlCol="0">
            <a:spAutoFit/>
          </a:bodyPr>
          <a:lstStyle/>
          <a:p>
            <a:r>
              <a:rPr lang="en-US" sz="1500"/>
              <a:t>Vigenège</a:t>
            </a:r>
          </a:p>
        </p:txBody>
      </p:sp>
      <p:sp>
        <p:nvSpPr>
          <p:cNvPr id="8" name="TextBox 7">
            <a:extLst>
              <a:ext uri="{FF2B5EF4-FFF2-40B4-BE49-F238E27FC236}">
                <a16:creationId xmlns:a16="http://schemas.microsoft.com/office/drawing/2014/main" id="{893409CC-9BA7-FED6-5B58-DB7B96A9458D}"/>
              </a:ext>
            </a:extLst>
          </p:cNvPr>
          <p:cNvSpPr txBox="1"/>
          <p:nvPr/>
        </p:nvSpPr>
        <p:spPr>
          <a:xfrm>
            <a:off x="10036399" y="3957256"/>
            <a:ext cx="1962525" cy="323165"/>
          </a:xfrm>
          <a:prstGeom prst="rect">
            <a:avLst/>
          </a:prstGeom>
          <a:noFill/>
        </p:spPr>
        <p:txBody>
          <a:bodyPr wrap="none" rtlCol="0">
            <a:spAutoFit/>
          </a:bodyPr>
          <a:lstStyle/>
          <a:p>
            <a:r>
              <a:rPr lang="en-US" sz="1500"/>
              <a:t>Giovan Battista Bellaso</a:t>
            </a:r>
          </a:p>
        </p:txBody>
      </p:sp>
      <p:sp>
        <p:nvSpPr>
          <p:cNvPr id="11" name="Content Placeholder 2">
            <a:extLst>
              <a:ext uri="{FF2B5EF4-FFF2-40B4-BE49-F238E27FC236}">
                <a16:creationId xmlns:a16="http://schemas.microsoft.com/office/drawing/2014/main" id="{35CFA4E0-1D28-D7B3-161A-031B2AFD76C4}"/>
              </a:ext>
            </a:extLst>
          </p:cNvPr>
          <p:cNvSpPr>
            <a:spLocks noGrp="1"/>
          </p:cNvSpPr>
          <p:nvPr>
            <p:ph idx="1"/>
          </p:nvPr>
        </p:nvSpPr>
        <p:spPr>
          <a:xfrm>
            <a:off x="838200" y="1744333"/>
            <a:ext cx="6513214" cy="4511124"/>
          </a:xfrm>
        </p:spPr>
        <p:txBody>
          <a:bodyPr>
            <a:normAutofit/>
          </a:bodyPr>
          <a:lstStyle/>
          <a:p>
            <a:pPr marL="0" indent="0" algn="just">
              <a:lnSpc>
                <a:spcPct val="150000"/>
              </a:lnSpc>
              <a:buNone/>
            </a:pPr>
            <a:r>
              <a:rPr lang="vi-VN" sz="2000" b="1">
                <a:solidFill>
                  <a:srgbClr val="FFFF00"/>
                </a:solidFill>
                <a:latin typeface="Calibri (Body)"/>
                <a:cs typeface="Calibri" panose="020F0502020204030204" pitchFamily="34" charset="0"/>
              </a:rPr>
              <a:t>Mật mã Vigenère </a:t>
            </a:r>
            <a:r>
              <a:rPr lang="vi-VN" sz="2000">
                <a:latin typeface="Calibri (Body)"/>
                <a:cs typeface="Calibri" panose="020F0502020204030204" pitchFamily="34" charset="0"/>
              </a:rPr>
              <a:t>là một trong những phương pháp mã hóa cổ điển nổi tiếng, thuộc loại mật mã đa bảng (polyalphabetic cipher). </a:t>
            </a:r>
            <a:endParaRPr lang="en-US" sz="2000">
              <a:latin typeface="Calibri (Body)"/>
              <a:cs typeface="Calibri" panose="020F0502020204030204" pitchFamily="34" charset="0"/>
            </a:endParaRPr>
          </a:p>
          <a:p>
            <a:pPr marL="0" indent="0" algn="just">
              <a:lnSpc>
                <a:spcPct val="150000"/>
              </a:lnSpc>
              <a:buNone/>
            </a:pPr>
            <a:r>
              <a:rPr lang="vi-VN" sz="2000">
                <a:latin typeface="Calibri (Body)"/>
                <a:cs typeface="Calibri" panose="020F0502020204030204" pitchFamily="34" charset="0"/>
              </a:rPr>
              <a:t>Khác với mật mã đơn bảng như Caesar, nơi mỗi ký tự trong bản rõ được thay thế bằng một ký tự duy nhất theo một quy luật cố định, mật mã Vigenère sử dụng nhiều bảng thay thế để tăng độ phức tạp và khó bị giải mã bằng phương pháp phân tích tần suất </a:t>
            </a:r>
            <a:r>
              <a:rPr lang="vi-VN" sz="2000" b="1">
                <a:solidFill>
                  <a:schemeClr val="accent6">
                    <a:lumMod val="60000"/>
                    <a:lumOff val="40000"/>
                  </a:schemeClr>
                </a:solidFill>
                <a:latin typeface="Calibri (Body)"/>
                <a:cs typeface="Calibri" panose="020F0502020204030204" pitchFamily="34" charset="0"/>
              </a:rPr>
              <a:t>thông thường</a:t>
            </a:r>
            <a:endParaRPr lang="en-US" sz="2000" b="1">
              <a:solidFill>
                <a:schemeClr val="accent6">
                  <a:lumMod val="60000"/>
                  <a:lumOff val="40000"/>
                </a:schemeClr>
              </a:solidFill>
              <a:latin typeface="Calibri (Body)"/>
              <a:cs typeface="Calibri" panose="020F0502020204030204" pitchFamily="34" charset="0"/>
            </a:endParaRPr>
          </a:p>
        </p:txBody>
      </p:sp>
    </p:spTree>
    <p:extLst>
      <p:ext uri="{BB962C8B-B14F-4D97-AF65-F5344CB8AC3E}">
        <p14:creationId xmlns:p14="http://schemas.microsoft.com/office/powerpoint/2010/main" val="3067941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AA7A5-9221-2E94-05BE-0E8D54D866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E6F3F-0514-A797-BE16-DDA89456AEBF}"/>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1. Cơ sở lý thuyết mật mã Vigenère</a:t>
            </a:r>
          </a:p>
        </p:txBody>
      </p:sp>
      <p:sp>
        <p:nvSpPr>
          <p:cNvPr id="3" name="Content Placeholder 2">
            <a:extLst>
              <a:ext uri="{FF2B5EF4-FFF2-40B4-BE49-F238E27FC236}">
                <a16:creationId xmlns:a16="http://schemas.microsoft.com/office/drawing/2014/main" id="{5A6E47A5-B1D7-608B-0506-9A89322C9B47}"/>
              </a:ext>
            </a:extLst>
          </p:cNvPr>
          <p:cNvSpPr>
            <a:spLocks noGrp="1"/>
          </p:cNvSpPr>
          <p:nvPr>
            <p:ph idx="1"/>
          </p:nvPr>
        </p:nvSpPr>
        <p:spPr>
          <a:xfrm>
            <a:off x="838200" y="1744333"/>
            <a:ext cx="6513214" cy="4511124"/>
          </a:xfrm>
        </p:spPr>
        <p:txBody>
          <a:bodyPr>
            <a:normAutofit/>
          </a:bodyPr>
          <a:lstStyle/>
          <a:p>
            <a:pPr marL="0" indent="0" algn="just">
              <a:lnSpc>
                <a:spcPct val="150000"/>
              </a:lnSpc>
              <a:buNone/>
            </a:pPr>
            <a:r>
              <a:rPr lang="vi-VN" sz="2000">
                <a:latin typeface="Calibri (Body)"/>
              </a:rPr>
              <a:t>Mật mã Vigenère hoạt động dựa trên cơ chế sử dụng khóa lặp lại để mã hóa từng ký tự, </a:t>
            </a:r>
            <a:r>
              <a:rPr lang="en-US" sz="2000">
                <a:latin typeface="Calibri (Body)"/>
              </a:rPr>
              <a:t>cách mã hóa </a:t>
            </a:r>
            <a:r>
              <a:rPr lang="vi-VN" sz="2000">
                <a:latin typeface="Calibri (Body)"/>
              </a:rPr>
              <a:t>tương tự như mã hóa Caesar.</a:t>
            </a:r>
            <a:endParaRPr lang="en-US" sz="2000">
              <a:latin typeface="Calibri (Body)"/>
            </a:endParaRPr>
          </a:p>
          <a:p>
            <a:pPr marL="0" indent="0" algn="just">
              <a:lnSpc>
                <a:spcPct val="150000"/>
              </a:lnSpc>
              <a:buNone/>
            </a:pPr>
            <a:r>
              <a:rPr lang="vi-VN" sz="2000">
                <a:latin typeface="Calibri (Body)"/>
              </a:rPr>
              <a:t>Ban đầu, Giovan Battista Bellaso được cho là người phát minh ra phương pháp mã hóa sử dụng khóa lặp lại. Tuy nhiên, sau này phương pháp này được Blaise de Vigenère cải tiến và phổ biến rộng rãi, nên nó được đặt theo tên của ông.</a:t>
            </a:r>
            <a:endParaRPr lang="en-US" sz="2000">
              <a:latin typeface="Calibri (Body)"/>
            </a:endParaRPr>
          </a:p>
        </p:txBody>
      </p:sp>
      <p:sp>
        <p:nvSpPr>
          <p:cNvPr id="4" name="Title 1">
            <a:extLst>
              <a:ext uri="{FF2B5EF4-FFF2-40B4-BE49-F238E27FC236}">
                <a16:creationId xmlns:a16="http://schemas.microsoft.com/office/drawing/2014/main" id="{8E3907C7-E889-6178-2DFC-FA8C49B6A543}"/>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1.1 Giới thiệu</a:t>
            </a:r>
          </a:p>
        </p:txBody>
      </p:sp>
      <p:pic>
        <p:nvPicPr>
          <p:cNvPr id="1026" name="Picture 2">
            <a:extLst>
              <a:ext uri="{FF2B5EF4-FFF2-40B4-BE49-F238E27FC236}">
                <a16:creationId xmlns:a16="http://schemas.microsoft.com/office/drawing/2014/main" id="{7D8174BA-B2D7-2F07-B421-E76B2B8954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7338" y="1359270"/>
            <a:ext cx="1860645" cy="25621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4">
            <a:extLst>
              <a:ext uri="{FF2B5EF4-FFF2-40B4-BE49-F238E27FC236}">
                <a16:creationId xmlns:a16="http://schemas.microsoft.com/office/drawing/2014/main" id="{E02F925B-07D6-EF1E-EC34-093C708A4734}"/>
              </a:ext>
            </a:extLst>
          </p:cNvPr>
          <p:cNvPicPr>
            <a:picLocks noChangeAspect="1"/>
          </p:cNvPicPr>
          <p:nvPr/>
        </p:nvPicPr>
        <p:blipFill>
          <a:blip r:embed="rId3"/>
          <a:stretch>
            <a:fillRect/>
          </a:stretch>
        </p:blipFill>
        <p:spPr>
          <a:xfrm>
            <a:off x="7623950" y="2124578"/>
            <a:ext cx="2298303" cy="29695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TextBox 6">
            <a:extLst>
              <a:ext uri="{FF2B5EF4-FFF2-40B4-BE49-F238E27FC236}">
                <a16:creationId xmlns:a16="http://schemas.microsoft.com/office/drawing/2014/main" id="{32FEEDF4-CCC9-CC67-8359-937C7E4D75DC}"/>
              </a:ext>
            </a:extLst>
          </p:cNvPr>
          <p:cNvSpPr txBox="1"/>
          <p:nvPr/>
        </p:nvSpPr>
        <p:spPr>
          <a:xfrm>
            <a:off x="8320893" y="5094114"/>
            <a:ext cx="904415" cy="323165"/>
          </a:xfrm>
          <a:prstGeom prst="rect">
            <a:avLst/>
          </a:prstGeom>
          <a:noFill/>
        </p:spPr>
        <p:txBody>
          <a:bodyPr wrap="none" rtlCol="0">
            <a:spAutoFit/>
          </a:bodyPr>
          <a:lstStyle/>
          <a:p>
            <a:r>
              <a:rPr lang="en-US" sz="1500"/>
              <a:t>Vigenège</a:t>
            </a:r>
          </a:p>
        </p:txBody>
      </p:sp>
      <p:sp>
        <p:nvSpPr>
          <p:cNvPr id="8" name="TextBox 7">
            <a:extLst>
              <a:ext uri="{FF2B5EF4-FFF2-40B4-BE49-F238E27FC236}">
                <a16:creationId xmlns:a16="http://schemas.microsoft.com/office/drawing/2014/main" id="{1FE0F0F4-B2EC-50E6-095F-DCE910B2A8E6}"/>
              </a:ext>
            </a:extLst>
          </p:cNvPr>
          <p:cNvSpPr txBox="1"/>
          <p:nvPr/>
        </p:nvSpPr>
        <p:spPr>
          <a:xfrm>
            <a:off x="10036399" y="3957256"/>
            <a:ext cx="1962525" cy="323165"/>
          </a:xfrm>
          <a:prstGeom prst="rect">
            <a:avLst/>
          </a:prstGeom>
          <a:noFill/>
        </p:spPr>
        <p:txBody>
          <a:bodyPr wrap="none" rtlCol="0">
            <a:spAutoFit/>
          </a:bodyPr>
          <a:lstStyle/>
          <a:p>
            <a:r>
              <a:rPr lang="en-US" sz="1500"/>
              <a:t>Giovan Battista Bellaso</a:t>
            </a:r>
          </a:p>
        </p:txBody>
      </p:sp>
    </p:spTree>
    <p:extLst>
      <p:ext uri="{BB962C8B-B14F-4D97-AF65-F5344CB8AC3E}">
        <p14:creationId xmlns:p14="http://schemas.microsoft.com/office/powerpoint/2010/main" val="517232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75BEA-C52F-A082-ADBD-8F5E7C981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63174-780C-FB9C-F155-47D06BF5412B}"/>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1. Cơ sở lý thuyết mật mã Vigenère</a:t>
            </a:r>
          </a:p>
        </p:txBody>
      </p:sp>
      <p:sp>
        <p:nvSpPr>
          <p:cNvPr id="3" name="Content Placeholder 2">
            <a:extLst>
              <a:ext uri="{FF2B5EF4-FFF2-40B4-BE49-F238E27FC236}">
                <a16:creationId xmlns:a16="http://schemas.microsoft.com/office/drawing/2014/main" id="{EA62EF47-7521-9E04-71FC-707AACE93B62}"/>
              </a:ext>
            </a:extLst>
          </p:cNvPr>
          <p:cNvSpPr>
            <a:spLocks noGrp="1"/>
          </p:cNvSpPr>
          <p:nvPr>
            <p:ph idx="1"/>
          </p:nvPr>
        </p:nvSpPr>
        <p:spPr>
          <a:xfrm>
            <a:off x="838200" y="1744333"/>
            <a:ext cx="6513214" cy="4511124"/>
          </a:xfrm>
        </p:spPr>
        <p:txBody>
          <a:bodyPr>
            <a:normAutofit/>
          </a:bodyPr>
          <a:lstStyle/>
          <a:p>
            <a:pPr marL="0" indent="0" algn="just">
              <a:lnSpc>
                <a:spcPct val="150000"/>
              </a:lnSpc>
              <a:buNone/>
            </a:pPr>
            <a:r>
              <a:rPr lang="vi-VN" sz="2000">
                <a:latin typeface="Calibri (Body)"/>
              </a:rPr>
              <a:t>Nguyên lý cơ bản của mật mã Vigenère dựa trên việc lặp lại một khóa chữ cái (key) có độ dài cố định để thay thế từng ký tự trong bản rõ</a:t>
            </a:r>
            <a:endParaRPr lang="en-US" sz="2000">
              <a:latin typeface="Calibri (Body)"/>
            </a:endParaRPr>
          </a:p>
          <a:p>
            <a:pPr marL="0" indent="0" algn="just">
              <a:lnSpc>
                <a:spcPct val="150000"/>
              </a:lnSpc>
              <a:buNone/>
            </a:pPr>
            <a:r>
              <a:rPr lang="vi-VN" sz="2000">
                <a:latin typeface="Calibri (Body)"/>
              </a:rPr>
              <a:t>Cụ thể, mỗi ký tự thứ i trong bản rõ P</a:t>
            </a:r>
            <a:r>
              <a:rPr lang="vi-VN" sz="2000" baseline="-25000">
                <a:latin typeface="Calibri (Body)"/>
              </a:rPr>
              <a:t>i</a:t>
            </a:r>
            <a:r>
              <a:rPr lang="vi-VN" sz="2000">
                <a:latin typeface="Calibri (Body)"/>
              </a:rPr>
              <a:t> được dịch chuyển theo vị trí tương ứng theo giá trị của ký tự thứ i trong khóa K</a:t>
            </a:r>
            <a:r>
              <a:rPr lang="vi-VN" sz="2000" baseline="-25000">
                <a:latin typeface="Calibri (Body)"/>
              </a:rPr>
              <a:t>i</a:t>
            </a:r>
            <a:r>
              <a:rPr lang="vi-VN" sz="2000">
                <a:latin typeface="Calibri (Body)"/>
              </a:rPr>
              <a:t>. </a:t>
            </a:r>
            <a:endParaRPr lang="en-US" sz="2000">
              <a:latin typeface="Calibri (Body)"/>
            </a:endParaRPr>
          </a:p>
          <a:p>
            <a:pPr marL="0" indent="0" algn="just">
              <a:lnSpc>
                <a:spcPct val="150000"/>
              </a:lnSpc>
              <a:buNone/>
            </a:pPr>
            <a:r>
              <a:rPr lang="en-US" sz="2000">
                <a:latin typeface="Calibri (Body)"/>
              </a:rPr>
              <a:t>Khi khóa kết thúc, quá trình lặp lại từ đầu khóa sẽ tiếp tục cho đến hết bản rõ. </a:t>
            </a:r>
          </a:p>
        </p:txBody>
      </p:sp>
      <p:sp>
        <p:nvSpPr>
          <p:cNvPr id="4" name="Title 1">
            <a:extLst>
              <a:ext uri="{FF2B5EF4-FFF2-40B4-BE49-F238E27FC236}">
                <a16:creationId xmlns:a16="http://schemas.microsoft.com/office/drawing/2014/main" id="{75F38333-BF4F-D2DA-1099-332D6187E76F}"/>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1.2 Nguyên lý mã hóa</a:t>
            </a:r>
          </a:p>
        </p:txBody>
      </p:sp>
      <p:sp>
        <p:nvSpPr>
          <p:cNvPr id="10" name="Text Box 2">
            <a:extLst>
              <a:ext uri="{FF2B5EF4-FFF2-40B4-BE49-F238E27FC236}">
                <a16:creationId xmlns:a16="http://schemas.microsoft.com/office/drawing/2014/main" id="{A0870BE4-FE78-BE40-5D12-FE3565DA8829}"/>
              </a:ext>
            </a:extLst>
          </p:cNvPr>
          <p:cNvSpPr txBox="1">
            <a:spLocks noChangeArrowheads="1"/>
          </p:cNvSpPr>
          <p:nvPr/>
        </p:nvSpPr>
        <p:spPr bwMode="auto">
          <a:xfrm>
            <a:off x="8311082" y="2867725"/>
            <a:ext cx="3307080" cy="63220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indent="228600">
              <a:lnSpc>
                <a:spcPct val="115000"/>
              </a:lnSpc>
              <a:spcAft>
                <a:spcPts val="800"/>
              </a:spcAft>
              <a:buNone/>
            </a:pPr>
            <a:r>
              <a:rPr lang="en-US" sz="24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a:t>
            </a:r>
            <a:r>
              <a:rPr lang="en-US" sz="2400" kern="100" baseline="-250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a:t>
            </a:r>
            <a:r>
              <a:rPr lang="en-US" sz="24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 (P</a:t>
            </a:r>
            <a:r>
              <a:rPr lang="en-US" sz="2400" kern="100" baseline="-250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a:t>
            </a:r>
            <a:r>
              <a:rPr lang="en-US" sz="24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 K</a:t>
            </a:r>
            <a:r>
              <a:rPr lang="en-US" sz="2400" kern="100" baseline="-250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a:t>
            </a:r>
            <a:r>
              <a:rPr lang="en-US" sz="24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mod 26</a:t>
            </a:r>
          </a:p>
          <a:p>
            <a:pPr marL="0" marR="0" algn="ctr">
              <a:lnSpc>
                <a:spcPct val="115000"/>
              </a:lnSpc>
              <a:spcAft>
                <a:spcPts val="800"/>
              </a:spcAft>
              <a:buNone/>
            </a:pPr>
            <a:r>
              <a:rPr lang="en-US" sz="24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p:txBody>
      </p:sp>
      <p:sp>
        <p:nvSpPr>
          <p:cNvPr id="11" name="TextBox 10">
            <a:extLst>
              <a:ext uri="{FF2B5EF4-FFF2-40B4-BE49-F238E27FC236}">
                <a16:creationId xmlns:a16="http://schemas.microsoft.com/office/drawing/2014/main" id="{0732ACD4-40B2-8169-90E3-0901C5C005AE}"/>
              </a:ext>
            </a:extLst>
          </p:cNvPr>
          <p:cNvSpPr txBox="1"/>
          <p:nvPr/>
        </p:nvSpPr>
        <p:spPr>
          <a:xfrm>
            <a:off x="9053464" y="3567604"/>
            <a:ext cx="1609736" cy="323165"/>
          </a:xfrm>
          <a:prstGeom prst="rect">
            <a:avLst/>
          </a:prstGeom>
          <a:noFill/>
        </p:spPr>
        <p:txBody>
          <a:bodyPr wrap="none" rtlCol="0">
            <a:spAutoFit/>
          </a:bodyPr>
          <a:lstStyle/>
          <a:p>
            <a:r>
              <a:rPr lang="en-US" sz="1500"/>
              <a:t>Công thức mã hóa</a:t>
            </a:r>
          </a:p>
        </p:txBody>
      </p:sp>
    </p:spTree>
    <p:extLst>
      <p:ext uri="{BB962C8B-B14F-4D97-AF65-F5344CB8AC3E}">
        <p14:creationId xmlns:p14="http://schemas.microsoft.com/office/powerpoint/2010/main" val="104245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E172C-1766-3BE4-93CC-603D3B5A17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39603F-A618-930A-55E9-235E98428328}"/>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1. Cơ sở lý thuyết mật mã Vigenère</a:t>
            </a:r>
          </a:p>
        </p:txBody>
      </p:sp>
      <p:sp>
        <p:nvSpPr>
          <p:cNvPr id="3" name="Content Placeholder 2">
            <a:extLst>
              <a:ext uri="{FF2B5EF4-FFF2-40B4-BE49-F238E27FC236}">
                <a16:creationId xmlns:a16="http://schemas.microsoft.com/office/drawing/2014/main" id="{DD48AB92-A047-AD65-CD89-089354CC2DF0}"/>
              </a:ext>
            </a:extLst>
          </p:cNvPr>
          <p:cNvSpPr>
            <a:spLocks noGrp="1"/>
          </p:cNvSpPr>
          <p:nvPr>
            <p:ph idx="1"/>
          </p:nvPr>
        </p:nvSpPr>
        <p:spPr>
          <a:xfrm>
            <a:off x="964949" y="1896744"/>
            <a:ext cx="10515600" cy="636728"/>
          </a:xfrm>
        </p:spPr>
        <p:txBody>
          <a:bodyPr>
            <a:normAutofit/>
          </a:bodyPr>
          <a:lstStyle/>
          <a:p>
            <a:pPr marL="0" indent="0" algn="just">
              <a:lnSpc>
                <a:spcPct val="150000"/>
              </a:lnSpc>
              <a:buNone/>
            </a:pPr>
            <a:r>
              <a:rPr lang="vi-VN" sz="2000">
                <a:latin typeface="Calibri (Body)"/>
              </a:rPr>
              <a:t>Ví dụ, ta có bản rõ là “HELLO” và khóa là “KEY” quá trình mã hóa sẽ được thực hiện như sau:</a:t>
            </a:r>
            <a:endParaRPr lang="en-US" sz="2000">
              <a:latin typeface="Calibri (Body)"/>
            </a:endParaRPr>
          </a:p>
        </p:txBody>
      </p:sp>
      <p:sp>
        <p:nvSpPr>
          <p:cNvPr id="4" name="Title 1">
            <a:extLst>
              <a:ext uri="{FF2B5EF4-FFF2-40B4-BE49-F238E27FC236}">
                <a16:creationId xmlns:a16="http://schemas.microsoft.com/office/drawing/2014/main" id="{1BE5544F-ACCF-BB93-8AE3-820BE5E13D28}"/>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1.2 Nguyên lý mã hóa</a:t>
            </a:r>
          </a:p>
        </p:txBody>
      </p:sp>
      <p:graphicFrame>
        <p:nvGraphicFramePr>
          <p:cNvPr id="15" name="Table 14">
            <a:extLst>
              <a:ext uri="{FF2B5EF4-FFF2-40B4-BE49-F238E27FC236}">
                <a16:creationId xmlns:a16="http://schemas.microsoft.com/office/drawing/2014/main" id="{F168F74C-F693-E1C8-3B53-2305AD010E8E}"/>
              </a:ext>
            </a:extLst>
          </p:cNvPr>
          <p:cNvGraphicFramePr>
            <a:graphicFrameLocks noGrp="1"/>
          </p:cNvGraphicFramePr>
          <p:nvPr>
            <p:extLst>
              <p:ext uri="{D42A27DB-BD31-4B8C-83A1-F6EECF244321}">
                <p14:modId xmlns:p14="http://schemas.microsoft.com/office/powerpoint/2010/main" val="1150311622"/>
              </p:ext>
            </p:extLst>
          </p:nvPr>
        </p:nvGraphicFramePr>
        <p:xfrm>
          <a:off x="2456508" y="2606322"/>
          <a:ext cx="7532481" cy="3074670"/>
        </p:xfrm>
        <a:graphic>
          <a:graphicData uri="http://schemas.openxmlformats.org/drawingml/2006/table">
            <a:tbl>
              <a:tblPr firstRow="1" firstCol="1" bandRow="1"/>
              <a:tblGrid>
                <a:gridCol w="3063017">
                  <a:extLst>
                    <a:ext uri="{9D8B030D-6E8A-4147-A177-3AD203B41FA5}">
                      <a16:colId xmlns:a16="http://schemas.microsoft.com/office/drawing/2014/main" val="652273880"/>
                    </a:ext>
                  </a:extLst>
                </a:gridCol>
                <a:gridCol w="875239">
                  <a:extLst>
                    <a:ext uri="{9D8B030D-6E8A-4147-A177-3AD203B41FA5}">
                      <a16:colId xmlns:a16="http://schemas.microsoft.com/office/drawing/2014/main" val="3360743364"/>
                    </a:ext>
                  </a:extLst>
                </a:gridCol>
                <a:gridCol w="1086416">
                  <a:extLst>
                    <a:ext uri="{9D8B030D-6E8A-4147-A177-3AD203B41FA5}">
                      <a16:colId xmlns:a16="http://schemas.microsoft.com/office/drawing/2014/main" val="395526512"/>
                    </a:ext>
                  </a:extLst>
                </a:gridCol>
                <a:gridCol w="968721">
                  <a:extLst>
                    <a:ext uri="{9D8B030D-6E8A-4147-A177-3AD203B41FA5}">
                      <a16:colId xmlns:a16="http://schemas.microsoft.com/office/drawing/2014/main" val="4209943100"/>
                    </a:ext>
                  </a:extLst>
                </a:gridCol>
                <a:gridCol w="787652">
                  <a:extLst>
                    <a:ext uri="{9D8B030D-6E8A-4147-A177-3AD203B41FA5}">
                      <a16:colId xmlns:a16="http://schemas.microsoft.com/office/drawing/2014/main" val="2835535645"/>
                    </a:ext>
                  </a:extLst>
                </a:gridCol>
                <a:gridCol w="751436">
                  <a:extLst>
                    <a:ext uri="{9D8B030D-6E8A-4147-A177-3AD203B41FA5}">
                      <a16:colId xmlns:a16="http://schemas.microsoft.com/office/drawing/2014/main" val="291210661"/>
                    </a:ext>
                  </a:extLst>
                </a:gridCol>
              </a:tblGrid>
              <a:tr h="0">
                <a:tc>
                  <a:txBody>
                    <a:bodyPr/>
                    <a:lstStyle/>
                    <a:p>
                      <a:pPr marL="0" marR="0" algn="l">
                        <a:lnSpc>
                          <a:spcPct val="150000"/>
                        </a:lnSpc>
                        <a:spcAft>
                          <a:spcPts val="800"/>
                        </a:spcAft>
                        <a:buNone/>
                      </a:pPr>
                      <a:r>
                        <a:rPr lang="en-US" sz="2500" b="1" kern="100">
                          <a:effectLst/>
                          <a:latin typeface="+mn-lt"/>
                          <a:ea typeface="Aptos" panose="020B0004020202020204" pitchFamily="34" charset="0"/>
                          <a:cs typeface="Times New Roman" panose="02020603050405020304" pitchFamily="18" charset="0"/>
                        </a:rPr>
                        <a:t>PlaintText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H</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O</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59116659"/>
                  </a:ext>
                </a:extLst>
              </a:tr>
              <a:tr h="0">
                <a:tc>
                  <a:txBody>
                    <a:bodyPr/>
                    <a:lstStyle/>
                    <a:p>
                      <a:pPr marL="0" marR="0" algn="l">
                        <a:lnSpc>
                          <a:spcPct val="150000"/>
                        </a:lnSpc>
                        <a:spcAft>
                          <a:spcPts val="800"/>
                        </a:spcAft>
                        <a:buNone/>
                      </a:pPr>
                      <a:r>
                        <a:rPr lang="en-US" sz="2500" b="1" kern="100">
                          <a:effectLst/>
                          <a:latin typeface="+mn-lt"/>
                          <a:ea typeface="Aptos" panose="020B0004020202020204" pitchFamily="34" charset="0"/>
                          <a:cs typeface="Times New Roman" panose="02020603050405020304" pitchFamily="18" charset="0"/>
                        </a:rPr>
                        <a:t>Key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K</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K</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611619860"/>
                  </a:ext>
                </a:extLst>
              </a:tr>
              <a:tr h="0">
                <a:tc>
                  <a:txBody>
                    <a:bodyPr/>
                    <a:lstStyle/>
                    <a:p>
                      <a:pPr marL="0" marR="0" algn="just">
                        <a:lnSpc>
                          <a:spcPct val="150000"/>
                        </a:lnSpc>
                        <a:spcAft>
                          <a:spcPts val="800"/>
                        </a:spcAft>
                        <a:buNone/>
                      </a:pPr>
                      <a:r>
                        <a:rPr lang="en-US" sz="2500" b="1" kern="100">
                          <a:effectLst/>
                          <a:latin typeface="+mn-lt"/>
                          <a:ea typeface="Aptos" panose="020B0004020202020204" pitchFamily="34" charset="0"/>
                          <a:cs typeface="Times New Roman" panose="02020603050405020304" pitchFamily="18" charset="0"/>
                        </a:rPr>
                        <a:t>P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7</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4</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11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11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14</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936052627"/>
                  </a:ext>
                </a:extLst>
              </a:tr>
              <a:tr h="0">
                <a:tc>
                  <a:txBody>
                    <a:bodyPr/>
                    <a:lstStyle/>
                    <a:p>
                      <a:pPr marL="0" marR="0" algn="just">
                        <a:lnSpc>
                          <a:spcPct val="150000"/>
                        </a:lnSpc>
                        <a:spcAft>
                          <a:spcPts val="800"/>
                        </a:spcAft>
                        <a:buNone/>
                      </a:pPr>
                      <a:r>
                        <a:rPr lang="en-US" sz="2500" b="1" kern="100">
                          <a:effectLst/>
                          <a:latin typeface="+mn-lt"/>
                          <a:ea typeface="Aptos" panose="020B0004020202020204" pitchFamily="34" charset="0"/>
                          <a:cs typeface="Times New Roman" panose="02020603050405020304" pitchFamily="18" charset="0"/>
                        </a:rPr>
                        <a:t>K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10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4</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24</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10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4</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2373900993"/>
                  </a:ext>
                </a:extLst>
              </a:tr>
              <a:tr h="0">
                <a:tc>
                  <a:txBody>
                    <a:bodyPr/>
                    <a:lstStyle/>
                    <a:p>
                      <a:pPr marL="0" marR="0" algn="just">
                        <a:lnSpc>
                          <a:spcPct val="150000"/>
                        </a:lnSpc>
                        <a:spcAft>
                          <a:spcPts val="800"/>
                        </a:spcAft>
                        <a:buNone/>
                      </a:pPr>
                      <a:r>
                        <a:rPr lang="en-US" sz="2500" b="1" kern="100">
                          <a:effectLst/>
                          <a:latin typeface="+mn-lt"/>
                          <a:ea typeface="Aptos" panose="020B0004020202020204" pitchFamily="34" charset="0"/>
                          <a:cs typeface="Times New Roman" panose="02020603050405020304" pitchFamily="18" charset="0"/>
                        </a:rPr>
                        <a:t>C</a:t>
                      </a:r>
                      <a:r>
                        <a:rPr lang="en-US" sz="2500" b="1" kern="100" baseline="-25000">
                          <a:effectLst/>
                          <a:latin typeface="+mn-lt"/>
                          <a:ea typeface="Aptos" panose="020B0004020202020204" pitchFamily="34" charset="0"/>
                          <a:cs typeface="Times New Roman" panose="02020603050405020304" pitchFamily="18" charset="0"/>
                        </a:rPr>
                        <a:t>i</a:t>
                      </a:r>
                      <a:r>
                        <a:rPr lang="en-US" sz="2500" b="1" kern="100">
                          <a:effectLst/>
                          <a:latin typeface="+mn-lt"/>
                          <a:ea typeface="Aptos" panose="020B0004020202020204" pitchFamily="34" charset="0"/>
                          <a:cs typeface="Times New Roman" panose="02020603050405020304" pitchFamily="18" charset="0"/>
                        </a:rPr>
                        <a:t> = (P</a:t>
                      </a:r>
                      <a:r>
                        <a:rPr lang="en-US" sz="2500" b="1" kern="100" baseline="-25000">
                          <a:effectLst/>
                          <a:latin typeface="+mn-lt"/>
                          <a:ea typeface="Aptos" panose="020B0004020202020204" pitchFamily="34" charset="0"/>
                          <a:cs typeface="Times New Roman" panose="02020603050405020304" pitchFamily="18" charset="0"/>
                        </a:rPr>
                        <a:t>i</a:t>
                      </a:r>
                      <a:r>
                        <a:rPr lang="en-US" sz="2500" b="1" kern="100">
                          <a:effectLst/>
                          <a:latin typeface="+mn-lt"/>
                          <a:ea typeface="Aptos" panose="020B0004020202020204" pitchFamily="34" charset="0"/>
                          <a:cs typeface="Times New Roman" panose="02020603050405020304" pitchFamily="18" charset="0"/>
                        </a:rPr>
                        <a:t> + K</a:t>
                      </a:r>
                      <a:r>
                        <a:rPr lang="en-US" sz="2500" b="1" kern="100" baseline="-25000">
                          <a:effectLst/>
                          <a:latin typeface="+mn-lt"/>
                          <a:ea typeface="Aptos" panose="020B0004020202020204" pitchFamily="34" charset="0"/>
                          <a:cs typeface="Times New Roman" panose="02020603050405020304" pitchFamily="18" charset="0"/>
                        </a:rPr>
                        <a:t>i</a:t>
                      </a:r>
                      <a:r>
                        <a:rPr lang="en-US" sz="2500" b="1" kern="100">
                          <a:effectLst/>
                          <a:latin typeface="+mn-lt"/>
                          <a:ea typeface="Aptos" panose="020B0004020202020204" pitchFamily="34" charset="0"/>
                          <a:cs typeface="Times New Roman" panose="02020603050405020304" pitchFamily="18" charset="0"/>
                        </a:rPr>
                        <a:t>) mode 26</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17</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8</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9</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21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18</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4284791469"/>
                  </a:ext>
                </a:extLst>
              </a:tr>
              <a:tr h="0">
                <a:tc>
                  <a:txBody>
                    <a:bodyPr/>
                    <a:lstStyle/>
                    <a:p>
                      <a:pPr marL="0" marR="0" algn="just">
                        <a:lnSpc>
                          <a:spcPct val="150000"/>
                        </a:lnSpc>
                        <a:spcAft>
                          <a:spcPts val="800"/>
                        </a:spcAft>
                        <a:buNone/>
                      </a:pPr>
                      <a:r>
                        <a:rPr lang="en-US" sz="2500" b="1" kern="100">
                          <a:effectLst/>
                          <a:latin typeface="+mn-lt"/>
                          <a:ea typeface="Aptos" panose="020B0004020202020204" pitchFamily="34" charset="0"/>
                          <a:cs typeface="Times New Roman" panose="02020603050405020304" pitchFamily="18" charset="0"/>
                        </a:rPr>
                        <a:t>Ciphertext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I</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J</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V</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schemeClr>
                    </a:solidFill>
                  </a:tcPr>
                </a:tc>
                <a:tc>
                  <a:txBody>
                    <a:bodyPr/>
                    <a:lstStyle/>
                    <a:p>
                      <a:pPr marL="0" marR="0" algn="ctr">
                        <a:lnSpc>
                          <a:spcPct val="150000"/>
                        </a:lnSpc>
                        <a:spcAft>
                          <a:spcPts val="800"/>
                        </a:spcAft>
                        <a:buNone/>
                      </a:pPr>
                      <a:r>
                        <a:rPr lang="en-US" sz="2500" kern="100">
                          <a:effectLst/>
                          <a:latin typeface="+mn-lt"/>
                          <a:ea typeface="Aptos" panose="020B0004020202020204" pitchFamily="34" charset="0"/>
                          <a:cs typeface="Times New Roman" panose="02020603050405020304" pitchFamily="18" charset="0"/>
                        </a:rPr>
                        <a:t>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schemeClr>
                    </a:solidFill>
                  </a:tcPr>
                </a:tc>
                <a:extLst>
                  <a:ext uri="{0D108BD9-81ED-4DB2-BD59-A6C34878D82A}">
                    <a16:rowId xmlns:a16="http://schemas.microsoft.com/office/drawing/2014/main" val="4273678867"/>
                  </a:ext>
                </a:extLst>
              </a:tr>
            </a:tbl>
          </a:graphicData>
        </a:graphic>
      </p:graphicFrame>
      <p:sp>
        <p:nvSpPr>
          <p:cNvPr id="17" name="Content Placeholder 2">
            <a:extLst>
              <a:ext uri="{FF2B5EF4-FFF2-40B4-BE49-F238E27FC236}">
                <a16:creationId xmlns:a16="http://schemas.microsoft.com/office/drawing/2014/main" id="{BF233FF0-D872-2E12-2D2C-F43762697DFF}"/>
              </a:ext>
            </a:extLst>
          </p:cNvPr>
          <p:cNvSpPr txBox="1">
            <a:spLocks/>
          </p:cNvSpPr>
          <p:nvPr/>
        </p:nvSpPr>
        <p:spPr>
          <a:xfrm>
            <a:off x="5438774" y="5856146"/>
            <a:ext cx="2507999" cy="6367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sz="2000">
                <a:latin typeface="Calibri (Body)"/>
              </a:rPr>
              <a:t>Bản mã là “RIJVS”</a:t>
            </a:r>
          </a:p>
        </p:txBody>
      </p:sp>
    </p:spTree>
    <p:extLst>
      <p:ext uri="{BB962C8B-B14F-4D97-AF65-F5344CB8AC3E}">
        <p14:creationId xmlns:p14="http://schemas.microsoft.com/office/powerpoint/2010/main" val="771594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ACBB6-AB6D-B1B8-6819-D399C711FF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56D48-DB9A-7CCF-84A6-C45C543C3F39}"/>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1. Cơ sở lý thuyết mật mã Vigenère</a:t>
            </a:r>
          </a:p>
        </p:txBody>
      </p:sp>
      <p:sp>
        <p:nvSpPr>
          <p:cNvPr id="3" name="Content Placeholder 2">
            <a:extLst>
              <a:ext uri="{FF2B5EF4-FFF2-40B4-BE49-F238E27FC236}">
                <a16:creationId xmlns:a16="http://schemas.microsoft.com/office/drawing/2014/main" id="{6FFDF2C9-9485-C431-312E-4EB98BC8F1D2}"/>
              </a:ext>
            </a:extLst>
          </p:cNvPr>
          <p:cNvSpPr>
            <a:spLocks noGrp="1"/>
          </p:cNvSpPr>
          <p:nvPr>
            <p:ph idx="1"/>
          </p:nvPr>
        </p:nvSpPr>
        <p:spPr>
          <a:xfrm>
            <a:off x="923925" y="1789598"/>
            <a:ext cx="10344150" cy="1159582"/>
          </a:xfrm>
        </p:spPr>
        <p:txBody>
          <a:bodyPr>
            <a:normAutofit/>
          </a:bodyPr>
          <a:lstStyle/>
          <a:p>
            <a:pPr marL="0" indent="0" algn="just">
              <a:lnSpc>
                <a:spcPct val="150000"/>
              </a:lnSpc>
              <a:buNone/>
            </a:pPr>
            <a:r>
              <a:rPr lang="vi-VN" sz="2000">
                <a:latin typeface="Calibri (Body)"/>
              </a:rPr>
              <a:t>Mật mã Vigenère từng được xem là </a:t>
            </a:r>
            <a:r>
              <a:rPr lang="en-US" sz="2000">
                <a:latin typeface="Calibri (Body)"/>
              </a:rPr>
              <a:t>“không thể bị phá được” trong suốt hơn 300 năm cho đến khi Charles Babbage và Friedrich Kasiski phát hiện ra cách phá nó vào giữa thế kỷ 19.</a:t>
            </a:r>
          </a:p>
        </p:txBody>
      </p:sp>
      <p:sp>
        <p:nvSpPr>
          <p:cNvPr id="4" name="Title 1">
            <a:extLst>
              <a:ext uri="{FF2B5EF4-FFF2-40B4-BE49-F238E27FC236}">
                <a16:creationId xmlns:a16="http://schemas.microsoft.com/office/drawing/2014/main" id="{1487C123-D3D5-5F6A-C79D-39828086B08C}"/>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1.3 Độ an toàn và hạn chế</a:t>
            </a:r>
          </a:p>
        </p:txBody>
      </p:sp>
      <p:sp>
        <p:nvSpPr>
          <p:cNvPr id="7" name="Content Placeholder 2">
            <a:extLst>
              <a:ext uri="{FF2B5EF4-FFF2-40B4-BE49-F238E27FC236}">
                <a16:creationId xmlns:a16="http://schemas.microsoft.com/office/drawing/2014/main" id="{E1276D17-13F4-1BB0-4608-6025153C8A6F}"/>
              </a:ext>
            </a:extLst>
          </p:cNvPr>
          <p:cNvSpPr txBox="1">
            <a:spLocks/>
          </p:cNvSpPr>
          <p:nvPr/>
        </p:nvSpPr>
        <p:spPr>
          <a:xfrm>
            <a:off x="923924" y="2858733"/>
            <a:ext cx="10429875" cy="24466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228600">
              <a:lnSpc>
                <a:spcPct val="150000"/>
              </a:lnSpc>
              <a:buNone/>
              <a:tabLst>
                <a:tab pos="228600" algn="l"/>
              </a:tabLst>
            </a:pPr>
            <a:r>
              <a:rPr lang="en-US" sz="2000" b="1">
                <a:solidFill>
                  <a:srgbClr val="FFFF00"/>
                </a:solidFill>
                <a:latin typeface="Calibri (Body)"/>
              </a:rPr>
              <a:t>Phương pháp của Charles Babbage </a:t>
            </a:r>
            <a:r>
              <a:rPr lang="en-US" sz="2000">
                <a:latin typeface="Calibri (Body)"/>
              </a:rPr>
              <a:t>là quan </a:t>
            </a:r>
            <a:r>
              <a:rPr lang="vi-VN" sz="2000">
                <a:latin typeface="Calibri (Body)"/>
              </a:rPr>
              <a:t>sát ký tự lặp, dùng tần suất chữ cái để đoán độ dài khóa, rồi giải từng nhóm như Caesar.</a:t>
            </a:r>
            <a:r>
              <a:rPr lang="en-US" sz="2000">
                <a:latin typeface="Calibri (Body)"/>
              </a:rPr>
              <a:t> Tuy nhiên ông không công bố rộng rãi</a:t>
            </a:r>
          </a:p>
          <a:p>
            <a:pPr marL="0" indent="0" algn="just" defTabSz="228600">
              <a:lnSpc>
                <a:spcPct val="150000"/>
              </a:lnSpc>
              <a:buNone/>
              <a:tabLst>
                <a:tab pos="228600" algn="l"/>
              </a:tabLst>
            </a:pPr>
            <a:r>
              <a:rPr lang="en-US" sz="2000" b="1">
                <a:solidFill>
                  <a:srgbClr val="FFFF00"/>
                </a:solidFill>
                <a:latin typeface="Calibri (Body)"/>
              </a:rPr>
              <a:t>Phương pháp của Friedrich Kasiski </a:t>
            </a:r>
            <a:r>
              <a:rPr lang="en-US" sz="2000">
                <a:latin typeface="Calibri (Body)"/>
              </a:rPr>
              <a:t>dựa trên nền móng của Babbage, t</a:t>
            </a:r>
            <a:r>
              <a:rPr lang="vi-VN" sz="2000">
                <a:latin typeface="Calibri (Body)"/>
              </a:rPr>
              <a:t>ìm chuỗi lặp, đo khoảng cách, lấy GCD để đoán độ dài khóa, rồi phân tích tần suất từng nhóm.</a:t>
            </a:r>
            <a:r>
              <a:rPr lang="en-US" sz="2000">
                <a:latin typeface="Calibri (Body)"/>
              </a:rPr>
              <a:t> Phương pháp sau này được đặt theo tên ông và được sử dụng rộng rãi hiện nay</a:t>
            </a:r>
          </a:p>
        </p:txBody>
      </p:sp>
    </p:spTree>
    <p:extLst>
      <p:ext uri="{BB962C8B-B14F-4D97-AF65-F5344CB8AC3E}">
        <p14:creationId xmlns:p14="http://schemas.microsoft.com/office/powerpoint/2010/main" val="3005957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DE442-4D3B-C151-FF8C-6BF67FC1C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CD31E7-8240-471E-59ED-C89F657B1BF3}"/>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1. Cơ sở lý thuyết mật mã Vigenère</a:t>
            </a:r>
          </a:p>
        </p:txBody>
      </p:sp>
      <p:sp>
        <p:nvSpPr>
          <p:cNvPr id="3" name="Content Placeholder 2">
            <a:extLst>
              <a:ext uri="{FF2B5EF4-FFF2-40B4-BE49-F238E27FC236}">
                <a16:creationId xmlns:a16="http://schemas.microsoft.com/office/drawing/2014/main" id="{C805BCB2-AE4F-4A4A-85F9-ACEC37335104}"/>
              </a:ext>
            </a:extLst>
          </p:cNvPr>
          <p:cNvSpPr>
            <a:spLocks noGrp="1"/>
          </p:cNvSpPr>
          <p:nvPr>
            <p:ph idx="1"/>
          </p:nvPr>
        </p:nvSpPr>
        <p:spPr>
          <a:xfrm>
            <a:off x="923925" y="1789598"/>
            <a:ext cx="10344150" cy="4363552"/>
          </a:xfrm>
        </p:spPr>
        <p:txBody>
          <a:bodyPr>
            <a:noAutofit/>
          </a:bodyPr>
          <a:lstStyle/>
          <a:p>
            <a:pPr marL="0" indent="0" algn="just">
              <a:lnSpc>
                <a:spcPct val="150000"/>
              </a:lnSpc>
              <a:buNone/>
            </a:pPr>
            <a:r>
              <a:rPr lang="en-US" sz="2000">
                <a:latin typeface="Calibri (Body)"/>
              </a:rPr>
              <a:t>Hiện nay, mật mã Vigenère có thể bị phá bằng cách phương pháp sau:</a:t>
            </a:r>
          </a:p>
          <a:p>
            <a:pPr algn="just">
              <a:lnSpc>
                <a:spcPct val="150000"/>
              </a:lnSpc>
              <a:buFont typeface="Wingdings" panose="05000000000000000000" pitchFamily="2" charset="2"/>
              <a:buChar char="§"/>
            </a:pPr>
            <a:r>
              <a:rPr lang="vi-VN" sz="2000" b="1">
                <a:solidFill>
                  <a:schemeClr val="accent6">
                    <a:lumMod val="60000"/>
                    <a:lumOff val="40000"/>
                  </a:schemeClr>
                </a:solidFill>
                <a:latin typeface="Calibri (Body)"/>
              </a:rPr>
              <a:t>Phương pháp Kasiski: </a:t>
            </a:r>
            <a:r>
              <a:rPr lang="vi-VN" sz="2000">
                <a:latin typeface="Calibri (Body)"/>
              </a:rPr>
              <a:t>tìm các đoạn lặp trong bản mã, đo khoảng cách giữa các đoạn giống nhau để ước lượng bội số của độ dài khóa.</a:t>
            </a:r>
          </a:p>
          <a:p>
            <a:pPr algn="just">
              <a:lnSpc>
                <a:spcPct val="150000"/>
              </a:lnSpc>
              <a:buFont typeface="Wingdings" panose="05000000000000000000" pitchFamily="2" charset="2"/>
              <a:buChar char="§"/>
            </a:pPr>
            <a:r>
              <a:rPr lang="vi-VN" sz="2000" b="1">
                <a:solidFill>
                  <a:schemeClr val="accent6">
                    <a:lumMod val="60000"/>
                    <a:lumOff val="40000"/>
                  </a:schemeClr>
                </a:solidFill>
                <a:latin typeface="Calibri (Body)"/>
              </a:rPr>
              <a:t>Chỉ số đồng nhất (Index of Coincidence - IC): </a:t>
            </a:r>
            <a:r>
              <a:rPr lang="vi-VN" sz="2000">
                <a:latin typeface="Calibri (Body)"/>
              </a:rPr>
              <a:t>so sánh tần suất xuất hiện chữ cái để ước tính xem một chuỗi thuộc về văn bản mã hóa bằng nhiều bảng hay chỉ một bảng.</a:t>
            </a:r>
          </a:p>
          <a:p>
            <a:pPr algn="just">
              <a:lnSpc>
                <a:spcPct val="150000"/>
              </a:lnSpc>
              <a:buFont typeface="Wingdings" panose="05000000000000000000" pitchFamily="2" charset="2"/>
              <a:buChar char="§"/>
            </a:pPr>
            <a:r>
              <a:rPr lang="vi-VN" sz="2000">
                <a:solidFill>
                  <a:schemeClr val="accent6">
                    <a:lumMod val="60000"/>
                    <a:lumOff val="40000"/>
                  </a:schemeClr>
                </a:solidFill>
                <a:latin typeface="Calibri (Body)"/>
              </a:rPr>
              <a:t>Phân tích tần suất theo từng “bảng”: </a:t>
            </a:r>
            <a:r>
              <a:rPr lang="vi-VN" sz="2000">
                <a:latin typeface="Calibri (Body)"/>
              </a:rPr>
              <a:t>nếu biết hoặc ước lượng được độ dài khóa 𝑚, ta có thể tách bản mã thành 𝑚 chuỗi con tương ứng từng vị trí trong khóa và áp dụng phân tích tần suất (giống như phá Caesar) cho từng chuỗi con.</a:t>
            </a:r>
          </a:p>
          <a:p>
            <a:pPr marL="0" indent="0" algn="just">
              <a:lnSpc>
                <a:spcPct val="150000"/>
              </a:lnSpc>
              <a:buNone/>
            </a:pPr>
            <a:endParaRPr lang="en-US" sz="2000">
              <a:latin typeface="Calibri (Body)"/>
            </a:endParaRPr>
          </a:p>
        </p:txBody>
      </p:sp>
      <p:sp>
        <p:nvSpPr>
          <p:cNvPr id="4" name="Title 1">
            <a:extLst>
              <a:ext uri="{FF2B5EF4-FFF2-40B4-BE49-F238E27FC236}">
                <a16:creationId xmlns:a16="http://schemas.microsoft.com/office/drawing/2014/main" id="{DF016F7C-574D-099A-9F45-D88D69176E0F}"/>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1.3 Độ an toàn và hạn chế</a:t>
            </a:r>
          </a:p>
        </p:txBody>
      </p:sp>
    </p:spTree>
    <p:extLst>
      <p:ext uri="{BB962C8B-B14F-4D97-AF65-F5344CB8AC3E}">
        <p14:creationId xmlns:p14="http://schemas.microsoft.com/office/powerpoint/2010/main" val="3484780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8DC01-2FF8-5F40-B1AB-87A45ED778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F40BA-2365-C5B4-3D7D-C96E46A667BB}"/>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2. Phương pháp Kasiski</a:t>
            </a:r>
          </a:p>
        </p:txBody>
      </p:sp>
      <p:sp>
        <p:nvSpPr>
          <p:cNvPr id="4" name="Title 1">
            <a:extLst>
              <a:ext uri="{FF2B5EF4-FFF2-40B4-BE49-F238E27FC236}">
                <a16:creationId xmlns:a16="http://schemas.microsoft.com/office/drawing/2014/main" id="{1A9B5D8F-9E5D-1CB4-6EBA-505D19EFCC8A}"/>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2.1 Giới thiệu</a:t>
            </a:r>
          </a:p>
        </p:txBody>
      </p:sp>
      <p:sp>
        <p:nvSpPr>
          <p:cNvPr id="11" name="Content Placeholder 2">
            <a:extLst>
              <a:ext uri="{FF2B5EF4-FFF2-40B4-BE49-F238E27FC236}">
                <a16:creationId xmlns:a16="http://schemas.microsoft.com/office/drawing/2014/main" id="{30C0C695-CFCF-CCF0-03DA-4F62618DD855}"/>
              </a:ext>
            </a:extLst>
          </p:cNvPr>
          <p:cNvSpPr>
            <a:spLocks noGrp="1"/>
          </p:cNvSpPr>
          <p:nvPr>
            <p:ph idx="1"/>
          </p:nvPr>
        </p:nvSpPr>
        <p:spPr>
          <a:xfrm>
            <a:off x="838200" y="1744333"/>
            <a:ext cx="10801350" cy="2208542"/>
          </a:xfrm>
        </p:spPr>
        <p:txBody>
          <a:bodyPr>
            <a:normAutofit/>
          </a:bodyPr>
          <a:lstStyle/>
          <a:p>
            <a:pPr marL="0" indent="0" algn="just">
              <a:lnSpc>
                <a:spcPct val="150000"/>
              </a:lnSpc>
              <a:buNone/>
            </a:pPr>
            <a:r>
              <a:rPr lang="vi-VN" sz="2000" b="1">
                <a:solidFill>
                  <a:srgbClr val="FFFF00"/>
                </a:solidFill>
                <a:latin typeface="Calibri (Body)"/>
                <a:cs typeface="Calibri" panose="020F0502020204030204" pitchFamily="34" charset="0"/>
              </a:rPr>
              <a:t>Phương pháp Kasiski (Kasiski Examination) </a:t>
            </a:r>
            <a:r>
              <a:rPr lang="vi-VN" sz="2000">
                <a:latin typeface="Calibri (Body)"/>
                <a:cs typeface="Calibri" panose="020F0502020204030204" pitchFamily="34" charset="0"/>
              </a:rPr>
              <a:t>là phương pháp phân tích dùng để ước lượng độ dài khóa của mật mã Vigenère khi khóa ngắn hơn bản rõ. </a:t>
            </a:r>
            <a:endParaRPr lang="en-US" sz="2000">
              <a:latin typeface="Calibri (Body)"/>
              <a:cs typeface="Calibri" panose="020F0502020204030204" pitchFamily="34" charset="0"/>
            </a:endParaRPr>
          </a:p>
          <a:p>
            <a:pPr marL="0" indent="0" algn="just">
              <a:lnSpc>
                <a:spcPct val="150000"/>
              </a:lnSpc>
              <a:buNone/>
            </a:pPr>
            <a:r>
              <a:rPr lang="vi-VN" sz="2000">
                <a:latin typeface="Calibri (Body)"/>
                <a:cs typeface="Calibri" panose="020F0502020204030204" pitchFamily="34" charset="0"/>
              </a:rPr>
              <a:t>Khi biết (hoặc thu hẹp) tập ứng viên độ dài khóa, ta có thể tách ciphertext theo vị trí modulo m rồi dùng phân tích tần suất để tìm khóa thực.</a:t>
            </a:r>
            <a:endParaRPr lang="en-US" sz="2000">
              <a:latin typeface="Calibri (Body)"/>
              <a:cs typeface="Calibri" panose="020F0502020204030204" pitchFamily="34" charset="0"/>
            </a:endParaRPr>
          </a:p>
        </p:txBody>
      </p:sp>
      <p:sp>
        <p:nvSpPr>
          <p:cNvPr id="9" name="TextBox 8">
            <a:extLst>
              <a:ext uri="{FF2B5EF4-FFF2-40B4-BE49-F238E27FC236}">
                <a16:creationId xmlns:a16="http://schemas.microsoft.com/office/drawing/2014/main" id="{20DDC14F-E4F6-4652-EA37-ED711178A5B3}"/>
              </a:ext>
            </a:extLst>
          </p:cNvPr>
          <p:cNvSpPr txBox="1"/>
          <p:nvPr/>
        </p:nvSpPr>
        <p:spPr>
          <a:xfrm>
            <a:off x="838201" y="3952875"/>
            <a:ext cx="10801349" cy="1429622"/>
          </a:xfrm>
          <a:prstGeom prst="rect">
            <a:avLst/>
          </a:prstGeom>
          <a:noFill/>
        </p:spPr>
        <p:txBody>
          <a:bodyPr wrap="square">
            <a:spAutoFit/>
          </a:bodyPr>
          <a:lstStyle/>
          <a:p>
            <a:pPr algn="just">
              <a:lnSpc>
                <a:spcPct val="150000"/>
              </a:lnSpc>
            </a:pPr>
            <a:r>
              <a:rPr lang="en-US" sz="2000">
                <a:latin typeface="Calibri (Body)"/>
              </a:rPr>
              <a:t>P</a:t>
            </a:r>
            <a:r>
              <a:rPr lang="vi-VN" sz="2000">
                <a:latin typeface="Calibri (Body)"/>
              </a:rPr>
              <a:t>hương pháp Kasiski cho phép chúng ta ước lượng độ dài khóa của mật mã Vigenère một cách tương đối chính xác. Việc xác định được độ dài khóa giúp thu hẹp đáng kể không gian tìm kiếm, tạo tiền đề cho các phương pháp phân tích tần suất và giải mã chi tiết ở các bước tiếp theo.</a:t>
            </a:r>
            <a:endParaRPr lang="en-US" sz="2000">
              <a:latin typeface="Calibri (Body)"/>
            </a:endParaRPr>
          </a:p>
        </p:txBody>
      </p:sp>
    </p:spTree>
    <p:extLst>
      <p:ext uri="{BB962C8B-B14F-4D97-AF65-F5344CB8AC3E}">
        <p14:creationId xmlns:p14="http://schemas.microsoft.com/office/powerpoint/2010/main" val="1146040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6E833-429F-30EF-EDCD-5670ED9DDB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6CAEE8-D915-6337-41C0-63C86A8BDE5D}"/>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2. Phương pháp Kasiski</a:t>
            </a:r>
          </a:p>
        </p:txBody>
      </p:sp>
      <p:sp>
        <p:nvSpPr>
          <p:cNvPr id="4" name="Title 1">
            <a:extLst>
              <a:ext uri="{FF2B5EF4-FFF2-40B4-BE49-F238E27FC236}">
                <a16:creationId xmlns:a16="http://schemas.microsoft.com/office/drawing/2014/main" id="{DA0D4898-7B3A-633C-F6EB-A9AE3169708A}"/>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2.2 Phương pháp triển khai</a:t>
            </a:r>
          </a:p>
        </p:txBody>
      </p:sp>
      <p:sp>
        <p:nvSpPr>
          <p:cNvPr id="11" name="Content Placeholder 2">
            <a:extLst>
              <a:ext uri="{FF2B5EF4-FFF2-40B4-BE49-F238E27FC236}">
                <a16:creationId xmlns:a16="http://schemas.microsoft.com/office/drawing/2014/main" id="{233A24EA-40BF-3E6D-2337-A865E79AB45F}"/>
              </a:ext>
            </a:extLst>
          </p:cNvPr>
          <p:cNvSpPr>
            <a:spLocks noGrp="1"/>
          </p:cNvSpPr>
          <p:nvPr>
            <p:ph idx="1"/>
          </p:nvPr>
        </p:nvSpPr>
        <p:spPr>
          <a:xfrm>
            <a:off x="838200" y="1744332"/>
            <a:ext cx="10801350" cy="4748541"/>
          </a:xfrm>
        </p:spPr>
        <p:txBody>
          <a:bodyPr>
            <a:normAutofit/>
          </a:bodyPr>
          <a:lstStyle/>
          <a:p>
            <a:pPr marL="0" indent="0" algn="just">
              <a:lnSpc>
                <a:spcPct val="150000"/>
              </a:lnSpc>
              <a:buNone/>
            </a:pPr>
            <a:r>
              <a:rPr lang="en-US" sz="2000" b="1">
                <a:latin typeface="Calibri (Body)"/>
                <a:cs typeface="Calibri" panose="020F0502020204030204" pitchFamily="34" charset="0"/>
              </a:rPr>
              <a:t>Cơ sở lý thuyết: </a:t>
            </a:r>
            <a:r>
              <a:rPr lang="vi-VN" sz="2000">
                <a:latin typeface="Calibri (Body)"/>
                <a:cs typeface="Calibri" panose="020F0502020204030204" pitchFamily="34" charset="0"/>
              </a:rPr>
              <a:t>Khi khóa của mật mã Vigenère ngắn hơn bản rõ, nó sẽ được lặp lại nhiều lần trên toàn bộ chuỗi cần mã hóa. </a:t>
            </a:r>
            <a:endParaRPr lang="en-US" sz="2000">
              <a:latin typeface="Calibri (Body)"/>
              <a:cs typeface="Calibri" panose="020F0502020204030204" pitchFamily="34" charset="0"/>
            </a:endParaRPr>
          </a:p>
          <a:p>
            <a:pPr marL="0" indent="0" algn="just">
              <a:lnSpc>
                <a:spcPct val="150000"/>
              </a:lnSpc>
              <a:buNone/>
            </a:pPr>
            <a:r>
              <a:rPr lang="en-US" sz="2000">
                <a:latin typeface="Calibri (Body)"/>
                <a:cs typeface="Calibri" panose="020F0502020204030204" pitchFamily="34" charset="0"/>
              </a:rPr>
              <a:t>Do đó, nếu trong bản rõ có hai đoạn giống nhau xuất hiện ở các vị trí cách nhau đúng bằng bội số của độ dài khóa, thì hai đoạn đó sẽ bị mã hóa bằng cùng một chuỗi khóa và cho ra cùng một đoạn trong bản mã</a:t>
            </a:r>
          </a:p>
          <a:p>
            <a:pPr marL="0" indent="0" algn="just">
              <a:lnSpc>
                <a:spcPct val="150000"/>
              </a:lnSpc>
              <a:buNone/>
            </a:pPr>
            <a:r>
              <a:rPr lang="vi-VN" sz="2000">
                <a:latin typeface="Calibri (Body)"/>
                <a:cs typeface="Calibri" panose="020F0502020204030204" pitchFamily="34" charset="0"/>
              </a:rPr>
              <a:t>Nói cách khác, nếu hai đoạn trùng nhau trong bản mã cách nhau một khoảng n ký tự, thì độ dài khóa có thể là một trong các ước số của n. Từ đó, bằng cách tìm nhiều cặp đoạn trùng nhau và lấy ước số chung lớn nhất (GCD) của các khoảng cách, ta có thể xác định được độ dài </a:t>
            </a:r>
            <a:r>
              <a:rPr lang="vi-VN" sz="2000" b="1">
                <a:solidFill>
                  <a:srgbClr val="FFFF00"/>
                </a:solidFill>
                <a:latin typeface="Calibri (Body)"/>
                <a:cs typeface="Calibri" panose="020F0502020204030204" pitchFamily="34" charset="0"/>
              </a:rPr>
              <a:t>khóa tiềm năng.</a:t>
            </a:r>
            <a:endParaRPr lang="en-US" sz="2000" b="1">
              <a:solidFill>
                <a:srgbClr val="FFFF00"/>
              </a:solidFill>
              <a:latin typeface="Calibri (Body)"/>
              <a:cs typeface="Calibri" panose="020F0502020204030204" pitchFamily="34" charset="0"/>
            </a:endParaRPr>
          </a:p>
        </p:txBody>
      </p:sp>
    </p:spTree>
    <p:extLst>
      <p:ext uri="{BB962C8B-B14F-4D97-AF65-F5344CB8AC3E}">
        <p14:creationId xmlns:p14="http://schemas.microsoft.com/office/powerpoint/2010/main" val="466217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36814-6247-A4BE-23F6-DFC200F57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2EBE1-8A6D-AB63-D152-59BCF792B290}"/>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2. Phương pháp Kasiski</a:t>
            </a:r>
          </a:p>
        </p:txBody>
      </p:sp>
      <p:sp>
        <p:nvSpPr>
          <p:cNvPr id="4" name="Title 1">
            <a:extLst>
              <a:ext uri="{FF2B5EF4-FFF2-40B4-BE49-F238E27FC236}">
                <a16:creationId xmlns:a16="http://schemas.microsoft.com/office/drawing/2014/main" id="{4D3E321D-BA99-DFBC-B638-FC4C75ED279A}"/>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2.2 Phương pháp triển khai</a:t>
            </a:r>
          </a:p>
        </p:txBody>
      </p:sp>
      <p:sp>
        <p:nvSpPr>
          <p:cNvPr id="11" name="Content Placeholder 2">
            <a:extLst>
              <a:ext uri="{FF2B5EF4-FFF2-40B4-BE49-F238E27FC236}">
                <a16:creationId xmlns:a16="http://schemas.microsoft.com/office/drawing/2014/main" id="{A5FC3390-A655-625B-9592-0F22433789ED}"/>
              </a:ext>
            </a:extLst>
          </p:cNvPr>
          <p:cNvSpPr>
            <a:spLocks noGrp="1"/>
          </p:cNvSpPr>
          <p:nvPr>
            <p:ph idx="1"/>
          </p:nvPr>
        </p:nvSpPr>
        <p:spPr>
          <a:xfrm>
            <a:off x="838200" y="1744333"/>
            <a:ext cx="10801350" cy="636918"/>
          </a:xfrm>
        </p:spPr>
        <p:txBody>
          <a:bodyPr>
            <a:normAutofit/>
          </a:bodyPr>
          <a:lstStyle/>
          <a:p>
            <a:pPr marL="0" indent="0" algn="just">
              <a:lnSpc>
                <a:spcPct val="150000"/>
              </a:lnSpc>
              <a:buNone/>
            </a:pPr>
            <a:r>
              <a:rPr lang="en-US" sz="2000">
                <a:latin typeface="Calibri (Body)"/>
                <a:cs typeface="Calibri" panose="020F0502020204030204" pitchFamily="34" charset="0"/>
              </a:rPr>
              <a:t>Ví dụ, với bản rõ “ENGLISH OR SPANISH” và khóa là “KEY”, bản mã sẽ là “OREVMQR SP CTYXMQR”. </a:t>
            </a:r>
            <a:endParaRPr lang="en-US" sz="2000">
              <a:solidFill>
                <a:srgbClr val="FFFF00"/>
              </a:solidFill>
              <a:latin typeface="Calibri (Body)"/>
              <a:cs typeface="Calibri" panose="020F0502020204030204" pitchFamily="34" charset="0"/>
            </a:endParaRPr>
          </a:p>
        </p:txBody>
      </p:sp>
      <p:sp>
        <p:nvSpPr>
          <p:cNvPr id="3" name="Content Placeholder 2">
            <a:extLst>
              <a:ext uri="{FF2B5EF4-FFF2-40B4-BE49-F238E27FC236}">
                <a16:creationId xmlns:a16="http://schemas.microsoft.com/office/drawing/2014/main" id="{B8634807-3F88-9B29-672F-20D1203562A2}"/>
              </a:ext>
            </a:extLst>
          </p:cNvPr>
          <p:cNvSpPr txBox="1">
            <a:spLocks/>
          </p:cNvSpPr>
          <p:nvPr/>
        </p:nvSpPr>
        <p:spPr>
          <a:xfrm>
            <a:off x="838200" y="2356982"/>
            <a:ext cx="10801350" cy="6369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sz="2000">
                <a:latin typeface="Calibri (Body)"/>
                <a:cs typeface="Calibri" panose="020F0502020204030204" pitchFamily="34" charset="0"/>
              </a:rPr>
              <a:t>Tìm những đoạn giống nhau trong bản mã, ở đây có thể thấy là “MQR”</a:t>
            </a:r>
            <a:endParaRPr lang="en-US" sz="2000">
              <a:solidFill>
                <a:srgbClr val="FFFF00"/>
              </a:solidFill>
              <a:latin typeface="Calibri (Body)"/>
              <a:cs typeface="Calibri" panose="020F0502020204030204" pitchFamily="34" charset="0"/>
            </a:endParaRPr>
          </a:p>
        </p:txBody>
      </p:sp>
      <p:graphicFrame>
        <p:nvGraphicFramePr>
          <p:cNvPr id="7" name="Table 6">
            <a:extLst>
              <a:ext uri="{FF2B5EF4-FFF2-40B4-BE49-F238E27FC236}">
                <a16:creationId xmlns:a16="http://schemas.microsoft.com/office/drawing/2014/main" id="{3F102425-54E9-A305-9D7B-CAF033C588CC}"/>
              </a:ext>
            </a:extLst>
          </p:cNvPr>
          <p:cNvGraphicFramePr>
            <a:graphicFrameLocks noGrp="1"/>
          </p:cNvGraphicFramePr>
          <p:nvPr>
            <p:extLst>
              <p:ext uri="{D42A27DB-BD31-4B8C-83A1-F6EECF244321}">
                <p14:modId xmlns:p14="http://schemas.microsoft.com/office/powerpoint/2010/main" val="20056419"/>
              </p:ext>
            </p:extLst>
          </p:nvPr>
        </p:nvGraphicFramePr>
        <p:xfrm>
          <a:off x="1804987" y="3020585"/>
          <a:ext cx="8582026" cy="1076104"/>
        </p:xfrm>
        <a:graphic>
          <a:graphicData uri="http://schemas.openxmlformats.org/drawingml/2006/table">
            <a:tbl>
              <a:tblPr firstRow="1" firstCol="1" bandRow="1"/>
              <a:tblGrid>
                <a:gridCol w="1095425">
                  <a:extLst>
                    <a:ext uri="{9D8B030D-6E8A-4147-A177-3AD203B41FA5}">
                      <a16:colId xmlns:a16="http://schemas.microsoft.com/office/drawing/2014/main" val="3601883900"/>
                    </a:ext>
                  </a:extLst>
                </a:gridCol>
                <a:gridCol w="460100">
                  <a:extLst>
                    <a:ext uri="{9D8B030D-6E8A-4147-A177-3AD203B41FA5}">
                      <a16:colId xmlns:a16="http://schemas.microsoft.com/office/drawing/2014/main" val="202302144"/>
                    </a:ext>
                  </a:extLst>
                </a:gridCol>
                <a:gridCol w="452926">
                  <a:extLst>
                    <a:ext uri="{9D8B030D-6E8A-4147-A177-3AD203B41FA5}">
                      <a16:colId xmlns:a16="http://schemas.microsoft.com/office/drawing/2014/main" val="856921906"/>
                    </a:ext>
                  </a:extLst>
                </a:gridCol>
                <a:gridCol w="445754">
                  <a:extLst>
                    <a:ext uri="{9D8B030D-6E8A-4147-A177-3AD203B41FA5}">
                      <a16:colId xmlns:a16="http://schemas.microsoft.com/office/drawing/2014/main" val="969457168"/>
                    </a:ext>
                  </a:extLst>
                </a:gridCol>
                <a:gridCol w="460100">
                  <a:extLst>
                    <a:ext uri="{9D8B030D-6E8A-4147-A177-3AD203B41FA5}">
                      <a16:colId xmlns:a16="http://schemas.microsoft.com/office/drawing/2014/main" val="1102823522"/>
                    </a:ext>
                  </a:extLst>
                </a:gridCol>
                <a:gridCol w="481618">
                  <a:extLst>
                    <a:ext uri="{9D8B030D-6E8A-4147-A177-3AD203B41FA5}">
                      <a16:colId xmlns:a16="http://schemas.microsoft.com/office/drawing/2014/main" val="1335353833"/>
                    </a:ext>
                  </a:extLst>
                </a:gridCol>
                <a:gridCol w="460100">
                  <a:extLst>
                    <a:ext uri="{9D8B030D-6E8A-4147-A177-3AD203B41FA5}">
                      <a16:colId xmlns:a16="http://schemas.microsoft.com/office/drawing/2014/main" val="3375680982"/>
                    </a:ext>
                  </a:extLst>
                </a:gridCol>
                <a:gridCol w="452926">
                  <a:extLst>
                    <a:ext uri="{9D8B030D-6E8A-4147-A177-3AD203B41FA5}">
                      <a16:colId xmlns:a16="http://schemas.microsoft.com/office/drawing/2014/main" val="2611763971"/>
                    </a:ext>
                  </a:extLst>
                </a:gridCol>
                <a:gridCol w="419111">
                  <a:extLst>
                    <a:ext uri="{9D8B030D-6E8A-4147-A177-3AD203B41FA5}">
                      <a16:colId xmlns:a16="http://schemas.microsoft.com/office/drawing/2014/main" val="505358152"/>
                    </a:ext>
                  </a:extLst>
                </a:gridCol>
                <a:gridCol w="438579">
                  <a:extLst>
                    <a:ext uri="{9D8B030D-6E8A-4147-A177-3AD203B41FA5}">
                      <a16:colId xmlns:a16="http://schemas.microsoft.com/office/drawing/2014/main" val="4106135992"/>
                    </a:ext>
                  </a:extLst>
                </a:gridCol>
                <a:gridCol w="487766">
                  <a:extLst>
                    <a:ext uri="{9D8B030D-6E8A-4147-A177-3AD203B41FA5}">
                      <a16:colId xmlns:a16="http://schemas.microsoft.com/office/drawing/2014/main" val="2943143625"/>
                    </a:ext>
                  </a:extLst>
                </a:gridCol>
                <a:gridCol w="478544">
                  <a:extLst>
                    <a:ext uri="{9D8B030D-6E8A-4147-A177-3AD203B41FA5}">
                      <a16:colId xmlns:a16="http://schemas.microsoft.com/office/drawing/2014/main" val="1201576878"/>
                    </a:ext>
                  </a:extLst>
                </a:gridCol>
                <a:gridCol w="487766">
                  <a:extLst>
                    <a:ext uri="{9D8B030D-6E8A-4147-A177-3AD203B41FA5}">
                      <a16:colId xmlns:a16="http://schemas.microsoft.com/office/drawing/2014/main" val="3443517945"/>
                    </a:ext>
                  </a:extLst>
                </a:gridCol>
                <a:gridCol w="487766">
                  <a:extLst>
                    <a:ext uri="{9D8B030D-6E8A-4147-A177-3AD203B41FA5}">
                      <a16:colId xmlns:a16="http://schemas.microsoft.com/office/drawing/2014/main" val="2896773063"/>
                    </a:ext>
                  </a:extLst>
                </a:gridCol>
                <a:gridCol w="489815">
                  <a:extLst>
                    <a:ext uri="{9D8B030D-6E8A-4147-A177-3AD203B41FA5}">
                      <a16:colId xmlns:a16="http://schemas.microsoft.com/office/drawing/2014/main" val="2732947097"/>
                    </a:ext>
                  </a:extLst>
                </a:gridCol>
                <a:gridCol w="489815">
                  <a:extLst>
                    <a:ext uri="{9D8B030D-6E8A-4147-A177-3AD203B41FA5}">
                      <a16:colId xmlns:a16="http://schemas.microsoft.com/office/drawing/2014/main" val="4202103303"/>
                    </a:ext>
                  </a:extLst>
                </a:gridCol>
                <a:gridCol w="493915">
                  <a:extLst>
                    <a:ext uri="{9D8B030D-6E8A-4147-A177-3AD203B41FA5}">
                      <a16:colId xmlns:a16="http://schemas.microsoft.com/office/drawing/2014/main" val="2739286289"/>
                    </a:ext>
                  </a:extLst>
                </a:gridCol>
              </a:tblGrid>
              <a:tr h="538052">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Index</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0</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1</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2</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3</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4</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E4F5"/>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5</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E4F5"/>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E4F5"/>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7</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8</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9</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10</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11</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12</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13</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E4F5"/>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14</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E4F5"/>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15</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E4F5"/>
                    </a:solidFill>
                  </a:tcPr>
                </a:tc>
                <a:extLst>
                  <a:ext uri="{0D108BD9-81ED-4DB2-BD59-A6C34878D82A}">
                    <a16:rowId xmlns:a16="http://schemas.microsoft.com/office/drawing/2014/main" val="1527461307"/>
                  </a:ext>
                </a:extLst>
              </a:tr>
              <a:tr h="538052">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Plantext</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R</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E</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V</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M</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AE2D5"/>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Q</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AE2D5"/>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R</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AE2D5"/>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S</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P</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C</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T</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Y</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X</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M</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AE2D5"/>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Q</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AE2D5"/>
                    </a:solidFill>
                  </a:tcPr>
                </a:tc>
                <a:tc>
                  <a:txBody>
                    <a:bodyPr/>
                    <a:lstStyle/>
                    <a:p>
                      <a:pPr marL="0" marR="0" algn="just">
                        <a:lnSpc>
                          <a:spcPct val="150000"/>
                        </a:lnSpc>
                        <a:spcAft>
                          <a:spcPts val="800"/>
                        </a:spcAft>
                        <a:buNone/>
                      </a:pPr>
                      <a:r>
                        <a:rPr lang="en-US" sz="2000" kern="100">
                          <a:solidFill>
                            <a:schemeClr val="bg1"/>
                          </a:solidFill>
                          <a:effectLst/>
                          <a:latin typeface="+mn-lt"/>
                          <a:ea typeface="Aptos" panose="020B0004020202020204" pitchFamily="34" charset="0"/>
                          <a:cs typeface="Times New Roman" panose="02020603050405020304" pitchFamily="18" charset="0"/>
                        </a:rPr>
                        <a:t>R</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AE2D5"/>
                    </a:solidFill>
                  </a:tcPr>
                </a:tc>
                <a:extLst>
                  <a:ext uri="{0D108BD9-81ED-4DB2-BD59-A6C34878D82A}">
                    <a16:rowId xmlns:a16="http://schemas.microsoft.com/office/drawing/2014/main" val="1442979136"/>
                  </a:ext>
                </a:extLst>
              </a:tr>
            </a:tbl>
          </a:graphicData>
        </a:graphic>
      </p:graphicFrame>
      <p:sp>
        <p:nvSpPr>
          <p:cNvPr id="9" name="TextBox 8">
            <a:extLst>
              <a:ext uri="{FF2B5EF4-FFF2-40B4-BE49-F238E27FC236}">
                <a16:creationId xmlns:a16="http://schemas.microsoft.com/office/drawing/2014/main" id="{172152B3-EF27-EBE9-D605-C9BAA173FDEA}"/>
              </a:ext>
            </a:extLst>
          </p:cNvPr>
          <p:cNvSpPr txBox="1"/>
          <p:nvPr/>
        </p:nvSpPr>
        <p:spPr>
          <a:xfrm>
            <a:off x="1804987" y="4362789"/>
            <a:ext cx="7439025" cy="1114216"/>
          </a:xfrm>
          <a:prstGeom prst="rect">
            <a:avLst/>
          </a:prstGeom>
          <a:noFill/>
        </p:spPr>
        <p:txBody>
          <a:bodyPr wrap="square">
            <a:spAutoFit/>
          </a:bodyPr>
          <a:lstStyle/>
          <a:p>
            <a:pPr marL="342900" marR="0" lvl="0" indent="-342900" algn="just">
              <a:lnSpc>
                <a:spcPct val="150000"/>
              </a:lnSpc>
              <a:spcBef>
                <a:spcPts val="1200"/>
              </a:spcBef>
              <a:buFont typeface="Symbol" panose="05050102010706020507" pitchFamily="18" charset="2"/>
              <a:buChar char=""/>
            </a:pPr>
            <a:r>
              <a:rPr lang="en-US" sz="2000" kern="100">
                <a:effectLst/>
                <a:ea typeface="Aptos" panose="020B0004020202020204" pitchFamily="34" charset="0"/>
                <a:cs typeface="Times New Roman" panose="02020603050405020304" pitchFamily="18" charset="0"/>
              </a:rPr>
              <a:t>Vị trí của “MQR”</a:t>
            </a:r>
            <a:r>
              <a:rPr lang="en-US" sz="2000" kern="100" baseline="-25000">
                <a:effectLst/>
                <a:ea typeface="Aptos" panose="020B0004020202020204" pitchFamily="34" charset="0"/>
                <a:cs typeface="Times New Roman" panose="02020603050405020304" pitchFamily="18" charset="0"/>
              </a:rPr>
              <a:t>1</a:t>
            </a:r>
            <a:r>
              <a:rPr lang="en-US" sz="2000" kern="100" baseline="30000">
                <a:effectLst/>
                <a:ea typeface="Aptos" panose="020B0004020202020204" pitchFamily="34" charset="0"/>
                <a:cs typeface="Times New Roman" panose="02020603050405020304" pitchFamily="18" charset="0"/>
              </a:rPr>
              <a:t> </a:t>
            </a:r>
            <a:r>
              <a:rPr lang="en-US" sz="2000" kern="100">
                <a:effectLst/>
                <a:ea typeface="Aptos" panose="020B0004020202020204" pitchFamily="34" charset="0"/>
                <a:cs typeface="Times New Roman" panose="02020603050405020304" pitchFamily="18" charset="0"/>
              </a:rPr>
              <a:t>xuất hiện lần đầu tiên ở vị trí thứ 4 – 6 </a:t>
            </a:r>
          </a:p>
          <a:p>
            <a:pPr marL="342900" marR="0" lvl="0" indent="-342900" algn="just">
              <a:lnSpc>
                <a:spcPct val="150000"/>
              </a:lnSpc>
              <a:spcBef>
                <a:spcPts val="1200"/>
              </a:spcBef>
              <a:spcAft>
                <a:spcPts val="800"/>
              </a:spcAft>
              <a:buFont typeface="Symbol" panose="05050102010706020507" pitchFamily="18" charset="2"/>
              <a:buChar char=""/>
            </a:pPr>
            <a:r>
              <a:rPr lang="en-US" sz="2000" kern="100">
                <a:effectLst/>
                <a:ea typeface="Aptos" panose="020B0004020202020204" pitchFamily="34" charset="0"/>
                <a:cs typeface="Times New Roman" panose="02020603050405020304" pitchFamily="18" charset="0"/>
              </a:rPr>
              <a:t>Vị trí của “MQR”</a:t>
            </a:r>
            <a:r>
              <a:rPr lang="en-US" sz="2000" kern="100" baseline="-25000">
                <a:effectLst/>
                <a:ea typeface="Aptos" panose="020B0004020202020204" pitchFamily="34" charset="0"/>
                <a:cs typeface="Times New Roman" panose="02020603050405020304" pitchFamily="18" charset="0"/>
              </a:rPr>
              <a:t>2</a:t>
            </a:r>
            <a:r>
              <a:rPr lang="en-US" sz="2000" kern="100" baseline="30000">
                <a:effectLst/>
                <a:ea typeface="Aptos" panose="020B0004020202020204" pitchFamily="34" charset="0"/>
                <a:cs typeface="Times New Roman" panose="02020603050405020304" pitchFamily="18" charset="0"/>
              </a:rPr>
              <a:t> </a:t>
            </a:r>
            <a:r>
              <a:rPr lang="en-US" sz="2000" kern="100">
                <a:effectLst/>
                <a:ea typeface="Aptos" panose="020B0004020202020204" pitchFamily="34" charset="0"/>
                <a:cs typeface="Times New Roman" panose="02020603050405020304" pitchFamily="18" charset="0"/>
              </a:rPr>
              <a:t>xuất hiện lần thứ hai ở vị trí thứ 13 – 15</a:t>
            </a:r>
          </a:p>
        </p:txBody>
      </p:sp>
      <p:sp>
        <p:nvSpPr>
          <p:cNvPr id="12" name="TextBox 11">
            <a:extLst>
              <a:ext uri="{FF2B5EF4-FFF2-40B4-BE49-F238E27FC236}">
                <a16:creationId xmlns:a16="http://schemas.microsoft.com/office/drawing/2014/main" id="{69F59FD6-FC22-0A75-D4D5-73C0C2D589D6}"/>
              </a:ext>
            </a:extLst>
          </p:cNvPr>
          <p:cNvSpPr txBox="1"/>
          <p:nvPr/>
        </p:nvSpPr>
        <p:spPr>
          <a:xfrm>
            <a:off x="838200" y="5618271"/>
            <a:ext cx="10363200" cy="960328"/>
          </a:xfrm>
          <a:prstGeom prst="rect">
            <a:avLst/>
          </a:prstGeom>
          <a:noFill/>
        </p:spPr>
        <p:txBody>
          <a:bodyPr wrap="square">
            <a:spAutoFit/>
          </a:bodyPr>
          <a:lstStyle/>
          <a:p>
            <a:pPr marL="228600" marR="0" algn="just">
              <a:lnSpc>
                <a:spcPct val="150000"/>
              </a:lnSpc>
              <a:spcBef>
                <a:spcPts val="1200"/>
              </a:spcBef>
              <a:spcAft>
                <a:spcPts val="800"/>
              </a:spcAft>
              <a:buNone/>
            </a:pPr>
            <a:r>
              <a:rPr lang="en-US" sz="2000" kern="100">
                <a:effectLst/>
                <a:ea typeface="Aptos" panose="020B0004020202020204" pitchFamily="34" charset="0"/>
                <a:cs typeface="Times New Roman" panose="02020603050405020304" pitchFamily="18" charset="0"/>
              </a:rPr>
              <a:t>Khoảng cách giữa </a:t>
            </a:r>
            <a:r>
              <a:rPr lang="en-US" sz="2000" kern="100">
                <a:ea typeface="Aptos" panose="020B0004020202020204" pitchFamily="34" charset="0"/>
                <a:cs typeface="Times New Roman" panose="02020603050405020304" pitchFamily="18" charset="0"/>
              </a:rPr>
              <a:t>hai đoạn lặp lại </a:t>
            </a:r>
            <a:r>
              <a:rPr lang="en-US" sz="2000" kern="100">
                <a:effectLst/>
                <a:ea typeface="Aptos" panose="020B0004020202020204" pitchFamily="34" charset="0"/>
                <a:cs typeface="Times New Roman" panose="02020603050405020304" pitchFamily="18" charset="0"/>
              </a:rPr>
              <a:t>là </a:t>
            </a:r>
            <a:r>
              <a:rPr lang="en-US" sz="2000" kern="100">
                <a:ea typeface="Aptos" panose="020B0004020202020204" pitchFamily="34" charset="0"/>
                <a:cs typeface="Times New Roman" panose="02020603050405020304" pitchFamily="18" charset="0"/>
              </a:rPr>
              <a:t>13 – 4 = 9</a:t>
            </a:r>
            <a:r>
              <a:rPr lang="en-US" sz="2000" kern="100">
                <a:effectLst/>
                <a:ea typeface="Aptos" panose="020B0004020202020204" pitchFamily="34" charset="0"/>
                <a:cs typeface="Times New Roman" panose="02020603050405020304" pitchFamily="18" charset="0"/>
              </a:rPr>
              <a:t>. Các ước số của 6 bao gồm 1, 3, 9 và độ dài khóa có thể là 1 trong các ước số đó. Trong ví dụ, khóa là “KEY” có độ dài là 3.</a:t>
            </a:r>
          </a:p>
        </p:txBody>
      </p:sp>
    </p:spTree>
    <p:extLst>
      <p:ext uri="{BB962C8B-B14F-4D97-AF65-F5344CB8AC3E}">
        <p14:creationId xmlns:p14="http://schemas.microsoft.com/office/powerpoint/2010/main" val="2573472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D02EF-8869-C346-9C09-B21975A845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1865F6-3B63-7593-B244-42CFA8A25DC7}"/>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2. Phương pháp Kasiski</a:t>
            </a:r>
          </a:p>
        </p:txBody>
      </p:sp>
      <p:sp>
        <p:nvSpPr>
          <p:cNvPr id="4" name="Title 1">
            <a:extLst>
              <a:ext uri="{FF2B5EF4-FFF2-40B4-BE49-F238E27FC236}">
                <a16:creationId xmlns:a16="http://schemas.microsoft.com/office/drawing/2014/main" id="{03611CCD-D7D7-F467-25C4-31DB684E5D38}"/>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2.2 Ưu điểm và hạn chế</a:t>
            </a:r>
          </a:p>
        </p:txBody>
      </p:sp>
      <p:sp>
        <p:nvSpPr>
          <p:cNvPr id="11" name="Content Placeholder 2">
            <a:extLst>
              <a:ext uri="{FF2B5EF4-FFF2-40B4-BE49-F238E27FC236}">
                <a16:creationId xmlns:a16="http://schemas.microsoft.com/office/drawing/2014/main" id="{9D1342B7-4D41-110E-405A-645A211714A9}"/>
              </a:ext>
            </a:extLst>
          </p:cNvPr>
          <p:cNvSpPr>
            <a:spLocks noGrp="1"/>
          </p:cNvSpPr>
          <p:nvPr>
            <p:ph idx="1"/>
          </p:nvPr>
        </p:nvSpPr>
        <p:spPr>
          <a:xfrm>
            <a:off x="838200" y="1744332"/>
            <a:ext cx="10801350" cy="4561218"/>
          </a:xfrm>
        </p:spPr>
        <p:txBody>
          <a:bodyPr>
            <a:normAutofit/>
          </a:bodyPr>
          <a:lstStyle/>
          <a:p>
            <a:pPr marL="0" indent="0" algn="just">
              <a:lnSpc>
                <a:spcPct val="150000"/>
              </a:lnSpc>
              <a:buNone/>
            </a:pPr>
            <a:r>
              <a:rPr lang="vi-VN" sz="2000" b="1">
                <a:latin typeface="Calibri (Body)"/>
                <a:cs typeface="Calibri" panose="020F0502020204030204" pitchFamily="34" charset="0"/>
              </a:rPr>
              <a:t>Một số ưu điểm của phương pháp Kasiski</a:t>
            </a:r>
          </a:p>
          <a:p>
            <a:pPr algn="just">
              <a:lnSpc>
                <a:spcPct val="150000"/>
              </a:lnSpc>
              <a:buFont typeface="Wingdings" panose="05000000000000000000" pitchFamily="2" charset="2"/>
              <a:buChar char="§"/>
            </a:pPr>
            <a:r>
              <a:rPr lang="vi-VN" sz="2000">
                <a:latin typeface="Calibri (Body)"/>
                <a:cs typeface="Calibri" panose="020F0502020204030204" pitchFamily="34" charset="0"/>
              </a:rPr>
              <a:t>Đơn giản và dễ triển khai: chỉ cần dò tìm các đoạn lặp trong bản mã và tính khoảng cách giữa chúng.</a:t>
            </a:r>
          </a:p>
          <a:p>
            <a:pPr algn="just">
              <a:lnSpc>
                <a:spcPct val="150000"/>
              </a:lnSpc>
              <a:buFont typeface="Wingdings" panose="05000000000000000000" pitchFamily="2" charset="2"/>
              <a:buChar char="§"/>
            </a:pPr>
            <a:r>
              <a:rPr lang="vi-VN" sz="2000">
                <a:latin typeface="Calibri (Body)"/>
                <a:cs typeface="Calibri" panose="020F0502020204030204" pitchFamily="34" charset="0"/>
              </a:rPr>
              <a:t>Hiệu quả với bản mã dài: khi bản mã đủ dài và có nhiều mẫu lặp, Kasiski thường nhanh chóng trả về ứng viên độ dài khóa chính xác.</a:t>
            </a:r>
          </a:p>
          <a:p>
            <a:pPr algn="just">
              <a:lnSpc>
                <a:spcPct val="150000"/>
              </a:lnSpc>
              <a:buFont typeface="Wingdings" panose="05000000000000000000" pitchFamily="2" charset="2"/>
              <a:buChar char="§"/>
            </a:pPr>
            <a:r>
              <a:rPr lang="vi-VN" sz="2000">
                <a:latin typeface="Calibri (Body)"/>
                <a:cs typeface="Calibri" panose="020F0502020204030204" pitchFamily="34" charset="0"/>
              </a:rPr>
              <a:t>Thu hẹp không gian tìm kiếm: thay vì thử mọi độ dài, ta chỉ cần thử các ước của GCD thu được, tiết kiệm thời gian và tài nguyên cho bước phân tích tần suất.</a:t>
            </a:r>
          </a:p>
          <a:p>
            <a:pPr algn="just">
              <a:lnSpc>
                <a:spcPct val="150000"/>
              </a:lnSpc>
              <a:buFont typeface="Wingdings" panose="05000000000000000000" pitchFamily="2" charset="2"/>
              <a:buChar char="§"/>
            </a:pPr>
            <a:r>
              <a:rPr lang="vi-VN" sz="2000">
                <a:latin typeface="Calibri (Body)"/>
                <a:cs typeface="Calibri" panose="020F0502020204030204" pitchFamily="34" charset="0"/>
              </a:rPr>
              <a:t>Làm tiền đề cho các bước tiếp theo: xác định k cho phép tách bản mã thành các cột tương ứng, từ đó áp dụng “Caesar-crack” cho từng cột để tìm khóa.</a:t>
            </a:r>
          </a:p>
        </p:txBody>
      </p:sp>
    </p:spTree>
    <p:extLst>
      <p:ext uri="{BB962C8B-B14F-4D97-AF65-F5344CB8AC3E}">
        <p14:creationId xmlns:p14="http://schemas.microsoft.com/office/powerpoint/2010/main" val="2627067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71CF4-9E54-1D38-66B0-1C08C8AE28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3A1894-2EFE-A276-8C0F-BE925D086894}"/>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2. Phương pháp Kasiski</a:t>
            </a:r>
          </a:p>
        </p:txBody>
      </p:sp>
      <p:sp>
        <p:nvSpPr>
          <p:cNvPr id="4" name="Title 1">
            <a:extLst>
              <a:ext uri="{FF2B5EF4-FFF2-40B4-BE49-F238E27FC236}">
                <a16:creationId xmlns:a16="http://schemas.microsoft.com/office/drawing/2014/main" id="{07CA175B-A02D-CC33-051F-61CB91035260}"/>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2.3 Ưu điểm và hạn chế</a:t>
            </a:r>
          </a:p>
        </p:txBody>
      </p:sp>
      <p:sp>
        <p:nvSpPr>
          <p:cNvPr id="11" name="Content Placeholder 2">
            <a:extLst>
              <a:ext uri="{FF2B5EF4-FFF2-40B4-BE49-F238E27FC236}">
                <a16:creationId xmlns:a16="http://schemas.microsoft.com/office/drawing/2014/main" id="{E53B1659-89FD-40E8-543E-B767CF2719E1}"/>
              </a:ext>
            </a:extLst>
          </p:cNvPr>
          <p:cNvSpPr>
            <a:spLocks noGrp="1"/>
          </p:cNvSpPr>
          <p:nvPr>
            <p:ph idx="1"/>
          </p:nvPr>
        </p:nvSpPr>
        <p:spPr>
          <a:xfrm>
            <a:off x="838200" y="1744332"/>
            <a:ext cx="10801350" cy="4561218"/>
          </a:xfrm>
        </p:spPr>
        <p:txBody>
          <a:bodyPr>
            <a:normAutofit/>
          </a:bodyPr>
          <a:lstStyle/>
          <a:p>
            <a:pPr marL="228600" marR="0">
              <a:lnSpc>
                <a:spcPct val="150000"/>
              </a:lnSpc>
              <a:spcAft>
                <a:spcPts val="800"/>
              </a:spcAft>
              <a:buNone/>
            </a:pPr>
            <a:r>
              <a:rPr lang="en-US" sz="2000" b="1" kern="100">
                <a:effectLst/>
                <a:latin typeface="Calibri "/>
                <a:ea typeface="Aptos" panose="020B0004020202020204" pitchFamily="34" charset="0"/>
                <a:cs typeface="Times New Roman" panose="02020603050405020304" pitchFamily="18" charset="0"/>
              </a:rPr>
              <a:t>Một số nhược điểm và hạn chế</a:t>
            </a:r>
          </a:p>
          <a:p>
            <a:pPr marR="0" lvl="0">
              <a:lnSpc>
                <a:spcPct val="150000"/>
              </a:lnSpc>
              <a:buFont typeface="Wingdings" panose="05000000000000000000" pitchFamily="2" charset="2"/>
              <a:buChar char="§"/>
            </a:pPr>
            <a:r>
              <a:rPr lang="en-US" sz="2000" kern="100">
                <a:effectLst/>
                <a:latin typeface="Calibri "/>
                <a:ea typeface="Aptos" panose="020B0004020202020204" pitchFamily="34" charset="0"/>
                <a:cs typeface="Times New Roman" panose="02020603050405020304" pitchFamily="18" charset="0"/>
              </a:rPr>
              <a:t>Phụ thuộc vào độ dài và cấu trúc bản rõ: nếu bản mã ngắn hoặc bản rõ ít lặp, Kasiski dễ thất bại.</a:t>
            </a:r>
          </a:p>
          <a:p>
            <a:pPr marR="0" lvl="0">
              <a:lnSpc>
                <a:spcPct val="150000"/>
              </a:lnSpc>
              <a:buFont typeface="Wingdings" panose="05000000000000000000" pitchFamily="2" charset="2"/>
              <a:buChar char="§"/>
            </a:pPr>
            <a:r>
              <a:rPr lang="en-US" sz="2000" kern="100">
                <a:effectLst/>
                <a:latin typeface="Calibri "/>
                <a:ea typeface="Aptos" panose="020B0004020202020204" pitchFamily="34" charset="0"/>
                <a:cs typeface="Times New Roman" panose="02020603050405020304" pitchFamily="18" charset="0"/>
              </a:rPr>
              <a:t>Nhạy cảm với ký tự nhiễu: khoảng trắng, dấu câu hoặc các kí tự khác có thể làm sai vị trí và dẫn đến ước chung không chính xác. </a:t>
            </a:r>
          </a:p>
          <a:p>
            <a:pPr marR="0" lvl="0">
              <a:lnSpc>
                <a:spcPct val="150000"/>
              </a:lnSpc>
              <a:buFont typeface="Wingdings" panose="05000000000000000000" pitchFamily="2" charset="2"/>
              <a:buChar char="§"/>
            </a:pPr>
            <a:r>
              <a:rPr lang="en-US" sz="2000" kern="100">
                <a:effectLst/>
                <a:latin typeface="Calibri "/>
                <a:ea typeface="Aptos" panose="020B0004020202020204" pitchFamily="34" charset="0"/>
                <a:cs typeface="Times New Roman" panose="02020603050405020304" pitchFamily="18" charset="0"/>
              </a:rPr>
              <a:t>Không trả về khóa trực tiếp: Kasiski chỉ ước lượng độ dài khóa nên vẫn cần phân tích tần suất hoặc thử các ứng viên để tìm khóa thực.</a:t>
            </a:r>
          </a:p>
          <a:p>
            <a:pPr marR="0" lvl="0">
              <a:lnSpc>
                <a:spcPct val="150000"/>
              </a:lnSpc>
              <a:spcAft>
                <a:spcPts val="800"/>
              </a:spcAft>
              <a:buFont typeface="Wingdings" panose="05000000000000000000" pitchFamily="2" charset="2"/>
              <a:buChar char="§"/>
            </a:pPr>
            <a:r>
              <a:rPr lang="en-US" sz="2000" kern="100">
                <a:effectLst/>
                <a:latin typeface="Calibri "/>
                <a:ea typeface="Aptos" panose="020B0004020202020204" pitchFamily="34" charset="0"/>
                <a:cs typeface="Times New Roman" panose="02020603050405020304" pitchFamily="18" charset="0"/>
              </a:rPr>
              <a:t>Có thể cho nhiều khóa ứng viên: GCD đôi khi trả về nhiều ước khả dĩ (hoặc 1), nên cần kết hợp thêm phương pháp để kiểm chứng.</a:t>
            </a:r>
          </a:p>
        </p:txBody>
      </p:sp>
    </p:spTree>
    <p:extLst>
      <p:ext uri="{BB962C8B-B14F-4D97-AF65-F5344CB8AC3E}">
        <p14:creationId xmlns:p14="http://schemas.microsoft.com/office/powerpoint/2010/main" val="23184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EA600-CF81-B16A-C8A0-FC900EDC95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445B17-5A2E-CA60-4EBE-EC97A5D44214}"/>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3. Kỹ thuật phân tích tần suất	</a:t>
            </a:r>
          </a:p>
        </p:txBody>
      </p:sp>
      <p:sp>
        <p:nvSpPr>
          <p:cNvPr id="3" name="Content Placeholder 2">
            <a:extLst>
              <a:ext uri="{FF2B5EF4-FFF2-40B4-BE49-F238E27FC236}">
                <a16:creationId xmlns:a16="http://schemas.microsoft.com/office/drawing/2014/main" id="{0C9F26AF-0C94-7AA5-BDA5-E88D43F8165E}"/>
              </a:ext>
            </a:extLst>
          </p:cNvPr>
          <p:cNvSpPr>
            <a:spLocks noGrp="1"/>
          </p:cNvSpPr>
          <p:nvPr>
            <p:ph idx="1"/>
          </p:nvPr>
        </p:nvSpPr>
        <p:spPr>
          <a:xfrm>
            <a:off x="923925" y="1789597"/>
            <a:ext cx="10344150" cy="3823551"/>
          </a:xfrm>
        </p:spPr>
        <p:txBody>
          <a:bodyPr>
            <a:normAutofit fontScale="77500" lnSpcReduction="20000"/>
          </a:bodyPr>
          <a:lstStyle/>
          <a:p>
            <a:pPr marL="0" indent="0" algn="just">
              <a:lnSpc>
                <a:spcPct val="150000"/>
              </a:lnSpc>
              <a:buNone/>
            </a:pPr>
            <a:r>
              <a:rPr lang="en-US" b="1">
                <a:solidFill>
                  <a:srgbClr val="FFFF00"/>
                </a:solidFill>
              </a:rPr>
              <a:t>Phân tích tần suất (Frequency Analysis) </a:t>
            </a:r>
            <a:r>
              <a:rPr lang="en-US"/>
              <a:t>là kỹ thuật cổ điển và nền tảng trong mật mã học, tận dụng sự bất đối xứng trong phân bố chữ cái của ngôn ngữ tự nhiên để suy luận thông tin. </a:t>
            </a:r>
          </a:p>
          <a:p>
            <a:pPr marL="0" indent="0" algn="just">
              <a:lnSpc>
                <a:spcPct val="150000"/>
              </a:lnSpc>
              <a:buNone/>
            </a:pPr>
            <a:r>
              <a:rPr lang="en-US"/>
              <a:t>Khi đã biết (hoặc ước lượng) độ dài khóa là 𝑚 của mật mã Vigenère, ta có thể phân tách bản mã thành m chuỗi con độc lập, mỗi chuỗi tương ứng với một vị trí cố định trong khóa. Mỗi chuỗi con này về bản chất là kết quả của một Caesar cipher, nên có thể bị phá bằng các phương pháp phân tích tần suất riêng rẽ, từ đó suy ra từng ký tự của khóa và khôi phục bản rõ.</a:t>
            </a:r>
          </a:p>
          <a:p>
            <a:pPr marL="0" indent="0" algn="just">
              <a:lnSpc>
                <a:spcPct val="150000"/>
              </a:lnSpc>
              <a:buNone/>
            </a:pPr>
            <a:endParaRPr lang="en-US" sz="2000">
              <a:latin typeface="Calibri (Body)"/>
            </a:endParaRPr>
          </a:p>
        </p:txBody>
      </p:sp>
      <p:sp>
        <p:nvSpPr>
          <p:cNvPr id="4" name="Title 1">
            <a:extLst>
              <a:ext uri="{FF2B5EF4-FFF2-40B4-BE49-F238E27FC236}">
                <a16:creationId xmlns:a16="http://schemas.microsoft.com/office/drawing/2014/main" id="{9A801E58-7B71-B80D-80CB-A66AFE828551}"/>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3.1 Giới thiệu</a:t>
            </a:r>
          </a:p>
        </p:txBody>
      </p:sp>
      <p:sp>
        <p:nvSpPr>
          <p:cNvPr id="7" name="Content Placeholder 2">
            <a:extLst>
              <a:ext uri="{FF2B5EF4-FFF2-40B4-BE49-F238E27FC236}">
                <a16:creationId xmlns:a16="http://schemas.microsoft.com/office/drawing/2014/main" id="{A02FC9D6-0A52-A83C-91A3-DAF736BC1547}"/>
              </a:ext>
            </a:extLst>
          </p:cNvPr>
          <p:cNvSpPr txBox="1">
            <a:spLocks/>
          </p:cNvSpPr>
          <p:nvPr/>
        </p:nvSpPr>
        <p:spPr>
          <a:xfrm>
            <a:off x="923924" y="2858733"/>
            <a:ext cx="10429875" cy="24466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228600">
              <a:lnSpc>
                <a:spcPct val="150000"/>
              </a:lnSpc>
              <a:buNone/>
              <a:tabLst>
                <a:tab pos="228600" algn="l"/>
              </a:tabLst>
            </a:pPr>
            <a:endParaRPr lang="en-US" sz="2000">
              <a:latin typeface="Calibri (Body)"/>
            </a:endParaRPr>
          </a:p>
        </p:txBody>
      </p:sp>
    </p:spTree>
    <p:extLst>
      <p:ext uri="{BB962C8B-B14F-4D97-AF65-F5344CB8AC3E}">
        <p14:creationId xmlns:p14="http://schemas.microsoft.com/office/powerpoint/2010/main" val="2082353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E61E0-CB55-35B8-1AE0-43424BE9CC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F112A9-3845-405E-2ACD-DAEB4C840E6C}"/>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3. Kỹ thuật phân tích tần suất	</a:t>
            </a:r>
          </a:p>
        </p:txBody>
      </p:sp>
      <p:sp>
        <p:nvSpPr>
          <p:cNvPr id="3" name="Content Placeholder 2">
            <a:extLst>
              <a:ext uri="{FF2B5EF4-FFF2-40B4-BE49-F238E27FC236}">
                <a16:creationId xmlns:a16="http://schemas.microsoft.com/office/drawing/2014/main" id="{3DE05CEB-A0CE-9BB2-32F8-8BAB54214756}"/>
              </a:ext>
            </a:extLst>
          </p:cNvPr>
          <p:cNvSpPr>
            <a:spLocks noGrp="1"/>
          </p:cNvSpPr>
          <p:nvPr>
            <p:ph idx="1"/>
          </p:nvPr>
        </p:nvSpPr>
        <p:spPr>
          <a:xfrm>
            <a:off x="923924" y="1789597"/>
            <a:ext cx="6092511" cy="3823551"/>
          </a:xfrm>
        </p:spPr>
        <p:txBody>
          <a:bodyPr>
            <a:noAutofit/>
          </a:bodyPr>
          <a:lstStyle/>
          <a:p>
            <a:pPr marL="0" indent="0" algn="just">
              <a:lnSpc>
                <a:spcPct val="150000"/>
              </a:lnSpc>
              <a:buNone/>
            </a:pPr>
            <a:r>
              <a:rPr lang="vi-VN" sz="2000">
                <a:latin typeface="Calibri" panose="020F0502020204030204" pitchFamily="34" charset="0"/>
                <a:cs typeface="Calibri" panose="020F0502020204030204" pitchFamily="34" charset="0"/>
              </a:rPr>
              <a:t>Trong các ngôn ngữ tự nhiên (chẳng hạn tiếng Anh), các chữ cái không xuất hiện với tần suất như nhau. </a:t>
            </a:r>
            <a:endParaRPr lang="en-US" sz="2000">
              <a:latin typeface="Calibri" panose="020F0502020204030204" pitchFamily="34" charset="0"/>
              <a:cs typeface="Calibri" panose="020F0502020204030204" pitchFamily="34" charset="0"/>
            </a:endParaRPr>
          </a:p>
          <a:p>
            <a:pPr marL="0" indent="0" algn="just">
              <a:lnSpc>
                <a:spcPct val="150000"/>
              </a:lnSpc>
              <a:buNone/>
            </a:pPr>
            <a:r>
              <a:rPr lang="vi-VN" sz="2000">
                <a:latin typeface="Calibri" panose="020F0502020204030204" pitchFamily="34" charset="0"/>
                <a:cs typeface="Calibri" panose="020F0502020204030204" pitchFamily="34" charset="0"/>
              </a:rPr>
              <a:t>Một số ký tự xuất hiện thường xuyên hơn hẳn so với phần còn lại, chẳng hạn trong tiếng Anh, các chữ cái E, T, A, O, I, N là những ký tự phổ biến nhất, chiếm tỷ lệ lớn trong hầu hết mọi văn bản. </a:t>
            </a:r>
            <a:endParaRPr lang="en-US" sz="2000">
              <a:latin typeface="Calibri" panose="020F0502020204030204" pitchFamily="34" charset="0"/>
              <a:cs typeface="Calibri" panose="020F0502020204030204" pitchFamily="34" charset="0"/>
            </a:endParaRPr>
          </a:p>
          <a:p>
            <a:pPr marL="0" indent="0" algn="just">
              <a:lnSpc>
                <a:spcPct val="150000"/>
              </a:lnSpc>
              <a:buNone/>
            </a:pPr>
            <a:r>
              <a:rPr lang="en-US" sz="2000">
                <a:latin typeface="Calibri" panose="020F0502020204030204" pitchFamily="34" charset="0"/>
                <a:cs typeface="Calibri" panose="020F0502020204030204" pitchFamily="34" charset="0"/>
              </a:rPr>
              <a:t>C</a:t>
            </a:r>
            <a:r>
              <a:rPr lang="vi-VN" sz="2000">
                <a:latin typeface="Calibri" panose="020F0502020204030204" pitchFamily="34" charset="0"/>
                <a:cs typeface="Calibri" panose="020F0502020204030204" pitchFamily="34" charset="0"/>
              </a:rPr>
              <a:t>ác nhà phân tích lợi dụng tần suất này để giải mã các hệ mật cổ điển như Caesar hay Vigenère.</a:t>
            </a:r>
            <a:endParaRPr lang="en-US" sz="2000">
              <a:latin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1E14320D-410E-F17F-454D-A15A22AB20ED}"/>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3.2 Cơ sở lý thuyết và triển khai</a:t>
            </a:r>
          </a:p>
        </p:txBody>
      </p:sp>
      <p:sp>
        <p:nvSpPr>
          <p:cNvPr id="7" name="Content Placeholder 2">
            <a:extLst>
              <a:ext uri="{FF2B5EF4-FFF2-40B4-BE49-F238E27FC236}">
                <a16:creationId xmlns:a16="http://schemas.microsoft.com/office/drawing/2014/main" id="{42B78943-228F-D08E-B4E3-880227B4B1B3}"/>
              </a:ext>
            </a:extLst>
          </p:cNvPr>
          <p:cNvSpPr txBox="1">
            <a:spLocks/>
          </p:cNvSpPr>
          <p:nvPr/>
        </p:nvSpPr>
        <p:spPr>
          <a:xfrm>
            <a:off x="923924" y="2858733"/>
            <a:ext cx="10429875" cy="24466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228600">
              <a:lnSpc>
                <a:spcPct val="150000"/>
              </a:lnSpc>
              <a:buNone/>
              <a:tabLst>
                <a:tab pos="228600" algn="l"/>
              </a:tabLst>
            </a:pPr>
            <a:endParaRPr lang="en-US" sz="2000">
              <a:latin typeface="Calibri (Body)"/>
            </a:endParaRPr>
          </a:p>
        </p:txBody>
      </p:sp>
      <p:pic>
        <p:nvPicPr>
          <p:cNvPr id="5" name="Picture 4" descr="Images">
            <a:extLst>
              <a:ext uri="{FF2B5EF4-FFF2-40B4-BE49-F238E27FC236}">
                <a16:creationId xmlns:a16="http://schemas.microsoft.com/office/drawing/2014/main" id="{6142E275-8DCE-5960-242B-4D05A1B3B9E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14789" y="1789597"/>
            <a:ext cx="4533768" cy="3868114"/>
          </a:xfrm>
          <a:prstGeom prst="rect">
            <a:avLst/>
          </a:prstGeom>
          <a:noFill/>
          <a:ln>
            <a:noFill/>
          </a:ln>
        </p:spPr>
      </p:pic>
      <p:sp>
        <p:nvSpPr>
          <p:cNvPr id="6" name="TextBox 5">
            <a:extLst>
              <a:ext uri="{FF2B5EF4-FFF2-40B4-BE49-F238E27FC236}">
                <a16:creationId xmlns:a16="http://schemas.microsoft.com/office/drawing/2014/main" id="{114C8090-F316-9A33-7FEC-207C6DADC57F}"/>
              </a:ext>
            </a:extLst>
          </p:cNvPr>
          <p:cNvSpPr txBox="1"/>
          <p:nvPr/>
        </p:nvSpPr>
        <p:spPr>
          <a:xfrm>
            <a:off x="7882982" y="5754142"/>
            <a:ext cx="3907352" cy="323165"/>
          </a:xfrm>
          <a:prstGeom prst="rect">
            <a:avLst/>
          </a:prstGeom>
          <a:noFill/>
        </p:spPr>
        <p:txBody>
          <a:bodyPr wrap="none" rtlCol="0">
            <a:spAutoFit/>
          </a:bodyPr>
          <a:lstStyle/>
          <a:p>
            <a:r>
              <a:rPr lang="en-US" sz="1500"/>
              <a:t>Tần suất xuất hiện của các ký tự trong tiếng Anh</a:t>
            </a:r>
          </a:p>
        </p:txBody>
      </p:sp>
    </p:spTree>
    <p:extLst>
      <p:ext uri="{BB962C8B-B14F-4D97-AF65-F5344CB8AC3E}">
        <p14:creationId xmlns:p14="http://schemas.microsoft.com/office/powerpoint/2010/main" val="3432997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8D7DC-416C-46D7-0970-95D1D0F33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1DA413-1BF7-08B0-E8E1-6319740B4483}"/>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3. Kỹ thuật phân tích tần suất	</a:t>
            </a:r>
          </a:p>
        </p:txBody>
      </p:sp>
      <p:sp>
        <p:nvSpPr>
          <p:cNvPr id="3" name="Content Placeholder 2">
            <a:extLst>
              <a:ext uri="{FF2B5EF4-FFF2-40B4-BE49-F238E27FC236}">
                <a16:creationId xmlns:a16="http://schemas.microsoft.com/office/drawing/2014/main" id="{32E04B4B-5ECD-0231-1BAC-91A85A442741}"/>
              </a:ext>
            </a:extLst>
          </p:cNvPr>
          <p:cNvSpPr>
            <a:spLocks noGrp="1"/>
          </p:cNvSpPr>
          <p:nvPr>
            <p:ph idx="1"/>
          </p:nvPr>
        </p:nvSpPr>
        <p:spPr>
          <a:xfrm>
            <a:off x="923924" y="1789598"/>
            <a:ext cx="10429875" cy="1069136"/>
          </a:xfrm>
        </p:spPr>
        <p:txBody>
          <a:bodyPr>
            <a:noAutofit/>
          </a:bodyPr>
          <a:lstStyle/>
          <a:p>
            <a:pPr marL="0" indent="0" algn="just">
              <a:lnSpc>
                <a:spcPct val="150000"/>
              </a:lnSpc>
              <a:buNone/>
            </a:pPr>
            <a:r>
              <a:rPr lang="en-US" sz="2000">
                <a:latin typeface="Calibri" panose="020F0502020204030204" pitchFamily="34" charset="0"/>
                <a:cs typeface="Calibri" panose="020F0502020204030204" pitchFamily="34" charset="0"/>
              </a:rPr>
              <a:t>Dựa trên cơ sở đó, các nhà phân tích đã triển khai phương pháp phân tích tần suất đối với mã hóa Vigenère như sau:</a:t>
            </a:r>
          </a:p>
        </p:txBody>
      </p:sp>
      <p:sp>
        <p:nvSpPr>
          <p:cNvPr id="4" name="Title 1">
            <a:extLst>
              <a:ext uri="{FF2B5EF4-FFF2-40B4-BE49-F238E27FC236}">
                <a16:creationId xmlns:a16="http://schemas.microsoft.com/office/drawing/2014/main" id="{D50D307A-F848-BBCC-E66E-E50FBF13C7FF}"/>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3.2 Cơ sở lý thuyết và triển khai</a:t>
            </a:r>
          </a:p>
        </p:txBody>
      </p:sp>
      <p:sp>
        <p:nvSpPr>
          <p:cNvPr id="7" name="Content Placeholder 2">
            <a:extLst>
              <a:ext uri="{FF2B5EF4-FFF2-40B4-BE49-F238E27FC236}">
                <a16:creationId xmlns:a16="http://schemas.microsoft.com/office/drawing/2014/main" id="{ED4AC9C3-B0F8-9A8E-954D-684C7ED42691}"/>
              </a:ext>
            </a:extLst>
          </p:cNvPr>
          <p:cNvSpPr txBox="1">
            <a:spLocks/>
          </p:cNvSpPr>
          <p:nvPr/>
        </p:nvSpPr>
        <p:spPr>
          <a:xfrm>
            <a:off x="923924" y="2858733"/>
            <a:ext cx="10429875" cy="24466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228600">
              <a:lnSpc>
                <a:spcPct val="150000"/>
              </a:lnSpc>
              <a:buNone/>
              <a:tabLst>
                <a:tab pos="228600" algn="l"/>
              </a:tabLst>
            </a:pPr>
            <a:endParaRPr lang="en-US" sz="2000">
              <a:latin typeface="Calibri (Body)"/>
            </a:endParaRPr>
          </a:p>
        </p:txBody>
      </p:sp>
      <p:sp>
        <p:nvSpPr>
          <p:cNvPr id="8" name="Content Placeholder 2">
            <a:extLst>
              <a:ext uri="{FF2B5EF4-FFF2-40B4-BE49-F238E27FC236}">
                <a16:creationId xmlns:a16="http://schemas.microsoft.com/office/drawing/2014/main" id="{D636A53F-D161-A74A-62CA-E9BB8C06155A}"/>
              </a:ext>
            </a:extLst>
          </p:cNvPr>
          <p:cNvSpPr txBox="1">
            <a:spLocks/>
          </p:cNvSpPr>
          <p:nvPr/>
        </p:nvSpPr>
        <p:spPr>
          <a:xfrm>
            <a:off x="2453489" y="2894432"/>
            <a:ext cx="8900310" cy="1069136"/>
          </a:xfrm>
          <a:prstGeom prst="rect">
            <a:avLst/>
          </a:prstGeom>
          <a:ln w="19050">
            <a:solidFill>
              <a:srgbClr val="FFC000"/>
            </a:solidFill>
          </a:ln>
        </p:spPr>
        <p:style>
          <a:lnRef idx="2">
            <a:schemeClr val="dk1">
              <a:shade val="15000"/>
            </a:schemeClr>
          </a:lnRef>
          <a:fillRef idx="1">
            <a:schemeClr val="dk1"/>
          </a:fillRef>
          <a:effectRef idx="0">
            <a:schemeClr val="dk1"/>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vi-VN" sz="2000">
                <a:latin typeface="Calibri" panose="020F0502020204030204" pitchFamily="34" charset="0"/>
                <a:cs typeface="Calibri" panose="020F0502020204030204" pitchFamily="34" charset="0"/>
              </a:rPr>
              <a:t>Sau khi ước lượng được độ dài khóa</a:t>
            </a:r>
            <a:r>
              <a:rPr lang="en-US" sz="2000">
                <a:latin typeface="Calibri" panose="020F0502020204030204" pitchFamily="34" charset="0"/>
                <a:cs typeface="Calibri" panose="020F0502020204030204" pitchFamily="34" charset="0"/>
              </a:rPr>
              <a:t> (bằng kasiski)</a:t>
            </a:r>
            <a:r>
              <a:rPr lang="vi-VN" sz="2000">
                <a:latin typeface="Calibri" panose="020F0502020204030204" pitchFamily="34" charset="0"/>
                <a:cs typeface="Calibri" panose="020F0502020204030204" pitchFamily="34" charset="0"/>
              </a:rPr>
              <a:t>, bản mã chia thành nhiều chuỗi bản mã con tương ứng với vị trí trong khóa.</a:t>
            </a:r>
            <a:r>
              <a:rPr lang="en-US" sz="2000">
                <a:latin typeface="Calibri" panose="020F0502020204030204" pitchFamily="34" charset="0"/>
                <a:cs typeface="Calibri" panose="020F0502020204030204" pitchFamily="34" charset="0"/>
              </a:rPr>
              <a:t> (các nhóm ký tự khóa)</a:t>
            </a:r>
          </a:p>
        </p:txBody>
      </p:sp>
      <p:sp>
        <p:nvSpPr>
          <p:cNvPr id="5" name="Content Placeholder 2">
            <a:extLst>
              <a:ext uri="{FF2B5EF4-FFF2-40B4-BE49-F238E27FC236}">
                <a16:creationId xmlns:a16="http://schemas.microsoft.com/office/drawing/2014/main" id="{95051CAA-BA37-7F17-1CA5-BFFE6A63A74D}"/>
              </a:ext>
            </a:extLst>
          </p:cNvPr>
          <p:cNvSpPr txBox="1">
            <a:spLocks/>
          </p:cNvSpPr>
          <p:nvPr/>
        </p:nvSpPr>
        <p:spPr>
          <a:xfrm>
            <a:off x="2453489" y="4155941"/>
            <a:ext cx="8900310" cy="1069136"/>
          </a:xfrm>
          <a:prstGeom prst="rect">
            <a:avLst/>
          </a:prstGeom>
          <a:ln w="19050">
            <a:solidFill>
              <a:srgbClr val="FFC000"/>
            </a:solidFill>
          </a:ln>
        </p:spPr>
        <p:style>
          <a:lnRef idx="2">
            <a:schemeClr val="dk1">
              <a:shade val="15000"/>
            </a:schemeClr>
          </a:lnRef>
          <a:fillRef idx="1">
            <a:schemeClr val="dk1"/>
          </a:fillRef>
          <a:effectRef idx="0">
            <a:schemeClr val="dk1"/>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sz="2000">
                <a:latin typeface="Calibri "/>
                <a:ea typeface="Tahoma" panose="020B0604030504040204" pitchFamily="34" charset="0"/>
                <a:cs typeface="Tahoma" panose="020B0604030504040204" pitchFamily="34" charset="0"/>
              </a:rPr>
              <a:t>Mỗi nhóm ký tự khóa là một mã hóa caesars. Tiến hành phân tích tần suất (sử dụng Chi bình phương, IC) từ đó tái tạo lại khóa tiềm năng và giải mã.</a:t>
            </a:r>
          </a:p>
        </p:txBody>
      </p:sp>
      <p:sp>
        <p:nvSpPr>
          <p:cNvPr id="6" name="Content Placeholder 2">
            <a:extLst>
              <a:ext uri="{FF2B5EF4-FFF2-40B4-BE49-F238E27FC236}">
                <a16:creationId xmlns:a16="http://schemas.microsoft.com/office/drawing/2014/main" id="{3EE72ECC-001C-D357-F68B-4C5C49DD2F55}"/>
              </a:ext>
            </a:extLst>
          </p:cNvPr>
          <p:cNvSpPr txBox="1">
            <a:spLocks/>
          </p:cNvSpPr>
          <p:nvPr/>
        </p:nvSpPr>
        <p:spPr>
          <a:xfrm>
            <a:off x="2453489" y="5423738"/>
            <a:ext cx="8900310" cy="1069136"/>
          </a:xfrm>
          <a:prstGeom prst="rect">
            <a:avLst/>
          </a:prstGeom>
          <a:ln w="19050">
            <a:solidFill>
              <a:srgbClr val="FFC000"/>
            </a:solidFill>
          </a:ln>
        </p:spPr>
        <p:style>
          <a:lnRef idx="2">
            <a:schemeClr val="dk1">
              <a:shade val="15000"/>
            </a:schemeClr>
          </a:lnRef>
          <a:fillRef idx="1">
            <a:schemeClr val="dk1"/>
          </a:fillRef>
          <a:effectRef idx="0">
            <a:schemeClr val="dk1"/>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sz="2000">
                <a:latin typeface="Calibri "/>
                <a:ea typeface="Tahoma" panose="020B0604030504040204" pitchFamily="34" charset="0"/>
                <a:cs typeface="Tahoma" panose="020B0604030504040204" pitchFamily="34" charset="0"/>
              </a:rPr>
              <a:t>Sau khi giải mã thử các khóa, tổng hợp lại các bản rõ con từ đó cho ra kết quả cuối cùng. (Sử dụng danh sách các từ xuất hiện nhiều nhất)</a:t>
            </a:r>
          </a:p>
        </p:txBody>
      </p:sp>
    </p:spTree>
    <p:extLst>
      <p:ext uri="{BB962C8B-B14F-4D97-AF65-F5344CB8AC3E}">
        <p14:creationId xmlns:p14="http://schemas.microsoft.com/office/powerpoint/2010/main" val="2707959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A7DC7-F87A-4BD2-2A42-4FBAC8FDF7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A1F675-6D97-C7D6-86E2-CE0F931B5496}"/>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3. Kỹ thuật phân tích tần suất	</a:t>
            </a:r>
          </a:p>
        </p:txBody>
      </p:sp>
      <p:sp>
        <p:nvSpPr>
          <p:cNvPr id="3" name="Content Placeholder 2">
            <a:extLst>
              <a:ext uri="{FF2B5EF4-FFF2-40B4-BE49-F238E27FC236}">
                <a16:creationId xmlns:a16="http://schemas.microsoft.com/office/drawing/2014/main" id="{077449DC-7F9C-4B32-29E9-1AD9DCD6BD8F}"/>
              </a:ext>
            </a:extLst>
          </p:cNvPr>
          <p:cNvSpPr>
            <a:spLocks noGrp="1"/>
          </p:cNvSpPr>
          <p:nvPr>
            <p:ph idx="1"/>
          </p:nvPr>
        </p:nvSpPr>
        <p:spPr>
          <a:xfrm>
            <a:off x="923925" y="1789598"/>
            <a:ext cx="6124576" cy="4045362"/>
          </a:xfrm>
        </p:spPr>
        <p:txBody>
          <a:bodyPr>
            <a:noAutofit/>
          </a:bodyPr>
          <a:lstStyle/>
          <a:p>
            <a:pPr marL="0" indent="0" algn="just">
              <a:lnSpc>
                <a:spcPct val="150000"/>
              </a:lnSpc>
              <a:buNone/>
            </a:pPr>
            <a:r>
              <a:rPr lang="vi-VN" sz="2000">
                <a:solidFill>
                  <a:srgbClr val="FFFF00"/>
                </a:solidFill>
                <a:latin typeface="Calibri" panose="020F0502020204030204" pitchFamily="34" charset="0"/>
                <a:cs typeface="Calibri" panose="020F0502020204030204" pitchFamily="34" charset="0"/>
              </a:rPr>
              <a:t>Kiểm định Chi-bình phương (Chi-squared Test) </a:t>
            </a:r>
            <a:r>
              <a:rPr lang="vi-VN" sz="2000">
                <a:latin typeface="Calibri" panose="020F0502020204030204" pitchFamily="34" charset="0"/>
                <a:cs typeface="Calibri" panose="020F0502020204030204" pitchFamily="34" charset="0"/>
              </a:rPr>
              <a:t>là một kỹ thuật bổ trợ quan trọng trong phân tích tần suất. </a:t>
            </a:r>
            <a:endParaRPr lang="en-US" sz="2000">
              <a:latin typeface="Calibri" panose="020F0502020204030204" pitchFamily="34" charset="0"/>
              <a:cs typeface="Calibri" panose="020F0502020204030204" pitchFamily="34" charset="0"/>
            </a:endParaRPr>
          </a:p>
          <a:p>
            <a:pPr marL="0" indent="0" algn="just">
              <a:lnSpc>
                <a:spcPct val="150000"/>
              </a:lnSpc>
              <a:buNone/>
            </a:pPr>
            <a:r>
              <a:rPr lang="vi-VN" sz="2000">
                <a:latin typeface="Calibri" panose="020F0502020204030204" pitchFamily="34" charset="0"/>
                <a:cs typeface="Calibri" panose="020F0502020204030204" pitchFamily="34" charset="0"/>
              </a:rPr>
              <a:t>Kiểm định Chi-bình phương đánh giá mức độ tương đồng giữa phân bố ký tự trong bản mã và phân bố ngôn ngữ gốc. Nhờ đó, ta có thể định lượng mức sai lệch, từ đó xác định khóa khả dĩ chính xác hơn, làm tăng đáng kể độ tin cậy của kết quả giải mã.</a:t>
            </a:r>
            <a:endParaRPr lang="en-US" sz="2000">
              <a:latin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08DCC46F-C48B-A917-58C2-4E0F099DF7C7}"/>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3.3 </a:t>
            </a:r>
            <a:r>
              <a:rPr lang="vi-VN" sz="2500" b="1">
                <a:latin typeface="Arial" panose="020B0604020202020204" pitchFamily="34" charset="0"/>
                <a:cs typeface="Arial" panose="020B0604020202020204" pitchFamily="34" charset="0"/>
              </a:rPr>
              <a:t>Kiểm định Chi – Bình phương (Chi-squared Test) </a:t>
            </a:r>
            <a:endParaRPr lang="en-US" sz="2500" b="1">
              <a:latin typeface="Arial" panose="020B060402020202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994C6275-C6BF-5599-4D47-ADC456B3C01C}"/>
              </a:ext>
            </a:extLst>
          </p:cNvPr>
          <p:cNvSpPr txBox="1">
            <a:spLocks/>
          </p:cNvSpPr>
          <p:nvPr/>
        </p:nvSpPr>
        <p:spPr>
          <a:xfrm>
            <a:off x="923924" y="2858733"/>
            <a:ext cx="10429875" cy="24466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228600">
              <a:lnSpc>
                <a:spcPct val="150000"/>
              </a:lnSpc>
              <a:buNone/>
              <a:tabLst>
                <a:tab pos="228600" algn="l"/>
              </a:tabLst>
            </a:pPr>
            <a:endParaRPr lang="en-US" sz="2000">
              <a:latin typeface="Calibri (Body)"/>
            </a:endParaRPr>
          </a:p>
        </p:txBody>
      </p:sp>
      <p:pic>
        <p:nvPicPr>
          <p:cNvPr id="1026" name="Picture 2" descr="Chi-square Test: Formula, Uses, Table, Examples, Uses">
            <a:extLst>
              <a:ext uri="{FF2B5EF4-FFF2-40B4-BE49-F238E27FC236}">
                <a16:creationId xmlns:a16="http://schemas.microsoft.com/office/drawing/2014/main" id="{948A9A1D-62F0-051D-11CB-CA92084AA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8575" y="2329197"/>
            <a:ext cx="3971925" cy="2085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731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36E5B-B7B9-D74E-9AF3-130BE4158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B4EA5B-499F-ECAB-820B-E9D7E5CB882B}"/>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3. Kỹ thuật phân tích tần suất	</a:t>
            </a:r>
          </a:p>
        </p:txBody>
      </p:sp>
      <p:sp>
        <p:nvSpPr>
          <p:cNvPr id="3" name="Content Placeholder 2">
            <a:extLst>
              <a:ext uri="{FF2B5EF4-FFF2-40B4-BE49-F238E27FC236}">
                <a16:creationId xmlns:a16="http://schemas.microsoft.com/office/drawing/2014/main" id="{ED9898E8-D7DE-7DFC-C622-456DD8CB602B}"/>
              </a:ext>
            </a:extLst>
          </p:cNvPr>
          <p:cNvSpPr>
            <a:spLocks noGrp="1"/>
          </p:cNvSpPr>
          <p:nvPr>
            <p:ph idx="1"/>
          </p:nvPr>
        </p:nvSpPr>
        <p:spPr>
          <a:xfrm>
            <a:off x="923924" y="1789598"/>
            <a:ext cx="9048751" cy="4045362"/>
          </a:xfrm>
        </p:spPr>
        <p:txBody>
          <a:bodyPr>
            <a:noAutofit/>
          </a:bodyPr>
          <a:lstStyle/>
          <a:p>
            <a:pPr marL="0" indent="0" algn="just">
              <a:lnSpc>
                <a:spcPct val="150000"/>
              </a:lnSpc>
              <a:buNone/>
            </a:pPr>
            <a:r>
              <a:rPr lang="en-US" sz="2000" b="1">
                <a:latin typeface="Calibri" panose="020F0502020204030204" pitchFamily="34" charset="0"/>
                <a:cs typeface="Calibri" panose="020F0502020204030204" pitchFamily="34" charset="0"/>
              </a:rPr>
              <a:t>Cơ sở lý thuyết</a:t>
            </a:r>
          </a:p>
          <a:p>
            <a:pPr algn="just">
              <a:lnSpc>
                <a:spcPct val="150000"/>
              </a:lnSpc>
            </a:pPr>
            <a:r>
              <a:rPr lang="vi-VN" sz="2000">
                <a:latin typeface="Calibri" panose="020F0502020204030204" pitchFamily="34" charset="0"/>
                <a:cs typeface="Calibri" panose="020F0502020204030204" pitchFamily="34" charset="0"/>
              </a:rPr>
              <a:t>Phương pháp dựa trên kiểm định Chi-bình phương để so sánh tần suất ký tự sau khi giải thử</a:t>
            </a:r>
            <a:r>
              <a:rPr lang="en-US" sz="2000">
                <a:latin typeface="Calibri" panose="020F0502020204030204" pitchFamily="34" charset="0"/>
                <a:cs typeface="Calibri" panose="020F0502020204030204" pitchFamily="34" charset="0"/>
              </a:rPr>
              <a:t> (giải từng ký tự từ A - Z) </a:t>
            </a:r>
            <a:r>
              <a:rPr lang="vi-VN" sz="2000">
                <a:latin typeface="Calibri" panose="020F0502020204030204" pitchFamily="34" charset="0"/>
                <a:cs typeface="Calibri" panose="020F0502020204030204" pitchFamily="34" charset="0"/>
              </a:rPr>
              <a:t>với tần suất chuẩn tiếng Anh.</a:t>
            </a:r>
            <a:endParaRPr lang="en-US" sz="2000">
              <a:latin typeface="Calibri" panose="020F0502020204030204" pitchFamily="34" charset="0"/>
              <a:cs typeface="Calibri" panose="020F0502020204030204" pitchFamily="34" charset="0"/>
            </a:endParaRPr>
          </a:p>
          <a:p>
            <a:pPr algn="just">
              <a:lnSpc>
                <a:spcPct val="150000"/>
              </a:lnSpc>
            </a:pPr>
            <a:r>
              <a:rPr lang="en-US" sz="2000">
                <a:latin typeface="Calibri" panose="020F0502020204030204" pitchFamily="34" charset="0"/>
                <a:cs typeface="Calibri" panose="020F0502020204030204" pitchFamily="34" charset="0"/>
              </a:rPr>
              <a:t>Phép tính sẽ cho ra một kết quả được gọi là m</a:t>
            </a:r>
            <a:r>
              <a:rPr lang="vi-VN" sz="2000">
                <a:latin typeface="Calibri" panose="020F0502020204030204" pitchFamily="34" charset="0"/>
                <a:cs typeface="Calibri" panose="020F0502020204030204" pitchFamily="34" charset="0"/>
              </a:rPr>
              <a:t>ức độ sai lệch</a:t>
            </a:r>
            <a:r>
              <a:rPr lang="en-US" sz="2000">
                <a:latin typeface="Calibri" panose="020F0502020204030204" pitchFamily="34" charset="0"/>
                <a:cs typeface="Calibri" panose="020F0502020204030204" pitchFamily="34" charset="0"/>
              </a:rPr>
              <a:t>, nó</a:t>
            </a:r>
            <a:r>
              <a:rPr lang="vi-VN" sz="2000">
                <a:latin typeface="Calibri" panose="020F0502020204030204" pitchFamily="34" charset="0"/>
                <a:cs typeface="Calibri" panose="020F0502020204030204" pitchFamily="34" charset="0"/>
              </a:rPr>
              <a:t> càng nhỏ thì phân bố càng giống ngôn ngữ tự nhiên.</a:t>
            </a:r>
            <a:endParaRPr lang="en-US" sz="2000">
              <a:latin typeface="Calibri" panose="020F0502020204030204" pitchFamily="34" charset="0"/>
              <a:cs typeface="Calibri" panose="020F0502020204030204" pitchFamily="34" charset="0"/>
            </a:endParaRPr>
          </a:p>
          <a:p>
            <a:pPr algn="just">
              <a:lnSpc>
                <a:spcPct val="150000"/>
              </a:lnSpc>
            </a:pPr>
            <a:r>
              <a:rPr lang="vi-VN" sz="2000">
                <a:latin typeface="Calibri" panose="020F0502020204030204" pitchFamily="34" charset="0"/>
                <a:cs typeface="Calibri" panose="020F0502020204030204" pitchFamily="34" charset="0"/>
              </a:rPr>
              <a:t>Khóa nào cho kết quả gần nhất → khóa đó có khả năng đúng nhất</a:t>
            </a:r>
            <a:endParaRPr lang="en-US" sz="2000">
              <a:latin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4E04390D-1C91-54F2-CD0D-8BCA83F0BE39}"/>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3.3 </a:t>
            </a:r>
            <a:r>
              <a:rPr lang="vi-VN" sz="2500" b="1">
                <a:latin typeface="Arial" panose="020B0604020202020204" pitchFamily="34" charset="0"/>
                <a:cs typeface="Arial" panose="020B0604020202020204" pitchFamily="34" charset="0"/>
              </a:rPr>
              <a:t>Kiểm định Chi – Bình phương (Chi-squared Test) </a:t>
            </a:r>
            <a:endParaRPr lang="en-US" sz="2500" b="1">
              <a:latin typeface="Arial" panose="020B060402020202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C89192DE-E4A8-0814-CC19-20977BD57271}"/>
              </a:ext>
            </a:extLst>
          </p:cNvPr>
          <p:cNvSpPr txBox="1">
            <a:spLocks/>
          </p:cNvSpPr>
          <p:nvPr/>
        </p:nvSpPr>
        <p:spPr>
          <a:xfrm>
            <a:off x="923924" y="2858733"/>
            <a:ext cx="10429875" cy="24466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228600">
              <a:lnSpc>
                <a:spcPct val="150000"/>
              </a:lnSpc>
              <a:buNone/>
              <a:tabLst>
                <a:tab pos="228600" algn="l"/>
              </a:tabLst>
            </a:pPr>
            <a:endParaRPr lang="en-US" sz="2000">
              <a:latin typeface="Calibri (Body)"/>
            </a:endParaRPr>
          </a:p>
        </p:txBody>
      </p:sp>
    </p:spTree>
    <p:extLst>
      <p:ext uri="{BB962C8B-B14F-4D97-AF65-F5344CB8AC3E}">
        <p14:creationId xmlns:p14="http://schemas.microsoft.com/office/powerpoint/2010/main" val="2919327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217A1-FACA-0790-6721-E4D0E5924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91C41-35CA-C587-1704-BD94E845BC79}"/>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3. Kỹ thuật phân tích tần suất	</a:t>
            </a:r>
          </a:p>
        </p:txBody>
      </p:sp>
      <p:sp>
        <p:nvSpPr>
          <p:cNvPr id="3" name="Content Placeholder 2">
            <a:extLst>
              <a:ext uri="{FF2B5EF4-FFF2-40B4-BE49-F238E27FC236}">
                <a16:creationId xmlns:a16="http://schemas.microsoft.com/office/drawing/2014/main" id="{47DDBFFB-86BF-FDDD-3241-A2C41394523F}"/>
              </a:ext>
            </a:extLst>
          </p:cNvPr>
          <p:cNvSpPr>
            <a:spLocks noGrp="1"/>
          </p:cNvSpPr>
          <p:nvPr>
            <p:ph idx="1"/>
          </p:nvPr>
        </p:nvSpPr>
        <p:spPr>
          <a:xfrm>
            <a:off x="923924" y="1789598"/>
            <a:ext cx="9048751" cy="4045362"/>
          </a:xfrm>
        </p:spPr>
        <p:txBody>
          <a:bodyPr>
            <a:noAutofit/>
          </a:bodyPr>
          <a:lstStyle/>
          <a:p>
            <a:pPr marL="0" indent="0" algn="just">
              <a:lnSpc>
                <a:spcPct val="150000"/>
              </a:lnSpc>
              <a:buNone/>
            </a:pPr>
            <a:r>
              <a:rPr lang="en-US" sz="2000" b="1">
                <a:latin typeface="Calibri" panose="020F0502020204030204" pitchFamily="34" charset="0"/>
                <a:cs typeface="Calibri" panose="020F0502020204030204" pitchFamily="34" charset="0"/>
              </a:rPr>
              <a:t>Công thức: </a:t>
            </a:r>
          </a:p>
          <a:p>
            <a:pPr marL="0" indent="0" algn="just">
              <a:lnSpc>
                <a:spcPct val="150000"/>
              </a:lnSpc>
              <a:buNone/>
            </a:pPr>
            <a:endParaRPr lang="en-US" sz="2000">
              <a:latin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C1FB6FB1-404D-BE6A-9504-B623EC002DD9}"/>
              </a:ext>
            </a:extLst>
          </p:cNvPr>
          <p:cNvSpPr txBox="1">
            <a:spLocks/>
          </p:cNvSpPr>
          <p:nvPr/>
        </p:nvSpPr>
        <p:spPr>
          <a:xfrm>
            <a:off x="838200" y="1023040"/>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3.3 </a:t>
            </a:r>
            <a:r>
              <a:rPr lang="vi-VN" sz="2500" b="1">
                <a:latin typeface="Arial" panose="020B0604020202020204" pitchFamily="34" charset="0"/>
                <a:cs typeface="Arial" panose="020B0604020202020204" pitchFamily="34" charset="0"/>
              </a:rPr>
              <a:t>Kiểm định Chi – Bình phương (Chi-squared Test) </a:t>
            </a:r>
            <a:endParaRPr lang="en-US" sz="2500" b="1">
              <a:latin typeface="Arial" panose="020B060402020202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ED3C158A-D52C-A692-E4AF-25DCBCCEF5B5}"/>
              </a:ext>
            </a:extLst>
          </p:cNvPr>
          <p:cNvSpPr txBox="1">
            <a:spLocks/>
          </p:cNvSpPr>
          <p:nvPr/>
        </p:nvSpPr>
        <p:spPr>
          <a:xfrm>
            <a:off x="923924" y="2858733"/>
            <a:ext cx="10429875" cy="24466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228600">
              <a:lnSpc>
                <a:spcPct val="150000"/>
              </a:lnSpc>
              <a:buNone/>
              <a:tabLst>
                <a:tab pos="228600" algn="l"/>
              </a:tabLst>
            </a:pPr>
            <a:endParaRPr lang="en-US" sz="2000">
              <a:latin typeface="Calibri (Body)"/>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CB138DE-3DC9-2DB4-F01E-48FC0052EE68}"/>
                  </a:ext>
                </a:extLst>
              </p:cNvPr>
              <p:cNvSpPr txBox="1"/>
              <p:nvPr/>
            </p:nvSpPr>
            <p:spPr>
              <a:xfrm>
                <a:off x="438150" y="1661561"/>
                <a:ext cx="6096000" cy="870751"/>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𝑥</m:t>
                          </m:r>
                        </m:e>
                        <m:sup>
                          <m:r>
                            <a:rPr lang="en-US" i="0">
                              <a:latin typeface="Cambria Math" panose="02040503050406030204" pitchFamily="18" charset="0"/>
                            </a:rPr>
                            <m:t>2</m:t>
                          </m:r>
                        </m:sup>
                      </m:sSup>
                      <m:r>
                        <a:rPr lang="en-US" i="0">
                          <a:latin typeface="Cambria Math" panose="02040503050406030204" pitchFamily="18" charset="0"/>
                        </a:rPr>
                        <m:t>=</m:t>
                      </m:r>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𝑖</m:t>
                          </m:r>
                          <m:r>
                            <a:rPr lang="en-US" i="0">
                              <a:latin typeface="Cambria Math" panose="02040503050406030204" pitchFamily="18" charset="0"/>
                            </a:rPr>
                            <m:t>=</m:t>
                          </m:r>
                          <m:r>
                            <a:rPr lang="en-US" b="0" i="0" smtClean="0">
                              <a:latin typeface="Cambria Math" panose="02040503050406030204" pitchFamily="18" charset="0"/>
                            </a:rPr>
                            <m:t>0</m:t>
                          </m:r>
                        </m:sub>
                        <m:sup>
                          <m:r>
                            <a:rPr lang="en-US" i="1">
                              <a:latin typeface="Cambria Math" panose="02040503050406030204" pitchFamily="18" charset="0"/>
                            </a:rPr>
                            <m:t>𝑛</m:t>
                          </m:r>
                          <m:r>
                            <a:rPr lang="en-US" b="0" i="1" smtClean="0">
                              <a:latin typeface="Cambria Math" panose="02040503050406030204" pitchFamily="18" charset="0"/>
                            </a:rPr>
                            <m:t>−1</m:t>
                          </m:r>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𝑖</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𝑖</m:t>
                                          </m:r>
                                        </m:sub>
                                      </m:sSub>
                                    </m:e>
                                  </m:d>
                                </m:e>
                                <m:sup>
                                  <m:r>
                                    <a:rPr lang="en-US" i="0">
                                      <a:latin typeface="Cambria Math" panose="02040503050406030204" pitchFamily="18" charset="0"/>
                                    </a:rPr>
                                    <m:t>2</m:t>
                                  </m:r>
                                </m:sup>
                              </m:sSup>
                            </m:num>
                            <m:den>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𝑖</m:t>
                                  </m:r>
                                </m:sub>
                              </m:sSub>
                            </m:den>
                          </m:f>
                        </m:e>
                      </m:nary>
                    </m:oMath>
                  </m:oMathPara>
                </a14:m>
                <a:endParaRPr lang="en-US"/>
              </a:p>
            </p:txBody>
          </p:sp>
        </mc:Choice>
        <mc:Fallback xmlns="">
          <p:sp>
            <p:nvSpPr>
              <p:cNvPr id="6" name="TextBox 5">
                <a:extLst>
                  <a:ext uri="{FF2B5EF4-FFF2-40B4-BE49-F238E27FC236}">
                    <a16:creationId xmlns:a16="http://schemas.microsoft.com/office/drawing/2014/main" id="{0CB138DE-3DC9-2DB4-F01E-48FC0052EE68}"/>
                  </a:ext>
                </a:extLst>
              </p:cNvPr>
              <p:cNvSpPr txBox="1">
                <a:spLocks noRot="1" noChangeAspect="1" noMove="1" noResize="1" noEditPoints="1" noAdjustHandles="1" noChangeArrowheads="1" noChangeShapeType="1" noTextEdit="1"/>
              </p:cNvSpPr>
              <p:nvPr/>
            </p:nvSpPr>
            <p:spPr>
              <a:xfrm>
                <a:off x="438150" y="1661561"/>
                <a:ext cx="6096000" cy="87075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44C1989-5E58-DC7D-1CB9-FD13AC5E443C}"/>
                  </a:ext>
                </a:extLst>
              </p:cNvPr>
              <p:cNvSpPr txBox="1"/>
              <p:nvPr/>
            </p:nvSpPr>
            <p:spPr>
              <a:xfrm>
                <a:off x="1000124" y="2638164"/>
                <a:ext cx="10126585" cy="1890518"/>
              </a:xfrm>
              <a:prstGeom prst="rect">
                <a:avLst/>
              </a:prstGeom>
              <a:noFill/>
            </p:spPr>
            <p:txBody>
              <a:bodyPr wrap="square">
                <a:spAutoFit/>
              </a:bodyPr>
              <a:lstStyle/>
              <a:p>
                <a:pPr marR="0" lvl="0" algn="just">
                  <a:lnSpc>
                    <a:spcPct val="150000"/>
                  </a:lnSpc>
                </a:pPr>
                <a:r>
                  <a:rPr lang="en-US" sz="2000" b="1" kern="100">
                    <a:effectLst/>
                    <a:ea typeface="Aptos" panose="020B0004020202020204" pitchFamily="34" charset="0"/>
                    <a:cs typeface="Times New Roman" panose="02020603050405020304" pitchFamily="18" charset="0"/>
                  </a:rPr>
                  <a:t>Trong đó</a:t>
                </a:r>
              </a:p>
              <a:p>
                <a:pPr marL="342900" marR="0" lvl="0" indent="-342900" algn="just">
                  <a:lnSpc>
                    <a:spcPct val="150000"/>
                  </a:lnSpc>
                  <a:buFont typeface="Symbol" panose="05050102010706020507" pitchFamily="18" charset="2"/>
                  <a:buChar char=""/>
                </a:pPr>
                <a14:m>
                  <m:oMath xmlns:m="http://schemas.openxmlformats.org/officeDocument/2006/math">
                    <m:sSub>
                      <m:sSubPr>
                        <m:ctrlPr>
                          <a:rPr lang="en-US" sz="2000" i="1" kern="100" smtClean="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2000" i="1" kern="100">
                            <a:effectLst/>
                            <a:latin typeface="Cambria Math" panose="02040503050406030204" pitchFamily="18" charset="0"/>
                            <a:ea typeface="Aptos" panose="020B0004020202020204" pitchFamily="34" charset="0"/>
                            <a:cs typeface="Times New Roman" panose="02020603050405020304" pitchFamily="18" charset="0"/>
                          </a:rPr>
                          <m:t>𝑂</m:t>
                        </m:r>
                      </m:e>
                      <m:sub>
                        <m:r>
                          <a:rPr lang="en-US" sz="2000" i="1" kern="100">
                            <a:effectLst/>
                            <a:latin typeface="Cambria Math" panose="02040503050406030204" pitchFamily="18" charset="0"/>
                            <a:ea typeface="Aptos" panose="020B0004020202020204" pitchFamily="34" charset="0"/>
                            <a:cs typeface="Times New Roman" panose="02020603050405020304" pitchFamily="18" charset="0"/>
                          </a:rPr>
                          <m:t>𝑖</m:t>
                        </m:r>
                      </m:sub>
                    </m:sSub>
                  </m:oMath>
                </a14:m>
                <a:r>
                  <a:rPr lang="en-US" sz="2000" kern="100">
                    <a:effectLst/>
                    <a:ea typeface="Times New Roman" panose="02020603050405020304" pitchFamily="18" charset="0"/>
                    <a:cs typeface="Times New Roman" panose="02020603050405020304" pitchFamily="18" charset="0"/>
                  </a:rPr>
                  <a:t> là số lần quan sát được của ký tự thứ i trong bản mã sau khi giải thử bằng khóa nào đó</a:t>
                </a:r>
                <a:endParaRPr lang="en-US" sz="2000" kern="100">
                  <a:effectLst/>
                  <a:ea typeface="Aptos" panose="020B000402020202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14:m>
                  <m:oMath xmlns:m="http://schemas.openxmlformats.org/officeDocument/2006/math">
                    <m:sSub>
                      <m:sSubPr>
                        <m:ctrlPr>
                          <a:rPr lang="en-US" sz="20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2000" i="1" kern="100">
                            <a:effectLst/>
                            <a:latin typeface="Cambria Math" panose="02040503050406030204" pitchFamily="18" charset="0"/>
                            <a:ea typeface="Aptos" panose="020B0004020202020204" pitchFamily="34" charset="0"/>
                            <a:cs typeface="Times New Roman" panose="02020603050405020304" pitchFamily="18" charset="0"/>
                          </a:rPr>
                          <m:t>𝐸</m:t>
                        </m:r>
                      </m:e>
                      <m:sub>
                        <m:r>
                          <a:rPr lang="en-US" sz="2000" i="1" kern="100">
                            <a:effectLst/>
                            <a:latin typeface="Cambria Math" panose="02040503050406030204" pitchFamily="18" charset="0"/>
                            <a:ea typeface="Aptos" panose="020B0004020202020204" pitchFamily="34" charset="0"/>
                            <a:cs typeface="Times New Roman" panose="02020603050405020304" pitchFamily="18" charset="0"/>
                          </a:rPr>
                          <m:t>𝑖</m:t>
                        </m:r>
                      </m:sub>
                    </m:sSub>
                  </m:oMath>
                </a14:m>
                <a:r>
                  <a:rPr lang="en-US" sz="2000" kern="100">
                    <a:effectLst/>
                    <a:ea typeface="Times New Roman" panose="02020603050405020304" pitchFamily="18" charset="0"/>
                    <a:cs typeface="Times New Roman" panose="02020603050405020304" pitchFamily="18" charset="0"/>
                  </a:rPr>
                  <a:t> là tần suất kỳ vọng của ký tự đó trong ngôn ngữ thật (ví dụ Tiếng Anh)</a:t>
                </a:r>
                <a:endParaRPr lang="en-US" sz="2000" kern="100">
                  <a:effectLst/>
                  <a:ea typeface="Aptos" panose="020B000402020202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14:m>
                  <m:oMath xmlns:m="http://schemas.openxmlformats.org/officeDocument/2006/math">
                    <m:r>
                      <a:rPr lang="en-US" sz="2000" i="1" kern="100">
                        <a:effectLst/>
                        <a:latin typeface="Cambria Math" panose="02040503050406030204" pitchFamily="18" charset="0"/>
                        <a:ea typeface="Aptos" panose="020B0004020202020204" pitchFamily="34" charset="0"/>
                        <a:cs typeface="Times New Roman" panose="02020603050405020304" pitchFamily="18" charset="0"/>
                      </a:rPr>
                      <m:t>𝑛</m:t>
                    </m:r>
                  </m:oMath>
                </a14:m>
                <a:r>
                  <a:rPr lang="en-US" sz="2000" kern="100">
                    <a:effectLst/>
                    <a:ea typeface="Times New Roman" panose="02020603050405020304" pitchFamily="18" charset="0"/>
                    <a:cs typeface="Times New Roman" panose="02020603050405020304" pitchFamily="18" charset="0"/>
                  </a:rPr>
                  <a:t> là số lượng ký tự xét (ví dụ trong tiếng Anh là từ A – Z, 26 ký tự)</a:t>
                </a:r>
                <a:endParaRPr lang="en-US" sz="2000" kern="100">
                  <a:effectLst/>
                  <a:ea typeface="Aptos" panose="020B0004020202020204" pitchFamily="34"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844C1989-5E58-DC7D-1CB9-FD13AC5E443C}"/>
                  </a:ext>
                </a:extLst>
              </p:cNvPr>
              <p:cNvSpPr txBox="1">
                <a:spLocks noRot="1" noChangeAspect="1" noMove="1" noResize="1" noEditPoints="1" noAdjustHandles="1" noChangeArrowheads="1" noChangeShapeType="1" noTextEdit="1"/>
              </p:cNvSpPr>
              <p:nvPr/>
            </p:nvSpPr>
            <p:spPr>
              <a:xfrm>
                <a:off x="1000124" y="2638164"/>
                <a:ext cx="10126585" cy="1890518"/>
              </a:xfrm>
              <a:prstGeom prst="rect">
                <a:avLst/>
              </a:prstGeom>
              <a:blipFill>
                <a:blip r:embed="rId4"/>
                <a:stretch>
                  <a:fillRect l="-662" b="-4839"/>
                </a:stretch>
              </a:blipFill>
            </p:spPr>
            <p:txBody>
              <a:bodyPr/>
              <a:lstStyle/>
              <a:p>
                <a:r>
                  <a:rPr lang="en-US">
                    <a:noFill/>
                  </a:rPr>
                  <a:t> </a:t>
                </a:r>
              </a:p>
            </p:txBody>
          </p:sp>
        </mc:Fallback>
      </mc:AlternateContent>
    </p:spTree>
    <p:extLst>
      <p:ext uri="{BB962C8B-B14F-4D97-AF65-F5344CB8AC3E}">
        <p14:creationId xmlns:p14="http://schemas.microsoft.com/office/powerpoint/2010/main" val="4192743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A4395-350C-7E39-AB42-59AB265811D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D7603D6-FE07-9957-284F-161C1203E05F}"/>
              </a:ext>
            </a:extLst>
          </p:cNvPr>
          <p:cNvSpPr txBox="1">
            <a:spLocks/>
          </p:cNvSpPr>
          <p:nvPr/>
        </p:nvSpPr>
        <p:spPr>
          <a:xfrm>
            <a:off x="115706" y="132628"/>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3.3 </a:t>
            </a:r>
            <a:r>
              <a:rPr lang="vi-VN" sz="2500" b="1">
                <a:latin typeface="Arial" panose="020B0604020202020204" pitchFamily="34" charset="0"/>
                <a:cs typeface="Arial" panose="020B0604020202020204" pitchFamily="34" charset="0"/>
              </a:rPr>
              <a:t>Kiểm định Chi – Bình phương (Chi-squared Test) </a:t>
            </a:r>
            <a:endParaRPr lang="en-US" sz="2500" b="1">
              <a:latin typeface="Arial" panose="020B060402020202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C2986E87-C8C4-37E3-6D8C-97E11CB98626}"/>
              </a:ext>
            </a:extLst>
          </p:cNvPr>
          <p:cNvSpPr txBox="1">
            <a:spLocks/>
          </p:cNvSpPr>
          <p:nvPr/>
        </p:nvSpPr>
        <p:spPr>
          <a:xfrm>
            <a:off x="201431" y="1304121"/>
            <a:ext cx="8426521" cy="444914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228600">
              <a:lnSpc>
                <a:spcPct val="150000"/>
              </a:lnSpc>
              <a:buNone/>
              <a:tabLst>
                <a:tab pos="228600" algn="l"/>
              </a:tabLst>
            </a:pPr>
            <a:r>
              <a:rPr lang="en-US" sz="2000">
                <a:latin typeface="Calibri (Body)"/>
              </a:rPr>
              <a:t>Giả sử chúng ta có khóa K có độ dài là d, khóa K sẽ có dạng là K</a:t>
            </a:r>
            <a:r>
              <a:rPr lang="en-US" sz="2000" baseline="-25000">
                <a:latin typeface="Calibri (Body)"/>
              </a:rPr>
              <a:t>1 </a:t>
            </a:r>
            <a:r>
              <a:rPr lang="en-US" sz="2000">
                <a:latin typeface="Calibri (Body)"/>
              </a:rPr>
              <a:t>K</a:t>
            </a:r>
            <a:r>
              <a:rPr lang="en-US" sz="2000" baseline="-25000">
                <a:latin typeface="Calibri (Body)"/>
              </a:rPr>
              <a:t>2</a:t>
            </a:r>
            <a:r>
              <a:rPr lang="en-US" sz="2000">
                <a:latin typeface="Calibri (Body)"/>
              </a:rPr>
              <a:t> … K</a:t>
            </a:r>
            <a:r>
              <a:rPr lang="en-US" sz="2000" baseline="-25000">
                <a:latin typeface="Calibri (Body)"/>
              </a:rPr>
              <a:t>d  </a:t>
            </a:r>
            <a:r>
              <a:rPr lang="en-US" sz="2000">
                <a:latin typeface="Calibri (Body)"/>
              </a:rPr>
              <a:t>với mỗi K</a:t>
            </a:r>
            <a:r>
              <a:rPr lang="en-US" sz="2000" baseline="-25000">
                <a:latin typeface="Calibri (Body)"/>
              </a:rPr>
              <a:t>m </a:t>
            </a:r>
            <a:r>
              <a:rPr lang="en-US" sz="2000">
                <a:latin typeface="Calibri (Body)"/>
              </a:rPr>
              <a:t>tương ứng với một ký tự trong K. Chúng ta sẽ nhóm các nhóm ký tự bản mã theo ký tự khóa K</a:t>
            </a:r>
            <a:r>
              <a:rPr lang="en-US" sz="2000" baseline="-25000">
                <a:latin typeface="Calibri (Body)"/>
              </a:rPr>
              <a:t>m</a:t>
            </a:r>
            <a:r>
              <a:rPr lang="en-US" sz="2000">
                <a:latin typeface="Calibri (Body)"/>
              </a:rPr>
              <a:t>  và thực hiện phép giải mã Caesars (26 lần) trên K</a:t>
            </a:r>
            <a:r>
              <a:rPr lang="en-US" sz="2000" baseline="-25000">
                <a:latin typeface="Calibri (Body)"/>
              </a:rPr>
              <a:t>m</a:t>
            </a:r>
            <a:r>
              <a:rPr lang="en-US" sz="2000">
                <a:latin typeface="Calibri (Body)"/>
              </a:rPr>
              <a:t>. </a:t>
            </a:r>
          </a:p>
          <a:p>
            <a:pPr marL="0" indent="0" algn="just" defTabSz="228600">
              <a:lnSpc>
                <a:spcPct val="150000"/>
              </a:lnSpc>
              <a:buNone/>
              <a:tabLst>
                <a:tab pos="228600" algn="l"/>
              </a:tabLst>
            </a:pPr>
            <a:r>
              <a:rPr lang="en-US" sz="2000">
                <a:latin typeface="Calibri (Body)"/>
              </a:rPr>
              <a:t>Ở mỗi lần dịch (giải mã):</a:t>
            </a:r>
          </a:p>
          <a:p>
            <a:pPr marL="457200" indent="-457200" algn="just" defTabSz="228600">
              <a:lnSpc>
                <a:spcPct val="150000"/>
              </a:lnSpc>
              <a:buFont typeface="+mj-lt"/>
              <a:buAutoNum type="arabicPeriod"/>
              <a:tabLst>
                <a:tab pos="228600" algn="l"/>
              </a:tabLst>
            </a:pPr>
            <a:r>
              <a:rPr lang="en-US" sz="2000">
                <a:latin typeface="Calibri (Body)"/>
              </a:rPr>
              <a:t>Tính tần suất kỳ vọng (E</a:t>
            </a:r>
            <a:r>
              <a:rPr lang="en-US" sz="2000" baseline="-25000">
                <a:latin typeface="Calibri (Body)"/>
              </a:rPr>
              <a:t>i</a:t>
            </a:r>
            <a:r>
              <a:rPr lang="en-US" sz="2000">
                <a:latin typeface="Calibri (Body)"/>
              </a:rPr>
              <a:t>): </a:t>
            </a:r>
          </a:p>
          <a:p>
            <a:pPr marL="457200" indent="-457200" algn="just" defTabSz="228600">
              <a:lnSpc>
                <a:spcPct val="150000"/>
              </a:lnSpc>
              <a:buFont typeface="+mj-lt"/>
              <a:buAutoNum type="arabicPeriod"/>
              <a:tabLst>
                <a:tab pos="228600" algn="l"/>
              </a:tabLst>
            </a:pPr>
            <a:r>
              <a:rPr lang="vi-VN" sz="2000">
                <a:latin typeface="Calibri (Body)"/>
              </a:rPr>
              <a:t>Tính số lần xuất hiện của ký tự thứ i (O</a:t>
            </a:r>
            <a:r>
              <a:rPr lang="vi-VN" sz="2000" baseline="-25000">
                <a:latin typeface="Calibri (Body)"/>
              </a:rPr>
              <a:t>i</a:t>
            </a:r>
            <a:r>
              <a:rPr lang="vi-VN" sz="2000">
                <a:latin typeface="Calibri (Body)"/>
              </a:rPr>
              <a:t>)</a:t>
            </a:r>
            <a:r>
              <a:rPr lang="en-US" sz="2000">
                <a:latin typeface="Calibri (Body)"/>
              </a:rPr>
              <a:t> trong K</a:t>
            </a:r>
            <a:r>
              <a:rPr lang="en-US" sz="2000" baseline="-25000">
                <a:latin typeface="Calibri (Body)"/>
              </a:rPr>
              <a:t>m</a:t>
            </a:r>
            <a:r>
              <a:rPr lang="en-US" sz="2000">
                <a:latin typeface="Calibri (Body)"/>
              </a:rPr>
              <a:t>. </a:t>
            </a:r>
          </a:p>
          <a:p>
            <a:pPr marL="457200" indent="-457200" algn="just" defTabSz="228600">
              <a:lnSpc>
                <a:spcPct val="150000"/>
              </a:lnSpc>
              <a:buFont typeface="+mj-lt"/>
              <a:buAutoNum type="arabicPeriod"/>
              <a:tabLst>
                <a:tab pos="228600" algn="l"/>
              </a:tabLst>
            </a:pPr>
            <a:r>
              <a:rPr lang="en-US" sz="2000">
                <a:latin typeface="Calibri (Body)"/>
              </a:rPr>
              <a:t>Tính Chi bình phương theo công thức</a:t>
            </a:r>
          </a:p>
          <a:p>
            <a:pPr marL="0" indent="0" algn="just" defTabSz="228600">
              <a:lnSpc>
                <a:spcPct val="150000"/>
              </a:lnSpc>
              <a:buNone/>
              <a:tabLst>
                <a:tab pos="228600" algn="l"/>
              </a:tabLst>
            </a:pPr>
            <a:endParaRPr lang="en-US" sz="2000" baseline="-25000">
              <a:latin typeface="Calibri (Body)"/>
            </a:endParaRPr>
          </a:p>
        </p:txBody>
      </p:sp>
      <p:sp>
        <p:nvSpPr>
          <p:cNvPr id="21" name="Content Placeholder 2">
            <a:extLst>
              <a:ext uri="{FF2B5EF4-FFF2-40B4-BE49-F238E27FC236}">
                <a16:creationId xmlns:a16="http://schemas.microsoft.com/office/drawing/2014/main" id="{4D5AEAA3-6948-51A7-1AB4-75AD2DD0ACE1}"/>
              </a:ext>
            </a:extLst>
          </p:cNvPr>
          <p:cNvSpPr txBox="1">
            <a:spLocks/>
          </p:cNvSpPr>
          <p:nvPr/>
        </p:nvSpPr>
        <p:spPr>
          <a:xfrm>
            <a:off x="115706" y="666782"/>
            <a:ext cx="2484619" cy="6436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sz="2200" b="1">
                <a:latin typeface="Calibri" panose="020F0502020204030204" pitchFamily="34" charset="0"/>
                <a:cs typeface="Calibri" panose="020F0502020204030204" pitchFamily="34" charset="0"/>
              </a:rPr>
              <a:t>Các bước triển khai</a:t>
            </a:r>
            <a:endParaRPr lang="en-US" sz="220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76C2A20-C141-CF65-2CA6-29D9490764A4}"/>
                  </a:ext>
                </a:extLst>
              </p:cNvPr>
              <p:cNvSpPr txBox="1"/>
              <p:nvPr/>
            </p:nvSpPr>
            <p:spPr>
              <a:xfrm>
                <a:off x="4530400" y="4445369"/>
                <a:ext cx="2705100" cy="870751"/>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𝑥</m:t>
                          </m:r>
                        </m:e>
                        <m:sup>
                          <m:r>
                            <a:rPr lang="en-US" i="0">
                              <a:latin typeface="Cambria Math" panose="02040503050406030204" pitchFamily="18" charset="0"/>
                            </a:rPr>
                            <m:t>2</m:t>
                          </m:r>
                        </m:sup>
                      </m:sSup>
                      <m:r>
                        <a:rPr lang="en-US" i="0">
                          <a:latin typeface="Cambria Math" panose="02040503050406030204" pitchFamily="18" charset="0"/>
                        </a:rPr>
                        <m:t>=</m:t>
                      </m:r>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𝑖</m:t>
                          </m:r>
                          <m:r>
                            <a:rPr lang="en-US" i="0">
                              <a:latin typeface="Cambria Math" panose="02040503050406030204" pitchFamily="18" charset="0"/>
                            </a:rPr>
                            <m:t>=</m:t>
                          </m:r>
                          <m:r>
                            <a:rPr lang="en-US" b="0" i="0" smtClean="0">
                              <a:latin typeface="Cambria Math" panose="02040503050406030204" pitchFamily="18" charset="0"/>
                            </a:rPr>
                            <m:t>0</m:t>
                          </m:r>
                        </m:sub>
                        <m:sup>
                          <m:r>
                            <a:rPr lang="en-US" i="1">
                              <a:latin typeface="Cambria Math" panose="02040503050406030204" pitchFamily="18" charset="0"/>
                            </a:rPr>
                            <m:t>𝑛</m:t>
                          </m:r>
                          <m:r>
                            <a:rPr lang="en-US" b="0" i="1" smtClean="0">
                              <a:latin typeface="Cambria Math" panose="02040503050406030204" pitchFamily="18" charset="0"/>
                            </a:rPr>
                            <m:t>−1</m:t>
                          </m:r>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𝑖</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𝑖</m:t>
                                          </m:r>
                                        </m:sub>
                                      </m:sSub>
                                    </m:e>
                                  </m:d>
                                </m:e>
                                <m:sup>
                                  <m:r>
                                    <a:rPr lang="en-US" i="0">
                                      <a:latin typeface="Cambria Math" panose="02040503050406030204" pitchFamily="18" charset="0"/>
                                    </a:rPr>
                                    <m:t>2</m:t>
                                  </m:r>
                                </m:sup>
                              </m:sSup>
                            </m:num>
                            <m:den>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𝑖</m:t>
                                  </m:r>
                                </m:sub>
                              </m:sSub>
                            </m:den>
                          </m:f>
                        </m:e>
                      </m:nary>
                    </m:oMath>
                  </m:oMathPara>
                </a14:m>
                <a:endParaRPr lang="en-US"/>
              </a:p>
            </p:txBody>
          </p:sp>
        </mc:Choice>
        <mc:Fallback xmlns="">
          <p:sp>
            <p:nvSpPr>
              <p:cNvPr id="22" name="TextBox 21">
                <a:extLst>
                  <a:ext uri="{FF2B5EF4-FFF2-40B4-BE49-F238E27FC236}">
                    <a16:creationId xmlns:a16="http://schemas.microsoft.com/office/drawing/2014/main" id="{D76C2A20-C141-CF65-2CA6-29D9490764A4}"/>
                  </a:ext>
                </a:extLst>
              </p:cNvPr>
              <p:cNvSpPr txBox="1">
                <a:spLocks noRot="1" noChangeAspect="1" noMove="1" noResize="1" noEditPoints="1" noAdjustHandles="1" noChangeArrowheads="1" noChangeShapeType="1" noTextEdit="1"/>
              </p:cNvSpPr>
              <p:nvPr/>
            </p:nvSpPr>
            <p:spPr>
              <a:xfrm>
                <a:off x="4530400" y="4445369"/>
                <a:ext cx="2705100" cy="87075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FC6BD1F-A1BD-27F3-E9B7-60F7FF245BA7}"/>
                  </a:ext>
                </a:extLst>
              </p:cNvPr>
              <p:cNvSpPr txBox="1"/>
              <p:nvPr/>
            </p:nvSpPr>
            <p:spPr>
              <a:xfrm>
                <a:off x="3614869" y="3492479"/>
                <a:ext cx="1831063"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𝑖</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𝑖</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𝑁</m:t>
                          </m:r>
                        </m:e>
                        <m:sub>
                          <m:r>
                            <a:rPr lang="en-US" sz="2000" i="1">
                              <a:latin typeface="Cambria Math" panose="02040503050406030204" pitchFamily="18" charset="0"/>
                            </a:rPr>
                            <m:t>𝑚</m:t>
                          </m:r>
                        </m:sub>
                      </m:sSub>
                    </m:oMath>
                  </m:oMathPara>
                </a14:m>
                <a:endParaRPr lang="en-US" sz="2000"/>
              </a:p>
            </p:txBody>
          </p:sp>
        </mc:Choice>
        <mc:Fallback xmlns="">
          <p:sp>
            <p:nvSpPr>
              <p:cNvPr id="24" name="TextBox 23">
                <a:extLst>
                  <a:ext uri="{FF2B5EF4-FFF2-40B4-BE49-F238E27FC236}">
                    <a16:creationId xmlns:a16="http://schemas.microsoft.com/office/drawing/2014/main" id="{2FC6BD1F-A1BD-27F3-E9B7-60F7FF245BA7}"/>
                  </a:ext>
                </a:extLst>
              </p:cNvPr>
              <p:cNvSpPr txBox="1">
                <a:spLocks noRot="1" noChangeAspect="1" noMove="1" noResize="1" noEditPoints="1" noAdjustHandles="1" noChangeArrowheads="1" noChangeShapeType="1" noTextEdit="1"/>
              </p:cNvSpPr>
              <p:nvPr/>
            </p:nvSpPr>
            <p:spPr>
              <a:xfrm>
                <a:off x="3614869" y="3492479"/>
                <a:ext cx="1831063" cy="400110"/>
              </a:xfrm>
              <a:prstGeom prst="rect">
                <a:avLst/>
              </a:prstGeom>
              <a:blipFill>
                <a:blip r:embed="rId4"/>
                <a:stretch>
                  <a:fillRect b="-6061"/>
                </a:stretch>
              </a:blipFill>
            </p:spPr>
            <p:txBody>
              <a:bodyPr/>
              <a:lstStyle/>
              <a:p>
                <a:r>
                  <a:rPr lang="en-US">
                    <a:noFill/>
                  </a:rPr>
                  <a:t> </a:t>
                </a:r>
              </a:p>
            </p:txBody>
          </p:sp>
        </mc:Fallback>
      </mc:AlternateContent>
      <p:graphicFrame>
        <p:nvGraphicFramePr>
          <p:cNvPr id="27" name="Content Placeholder 26">
            <a:extLst>
              <a:ext uri="{FF2B5EF4-FFF2-40B4-BE49-F238E27FC236}">
                <a16:creationId xmlns:a16="http://schemas.microsoft.com/office/drawing/2014/main" id="{3DB3B5D9-CCEB-F2EA-D8FF-4AF88647E7AB}"/>
              </a:ext>
            </a:extLst>
          </p:cNvPr>
          <p:cNvGraphicFramePr>
            <a:graphicFrameLocks noGrp="1"/>
          </p:cNvGraphicFramePr>
          <p:nvPr>
            <p:ph idx="1"/>
            <p:extLst>
              <p:ext uri="{D42A27DB-BD31-4B8C-83A1-F6EECF244321}">
                <p14:modId xmlns:p14="http://schemas.microsoft.com/office/powerpoint/2010/main" val="2895562832"/>
              </p:ext>
            </p:extLst>
          </p:nvPr>
        </p:nvGraphicFramePr>
        <p:xfrm>
          <a:off x="8594764" y="132628"/>
          <a:ext cx="3395805" cy="6491826"/>
        </p:xfrm>
        <a:graphic>
          <a:graphicData uri="http://schemas.openxmlformats.org/drawingml/2006/table">
            <a:tbl>
              <a:tblPr>
                <a:tableStyleId>{3C2FFA5D-87B4-456A-9821-1D502468CF0F}</a:tableStyleId>
              </a:tblPr>
              <a:tblGrid>
                <a:gridCol w="867351">
                  <a:extLst>
                    <a:ext uri="{9D8B030D-6E8A-4147-A177-3AD203B41FA5}">
                      <a16:colId xmlns:a16="http://schemas.microsoft.com/office/drawing/2014/main" val="2494306222"/>
                    </a:ext>
                  </a:extLst>
                </a:gridCol>
                <a:gridCol w="959668">
                  <a:extLst>
                    <a:ext uri="{9D8B030D-6E8A-4147-A177-3AD203B41FA5}">
                      <a16:colId xmlns:a16="http://schemas.microsoft.com/office/drawing/2014/main" val="1979787112"/>
                    </a:ext>
                  </a:extLst>
                </a:gridCol>
                <a:gridCol w="1568786">
                  <a:extLst>
                    <a:ext uri="{9D8B030D-6E8A-4147-A177-3AD203B41FA5}">
                      <a16:colId xmlns:a16="http://schemas.microsoft.com/office/drawing/2014/main" val="4108164968"/>
                    </a:ext>
                  </a:extLst>
                </a:gridCol>
              </a:tblGrid>
              <a:tr h="161161">
                <a:tc>
                  <a:txBody>
                    <a:bodyPr/>
                    <a:lstStyle/>
                    <a:p>
                      <a:pPr algn="ctr" rtl="0">
                        <a:buNone/>
                      </a:pPr>
                      <a:r>
                        <a:rPr lang="en-US" sz="1200" b="1">
                          <a:solidFill>
                            <a:srgbClr val="1B1C1D"/>
                          </a:solidFill>
                          <a:effectLst/>
                        </a:rPr>
                        <a:t>Chữ cái</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C000"/>
                    </a:solidFill>
                  </a:tcPr>
                </a:tc>
                <a:tc>
                  <a:txBody>
                    <a:bodyPr/>
                    <a:lstStyle/>
                    <a:p>
                      <a:pPr algn="ctr" rtl="0">
                        <a:buNone/>
                      </a:pPr>
                      <a:r>
                        <a:rPr lang="en-US" sz="1200" b="1">
                          <a:solidFill>
                            <a:srgbClr val="1B1C1D"/>
                          </a:solidFill>
                          <a:effectLst/>
                        </a:rPr>
                        <a:t>Tần suất (%)</a:t>
                      </a:r>
                      <a:endParaRPr lang="en-US" sz="1200">
                        <a:solidFill>
                          <a:srgbClr val="1B1C1D"/>
                        </a:solidFill>
                        <a:effectLst/>
                        <a:latin typeface="Google Sans Text"/>
                      </a:endParaRPr>
                    </a:p>
                  </a:txBody>
                  <a:tcPr marL="43168" marR="43168" marT="28779" marB="28779" anchor="ctr">
                    <a:lnT w="12700" cap="flat" cmpd="sng" algn="ctr">
                      <a:solidFill>
                        <a:schemeClr val="tx1"/>
                      </a:solidFill>
                      <a:prstDash val="solid"/>
                      <a:round/>
                      <a:headEnd type="none" w="med" len="med"/>
                      <a:tailEnd type="none" w="med" len="med"/>
                    </a:lnT>
                    <a:solidFill>
                      <a:srgbClr val="FFC000"/>
                    </a:solidFill>
                  </a:tcPr>
                </a:tc>
                <a:tc>
                  <a:txBody>
                    <a:bodyPr/>
                    <a:lstStyle/>
                    <a:p>
                      <a:pPr algn="ctr" rtl="0">
                        <a:buNone/>
                      </a:pPr>
                      <a:r>
                        <a:rPr lang="en-US" sz="1200" b="1">
                          <a:solidFill>
                            <a:srgbClr val="1B1C1D"/>
                          </a:solidFill>
                          <a:effectLst/>
                        </a:rPr>
                        <a:t>Dạng thập phân (pi​)</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000"/>
                    </a:solidFill>
                  </a:tcPr>
                </a:tc>
                <a:extLst>
                  <a:ext uri="{0D108BD9-81ED-4DB2-BD59-A6C34878D82A}">
                    <a16:rowId xmlns:a16="http://schemas.microsoft.com/office/drawing/2014/main" val="3684102530"/>
                  </a:ext>
                </a:extLst>
              </a:tr>
              <a:tr h="161161">
                <a:tc>
                  <a:txBody>
                    <a:bodyPr/>
                    <a:lstStyle/>
                    <a:p>
                      <a:pPr algn="ctr" rtl="0">
                        <a:buNone/>
                      </a:pPr>
                      <a:r>
                        <a:rPr lang="en-US" sz="1200" b="1">
                          <a:solidFill>
                            <a:srgbClr val="1B1C1D"/>
                          </a:solidFill>
                          <a:effectLst/>
                        </a:rPr>
                        <a:t>A</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8.17%</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0.08167</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930399711"/>
                  </a:ext>
                </a:extLst>
              </a:tr>
              <a:tr h="161161">
                <a:tc>
                  <a:txBody>
                    <a:bodyPr/>
                    <a:lstStyle/>
                    <a:p>
                      <a:pPr algn="ctr" rtl="0">
                        <a:buNone/>
                      </a:pPr>
                      <a:r>
                        <a:rPr lang="en-US" sz="1200" b="1">
                          <a:solidFill>
                            <a:srgbClr val="1B1C1D"/>
                          </a:solidFill>
                          <a:effectLst/>
                        </a:rPr>
                        <a:t>B</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1.49%</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0.01492</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2982787729"/>
                  </a:ext>
                </a:extLst>
              </a:tr>
              <a:tr h="161161">
                <a:tc>
                  <a:txBody>
                    <a:bodyPr/>
                    <a:lstStyle/>
                    <a:p>
                      <a:pPr algn="ctr" rtl="0">
                        <a:buNone/>
                      </a:pPr>
                      <a:r>
                        <a:rPr lang="en-US" sz="1200" b="1">
                          <a:solidFill>
                            <a:srgbClr val="1B1C1D"/>
                          </a:solidFill>
                          <a:effectLst/>
                        </a:rPr>
                        <a:t>C</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2.78%</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0.02782</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4124063201"/>
                  </a:ext>
                </a:extLst>
              </a:tr>
              <a:tr h="161161">
                <a:tc>
                  <a:txBody>
                    <a:bodyPr/>
                    <a:lstStyle/>
                    <a:p>
                      <a:pPr algn="ctr" rtl="0">
                        <a:buNone/>
                      </a:pPr>
                      <a:r>
                        <a:rPr lang="en-US" sz="1200" b="1">
                          <a:solidFill>
                            <a:srgbClr val="1B1C1D"/>
                          </a:solidFill>
                          <a:effectLst/>
                        </a:rPr>
                        <a:t>D</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4.25%</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0.04253</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164882920"/>
                  </a:ext>
                </a:extLst>
              </a:tr>
              <a:tr h="161161">
                <a:tc>
                  <a:txBody>
                    <a:bodyPr/>
                    <a:lstStyle/>
                    <a:p>
                      <a:pPr algn="ctr" rtl="0">
                        <a:buNone/>
                      </a:pPr>
                      <a:r>
                        <a:rPr lang="en-US" sz="1200" b="1">
                          <a:solidFill>
                            <a:srgbClr val="1B1C1D"/>
                          </a:solidFill>
                          <a:effectLst/>
                        </a:rPr>
                        <a:t>E</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12.70%</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0.12702</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3926610946"/>
                  </a:ext>
                </a:extLst>
              </a:tr>
              <a:tr h="161161">
                <a:tc>
                  <a:txBody>
                    <a:bodyPr/>
                    <a:lstStyle/>
                    <a:p>
                      <a:pPr algn="ctr" rtl="0">
                        <a:buNone/>
                      </a:pPr>
                      <a:r>
                        <a:rPr lang="en-US" sz="1200" b="1">
                          <a:solidFill>
                            <a:srgbClr val="1B1C1D"/>
                          </a:solidFill>
                          <a:effectLst/>
                        </a:rPr>
                        <a:t>F</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2.23%</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0.02228</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65921165"/>
                  </a:ext>
                </a:extLst>
              </a:tr>
              <a:tr h="161161">
                <a:tc>
                  <a:txBody>
                    <a:bodyPr/>
                    <a:lstStyle/>
                    <a:p>
                      <a:pPr algn="ctr" rtl="0">
                        <a:buNone/>
                      </a:pPr>
                      <a:r>
                        <a:rPr lang="en-US" sz="1200" b="1">
                          <a:solidFill>
                            <a:srgbClr val="1B1C1D"/>
                          </a:solidFill>
                          <a:effectLst/>
                        </a:rPr>
                        <a:t>G</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2.02%</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0.02015</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394010529"/>
                  </a:ext>
                </a:extLst>
              </a:tr>
              <a:tr h="161161">
                <a:tc>
                  <a:txBody>
                    <a:bodyPr/>
                    <a:lstStyle/>
                    <a:p>
                      <a:pPr algn="ctr" rtl="0">
                        <a:buNone/>
                      </a:pPr>
                      <a:r>
                        <a:rPr lang="en-US" sz="1200" b="1">
                          <a:solidFill>
                            <a:srgbClr val="1B1C1D"/>
                          </a:solidFill>
                          <a:effectLst/>
                        </a:rPr>
                        <a:t>H</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6.09%</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0.06094</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3585318456"/>
                  </a:ext>
                </a:extLst>
              </a:tr>
              <a:tr h="161161">
                <a:tc>
                  <a:txBody>
                    <a:bodyPr/>
                    <a:lstStyle/>
                    <a:p>
                      <a:pPr algn="ctr" rtl="0">
                        <a:buNone/>
                      </a:pPr>
                      <a:r>
                        <a:rPr lang="en-US" sz="1200" b="1">
                          <a:solidFill>
                            <a:srgbClr val="1B1C1D"/>
                          </a:solidFill>
                          <a:effectLst/>
                        </a:rPr>
                        <a:t>I</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6.97%</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0.06966</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4096303646"/>
                  </a:ext>
                </a:extLst>
              </a:tr>
              <a:tr h="161161">
                <a:tc>
                  <a:txBody>
                    <a:bodyPr/>
                    <a:lstStyle/>
                    <a:p>
                      <a:pPr algn="ctr" rtl="0">
                        <a:buNone/>
                      </a:pPr>
                      <a:r>
                        <a:rPr lang="en-US" sz="1200" b="1">
                          <a:solidFill>
                            <a:srgbClr val="1B1C1D"/>
                          </a:solidFill>
                          <a:effectLst/>
                        </a:rPr>
                        <a:t>J</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0.15%</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0.00153</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747152083"/>
                  </a:ext>
                </a:extLst>
              </a:tr>
              <a:tr h="161161">
                <a:tc>
                  <a:txBody>
                    <a:bodyPr/>
                    <a:lstStyle/>
                    <a:p>
                      <a:pPr algn="ctr" rtl="0">
                        <a:buNone/>
                      </a:pPr>
                      <a:r>
                        <a:rPr lang="en-US" sz="1200" b="1">
                          <a:solidFill>
                            <a:srgbClr val="1B1C1D"/>
                          </a:solidFill>
                          <a:effectLst/>
                        </a:rPr>
                        <a:t>K</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0.77%</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0.00772</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502762763"/>
                  </a:ext>
                </a:extLst>
              </a:tr>
              <a:tr h="161161">
                <a:tc>
                  <a:txBody>
                    <a:bodyPr/>
                    <a:lstStyle/>
                    <a:p>
                      <a:pPr algn="ctr" rtl="0">
                        <a:buNone/>
                      </a:pPr>
                      <a:r>
                        <a:rPr lang="en-US" sz="1200" b="1">
                          <a:solidFill>
                            <a:srgbClr val="1B1C1D"/>
                          </a:solidFill>
                          <a:effectLst/>
                        </a:rPr>
                        <a:t>L</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4.03%</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0.04025</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613505465"/>
                  </a:ext>
                </a:extLst>
              </a:tr>
              <a:tr h="161161">
                <a:tc>
                  <a:txBody>
                    <a:bodyPr/>
                    <a:lstStyle/>
                    <a:p>
                      <a:pPr algn="ctr" rtl="0">
                        <a:buNone/>
                      </a:pPr>
                      <a:r>
                        <a:rPr lang="en-US" sz="1200" b="1">
                          <a:solidFill>
                            <a:srgbClr val="1B1C1D"/>
                          </a:solidFill>
                          <a:effectLst/>
                        </a:rPr>
                        <a:t>M</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2.41%</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0.02406</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1158328858"/>
                  </a:ext>
                </a:extLst>
              </a:tr>
              <a:tr h="161161">
                <a:tc>
                  <a:txBody>
                    <a:bodyPr/>
                    <a:lstStyle/>
                    <a:p>
                      <a:pPr algn="ctr" rtl="0">
                        <a:buNone/>
                      </a:pPr>
                      <a:r>
                        <a:rPr lang="en-US" sz="1200" b="1">
                          <a:solidFill>
                            <a:srgbClr val="1B1C1D"/>
                          </a:solidFill>
                          <a:effectLst/>
                        </a:rPr>
                        <a:t>N</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6.75%</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0.06749</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4010435895"/>
                  </a:ext>
                </a:extLst>
              </a:tr>
              <a:tr h="161161">
                <a:tc>
                  <a:txBody>
                    <a:bodyPr/>
                    <a:lstStyle/>
                    <a:p>
                      <a:pPr algn="ctr" rtl="0">
                        <a:buNone/>
                      </a:pPr>
                      <a:r>
                        <a:rPr lang="en-US" sz="1200" b="1">
                          <a:solidFill>
                            <a:srgbClr val="1B1C1D"/>
                          </a:solidFill>
                          <a:effectLst/>
                        </a:rPr>
                        <a:t>O</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7.51%</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0.07507</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3754019548"/>
                  </a:ext>
                </a:extLst>
              </a:tr>
              <a:tr h="161161">
                <a:tc>
                  <a:txBody>
                    <a:bodyPr/>
                    <a:lstStyle/>
                    <a:p>
                      <a:pPr algn="ctr" rtl="0">
                        <a:buNone/>
                      </a:pPr>
                      <a:r>
                        <a:rPr lang="en-US" sz="1200" b="1">
                          <a:solidFill>
                            <a:srgbClr val="1B1C1D"/>
                          </a:solidFill>
                          <a:effectLst/>
                        </a:rPr>
                        <a:t>P</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1.93%</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0.01929</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1189689664"/>
                  </a:ext>
                </a:extLst>
              </a:tr>
              <a:tr h="161161">
                <a:tc>
                  <a:txBody>
                    <a:bodyPr/>
                    <a:lstStyle/>
                    <a:p>
                      <a:pPr algn="ctr" rtl="0">
                        <a:buNone/>
                      </a:pPr>
                      <a:r>
                        <a:rPr lang="en-US" sz="1200" b="1">
                          <a:solidFill>
                            <a:srgbClr val="1B1C1D"/>
                          </a:solidFill>
                          <a:effectLst/>
                        </a:rPr>
                        <a:t>Q</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0.10%</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0.00095</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916223026"/>
                  </a:ext>
                </a:extLst>
              </a:tr>
              <a:tr h="161161">
                <a:tc>
                  <a:txBody>
                    <a:bodyPr/>
                    <a:lstStyle/>
                    <a:p>
                      <a:pPr algn="ctr" rtl="0">
                        <a:buNone/>
                      </a:pPr>
                      <a:r>
                        <a:rPr lang="en-US" sz="1200" b="1">
                          <a:solidFill>
                            <a:srgbClr val="1B1C1D"/>
                          </a:solidFill>
                          <a:effectLst/>
                        </a:rPr>
                        <a:t>R</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5.99%</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0.05987</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944656799"/>
                  </a:ext>
                </a:extLst>
              </a:tr>
              <a:tr h="161161">
                <a:tc>
                  <a:txBody>
                    <a:bodyPr/>
                    <a:lstStyle/>
                    <a:p>
                      <a:pPr algn="ctr" rtl="0">
                        <a:buNone/>
                      </a:pPr>
                      <a:r>
                        <a:rPr lang="en-US" sz="1200" b="1">
                          <a:solidFill>
                            <a:srgbClr val="1B1C1D"/>
                          </a:solidFill>
                          <a:effectLst/>
                        </a:rPr>
                        <a:t>S</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6.33%</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0.06327</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4013556113"/>
                  </a:ext>
                </a:extLst>
              </a:tr>
              <a:tr h="161161">
                <a:tc>
                  <a:txBody>
                    <a:bodyPr/>
                    <a:lstStyle/>
                    <a:p>
                      <a:pPr algn="ctr" rtl="0">
                        <a:buNone/>
                      </a:pPr>
                      <a:r>
                        <a:rPr lang="en-US" sz="1200" b="1">
                          <a:solidFill>
                            <a:srgbClr val="1B1C1D"/>
                          </a:solidFill>
                          <a:effectLst/>
                        </a:rPr>
                        <a:t>T</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9.06%</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0.09056</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42543097"/>
                  </a:ext>
                </a:extLst>
              </a:tr>
              <a:tr h="161161">
                <a:tc>
                  <a:txBody>
                    <a:bodyPr/>
                    <a:lstStyle/>
                    <a:p>
                      <a:pPr algn="ctr" rtl="0">
                        <a:buNone/>
                      </a:pPr>
                      <a:r>
                        <a:rPr lang="en-US" sz="1200" b="1">
                          <a:solidFill>
                            <a:srgbClr val="1B1C1D"/>
                          </a:solidFill>
                          <a:effectLst/>
                        </a:rPr>
                        <a:t>U</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2.76%</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0.02758</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3647627581"/>
                  </a:ext>
                </a:extLst>
              </a:tr>
              <a:tr h="161161">
                <a:tc>
                  <a:txBody>
                    <a:bodyPr/>
                    <a:lstStyle/>
                    <a:p>
                      <a:pPr algn="ctr" rtl="0">
                        <a:buNone/>
                      </a:pPr>
                      <a:r>
                        <a:rPr lang="en-US" sz="1200" b="1">
                          <a:solidFill>
                            <a:srgbClr val="1B1C1D"/>
                          </a:solidFill>
                          <a:effectLst/>
                        </a:rPr>
                        <a:t>V</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0.98%</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0.00978</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3831148758"/>
                  </a:ext>
                </a:extLst>
              </a:tr>
              <a:tr h="161161">
                <a:tc>
                  <a:txBody>
                    <a:bodyPr/>
                    <a:lstStyle/>
                    <a:p>
                      <a:pPr algn="ctr" rtl="0">
                        <a:buNone/>
                      </a:pPr>
                      <a:r>
                        <a:rPr lang="en-US" sz="1200" b="1">
                          <a:solidFill>
                            <a:srgbClr val="1B1C1D"/>
                          </a:solidFill>
                          <a:effectLst/>
                        </a:rPr>
                        <a:t>W</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2.36%</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0.02360</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251142286"/>
                  </a:ext>
                </a:extLst>
              </a:tr>
              <a:tr h="161161">
                <a:tc>
                  <a:txBody>
                    <a:bodyPr/>
                    <a:lstStyle/>
                    <a:p>
                      <a:pPr algn="ctr" rtl="0">
                        <a:buNone/>
                      </a:pPr>
                      <a:r>
                        <a:rPr lang="en-US" sz="1200" b="1">
                          <a:solidFill>
                            <a:srgbClr val="1B1C1D"/>
                          </a:solidFill>
                          <a:effectLst/>
                        </a:rPr>
                        <a:t>X</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0.15%</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0.00150</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878790468"/>
                  </a:ext>
                </a:extLst>
              </a:tr>
              <a:tr h="161161">
                <a:tc>
                  <a:txBody>
                    <a:bodyPr/>
                    <a:lstStyle/>
                    <a:p>
                      <a:pPr algn="ctr" rtl="0">
                        <a:buNone/>
                      </a:pPr>
                      <a:r>
                        <a:rPr lang="en-US" sz="1200" b="1">
                          <a:solidFill>
                            <a:srgbClr val="1B1C1D"/>
                          </a:solidFill>
                          <a:effectLst/>
                        </a:rPr>
                        <a:t>Y</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solidFill>
                      <a:srgbClr val="A0B0DC"/>
                    </a:solidFill>
                  </a:tcPr>
                </a:tc>
                <a:tc>
                  <a:txBody>
                    <a:bodyPr/>
                    <a:lstStyle/>
                    <a:p>
                      <a:pPr algn="ctr" rtl="0">
                        <a:buNone/>
                      </a:pPr>
                      <a:r>
                        <a:rPr lang="en-US" sz="1200">
                          <a:solidFill>
                            <a:srgbClr val="1B1C1D"/>
                          </a:solidFill>
                          <a:effectLst/>
                        </a:rPr>
                        <a:t>1.97%</a:t>
                      </a:r>
                      <a:endParaRPr lang="en-US" sz="1200">
                        <a:solidFill>
                          <a:srgbClr val="1B1C1D"/>
                        </a:solidFill>
                        <a:effectLst/>
                        <a:latin typeface="Google Sans Text"/>
                      </a:endParaRPr>
                    </a:p>
                  </a:txBody>
                  <a:tcPr marL="43168" marR="43168" marT="28779" marB="28779" anchor="ctr">
                    <a:solidFill>
                      <a:srgbClr val="A0B0DC"/>
                    </a:solidFill>
                  </a:tcPr>
                </a:tc>
                <a:tc>
                  <a:txBody>
                    <a:bodyPr/>
                    <a:lstStyle/>
                    <a:p>
                      <a:pPr algn="ctr" rtl="0">
                        <a:buNone/>
                      </a:pPr>
                      <a:r>
                        <a:rPr lang="en-US" sz="1200">
                          <a:solidFill>
                            <a:srgbClr val="1B1C1D"/>
                          </a:solidFill>
                          <a:effectLst/>
                        </a:rPr>
                        <a:t>0.01974</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solidFill>
                      <a:srgbClr val="A0B0DC"/>
                    </a:solidFill>
                  </a:tcPr>
                </a:tc>
                <a:extLst>
                  <a:ext uri="{0D108BD9-81ED-4DB2-BD59-A6C34878D82A}">
                    <a16:rowId xmlns:a16="http://schemas.microsoft.com/office/drawing/2014/main" val="4072167052"/>
                  </a:ext>
                </a:extLst>
              </a:tr>
              <a:tr h="0">
                <a:tc>
                  <a:txBody>
                    <a:bodyPr/>
                    <a:lstStyle/>
                    <a:p>
                      <a:pPr algn="ctr" rtl="0">
                        <a:buNone/>
                      </a:pPr>
                      <a:r>
                        <a:rPr lang="en-US" sz="1200" b="1">
                          <a:solidFill>
                            <a:srgbClr val="1B1C1D"/>
                          </a:solidFill>
                          <a:effectLst/>
                        </a:rPr>
                        <a:t>Z</a:t>
                      </a:r>
                      <a:endParaRPr lang="en-US" sz="1200">
                        <a:solidFill>
                          <a:srgbClr val="1B1C1D"/>
                        </a:solidFill>
                        <a:effectLst/>
                        <a:latin typeface="Google Sans Text"/>
                      </a:endParaRPr>
                    </a:p>
                  </a:txBody>
                  <a:tcPr marL="43168" marR="43168" marT="28779" marB="28779"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A0B0DC"/>
                    </a:solidFill>
                  </a:tcPr>
                </a:tc>
                <a:tc>
                  <a:txBody>
                    <a:bodyPr/>
                    <a:lstStyle/>
                    <a:p>
                      <a:pPr algn="ctr" rtl="0">
                        <a:buNone/>
                      </a:pPr>
                      <a:r>
                        <a:rPr lang="en-US" sz="1200">
                          <a:solidFill>
                            <a:srgbClr val="1B1C1D"/>
                          </a:solidFill>
                          <a:effectLst/>
                        </a:rPr>
                        <a:t>0.07%</a:t>
                      </a:r>
                      <a:endParaRPr lang="en-US" sz="1200">
                        <a:solidFill>
                          <a:srgbClr val="1B1C1D"/>
                        </a:solidFill>
                        <a:effectLst/>
                        <a:latin typeface="Google Sans Text"/>
                      </a:endParaRPr>
                    </a:p>
                  </a:txBody>
                  <a:tcPr marL="43168" marR="43168" marT="28779" marB="28779" anchor="ctr">
                    <a:lnB w="12700" cap="flat" cmpd="sng" algn="ctr">
                      <a:solidFill>
                        <a:schemeClr val="tx1"/>
                      </a:solidFill>
                      <a:prstDash val="solid"/>
                      <a:round/>
                      <a:headEnd type="none" w="med" len="med"/>
                      <a:tailEnd type="none" w="med" len="med"/>
                    </a:lnB>
                    <a:solidFill>
                      <a:srgbClr val="A0B0DC"/>
                    </a:solidFill>
                  </a:tcPr>
                </a:tc>
                <a:tc>
                  <a:txBody>
                    <a:bodyPr/>
                    <a:lstStyle/>
                    <a:p>
                      <a:pPr algn="ctr" rtl="0">
                        <a:buNone/>
                      </a:pPr>
                      <a:r>
                        <a:rPr lang="en-US" sz="1200">
                          <a:solidFill>
                            <a:srgbClr val="1B1C1D"/>
                          </a:solidFill>
                          <a:effectLst/>
                        </a:rPr>
                        <a:t>0.00074</a:t>
                      </a:r>
                      <a:endParaRPr lang="en-US" sz="1200">
                        <a:solidFill>
                          <a:srgbClr val="1B1C1D"/>
                        </a:solidFill>
                        <a:effectLst/>
                        <a:latin typeface="Google Sans Text"/>
                      </a:endParaRPr>
                    </a:p>
                  </a:txBody>
                  <a:tcPr marL="43168" marR="43168" marT="28779" marB="28779"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A0B0DC"/>
                    </a:solidFill>
                  </a:tcPr>
                </a:tc>
                <a:extLst>
                  <a:ext uri="{0D108BD9-81ED-4DB2-BD59-A6C34878D82A}">
                    <a16:rowId xmlns:a16="http://schemas.microsoft.com/office/drawing/2014/main" val="1041812422"/>
                  </a:ext>
                </a:extLst>
              </a:tr>
            </a:tbl>
          </a:graphicData>
        </a:graphic>
      </p:graphicFrame>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C559A7F-CC83-0459-30AF-8AE15FE6D1F6}"/>
                  </a:ext>
                </a:extLst>
              </p:cNvPr>
              <p:cNvSpPr txBox="1"/>
              <p:nvPr/>
            </p:nvSpPr>
            <p:spPr>
              <a:xfrm>
                <a:off x="5445932" y="3526428"/>
                <a:ext cx="378434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𝑚</m:t>
                        </m:r>
                      </m:sub>
                    </m:sSub>
                  </m:oMath>
                </a14:m>
                <a:r>
                  <a:rPr lang="en-US"/>
                  <a:t> là số lượng ký tự của K</a:t>
                </a:r>
                <a:r>
                  <a:rPr lang="en-US" baseline="-25000"/>
                  <a:t>m</a:t>
                </a:r>
                <a:r>
                  <a:rPr lang="en-US"/>
                  <a:t>)</a:t>
                </a:r>
              </a:p>
            </p:txBody>
          </p:sp>
        </mc:Choice>
        <mc:Fallback xmlns="">
          <p:sp>
            <p:nvSpPr>
              <p:cNvPr id="30" name="TextBox 29">
                <a:extLst>
                  <a:ext uri="{FF2B5EF4-FFF2-40B4-BE49-F238E27FC236}">
                    <a16:creationId xmlns:a16="http://schemas.microsoft.com/office/drawing/2014/main" id="{3C559A7F-CC83-0459-30AF-8AE15FE6D1F6}"/>
                  </a:ext>
                </a:extLst>
              </p:cNvPr>
              <p:cNvSpPr txBox="1">
                <a:spLocks noRot="1" noChangeAspect="1" noMove="1" noResize="1" noEditPoints="1" noAdjustHandles="1" noChangeArrowheads="1" noChangeShapeType="1" noTextEdit="1"/>
              </p:cNvSpPr>
              <p:nvPr/>
            </p:nvSpPr>
            <p:spPr>
              <a:xfrm>
                <a:off x="5445932" y="3526428"/>
                <a:ext cx="3784348" cy="369332"/>
              </a:xfrm>
              <a:prstGeom prst="rect">
                <a:avLst/>
              </a:prstGeom>
              <a:blipFill>
                <a:blip r:embed="rId5"/>
                <a:stretch>
                  <a:fillRect l="-483"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DFC96C4-7B97-DA3B-E4FC-0DF61D021BC4}"/>
                  </a:ext>
                </a:extLst>
              </p:cNvPr>
              <p:cNvSpPr txBox="1"/>
              <p:nvPr/>
            </p:nvSpPr>
            <p:spPr>
              <a:xfrm>
                <a:off x="282912" y="5408073"/>
                <a:ext cx="7937634" cy="894797"/>
              </a:xfrm>
              <a:prstGeom prst="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marL="0" marR="0" algn="just">
                  <a:lnSpc>
                    <a:spcPct val="150000"/>
                  </a:lnSpc>
                  <a:spcAft>
                    <a:spcPts val="800"/>
                  </a:spcAft>
                  <a:buNone/>
                </a:pPr>
                <a:r>
                  <a:rPr lang="en-US" sz="1800" kern="100">
                    <a:effectLst/>
                    <a:latin typeface="Calibri "/>
                    <a:ea typeface="Times New Roman" panose="02020603050405020304" pitchFamily="18" charset="0"/>
                    <a:cs typeface="Times New Roman" panose="02020603050405020304" pitchFamily="18" charset="0"/>
                  </a:rPr>
                  <a:t>Sau khi tính xong, chúng ta sẽ có một danh sách các </a:t>
                </a:r>
                <a14:m>
                  <m:oMath xmlns:m="http://schemas.openxmlformats.org/officeDocument/2006/math">
                    <m:sSup>
                      <m:s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p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𝑥</m:t>
                        </m:r>
                      </m:e>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2</m:t>
                        </m:r>
                      </m:sup>
                    </m:sSup>
                  </m:oMath>
                </a14:m>
                <a:r>
                  <a:rPr lang="en-US" sz="1800" kern="100">
                    <a:effectLst/>
                    <a:latin typeface="Calibri "/>
                    <a:ea typeface="Times New Roman" panose="02020603050405020304" pitchFamily="18" charset="0"/>
                    <a:cs typeface="Times New Roman" panose="02020603050405020304" pitchFamily="18" charset="0"/>
                  </a:rPr>
                  <a:t> tương ứng cho 26 ký tự khóa mà chúng ta đã dịch. Ký tự có khả năng cao là khóa là ký tự có </a:t>
                </a:r>
                <a14:m>
                  <m:oMath xmlns:m="http://schemas.openxmlformats.org/officeDocument/2006/math">
                    <m:sSup>
                      <m:sSup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p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𝑥</m:t>
                        </m:r>
                      </m:e>
                      <m:sup>
                        <m:r>
                          <a:rPr lang="en-US" sz="1800" i="1" kern="100">
                            <a:effectLst/>
                            <a:latin typeface="Cambria Math" panose="02040503050406030204" pitchFamily="18" charset="0"/>
                            <a:ea typeface="Aptos" panose="020B0004020202020204" pitchFamily="34" charset="0"/>
                            <a:cs typeface="Times New Roman" panose="02020603050405020304" pitchFamily="18" charset="0"/>
                          </a:rPr>
                          <m:t>2</m:t>
                        </m:r>
                      </m:sup>
                    </m:sSup>
                  </m:oMath>
                </a14:m>
                <a:r>
                  <a:rPr lang="en-US" sz="1800" kern="100">
                    <a:effectLst/>
                    <a:latin typeface="Calibri "/>
                    <a:ea typeface="Times New Roman" panose="02020603050405020304" pitchFamily="18" charset="0"/>
                    <a:cs typeface="Times New Roman" panose="02020603050405020304" pitchFamily="18" charset="0"/>
                  </a:rPr>
                  <a:t> nhỏ nhất.</a:t>
                </a:r>
                <a:endParaRPr lang="en-US" sz="1800" kern="100">
                  <a:effectLst/>
                  <a:latin typeface="Calibri "/>
                  <a:ea typeface="Aptos" panose="020B0004020202020204" pitchFamily="34" charset="0"/>
                  <a:cs typeface="Times New Roman" panose="02020603050405020304" pitchFamily="18" charset="0"/>
                </a:endParaRPr>
              </a:p>
            </p:txBody>
          </p:sp>
        </mc:Choice>
        <mc:Fallback xmlns="">
          <p:sp>
            <p:nvSpPr>
              <p:cNvPr id="32" name="TextBox 31">
                <a:extLst>
                  <a:ext uri="{FF2B5EF4-FFF2-40B4-BE49-F238E27FC236}">
                    <a16:creationId xmlns:a16="http://schemas.microsoft.com/office/drawing/2014/main" id="{ADFC96C4-7B97-DA3B-E4FC-0DF61D021BC4}"/>
                  </a:ext>
                </a:extLst>
              </p:cNvPr>
              <p:cNvSpPr txBox="1">
                <a:spLocks noRot="1" noChangeAspect="1" noMove="1" noResize="1" noEditPoints="1" noAdjustHandles="1" noChangeArrowheads="1" noChangeShapeType="1" noTextEdit="1"/>
              </p:cNvSpPr>
              <p:nvPr/>
            </p:nvSpPr>
            <p:spPr>
              <a:xfrm>
                <a:off x="282912" y="5408073"/>
                <a:ext cx="7937634" cy="894797"/>
              </a:xfrm>
              <a:prstGeom prst="rect">
                <a:avLst/>
              </a:prstGeom>
              <a:blipFill>
                <a:blip r:embed="rId6"/>
                <a:stretch>
                  <a:fillRect l="-536" r="-536" b="-7383"/>
                </a:stretch>
              </a:blipFill>
            </p:spPr>
            <p:txBody>
              <a:bodyPr/>
              <a:lstStyle/>
              <a:p>
                <a:r>
                  <a:rPr lang="en-US">
                    <a:noFill/>
                  </a:rPr>
                  <a:t> </a:t>
                </a:r>
              </a:p>
            </p:txBody>
          </p:sp>
        </mc:Fallback>
      </mc:AlternateContent>
    </p:spTree>
    <p:extLst>
      <p:ext uri="{BB962C8B-B14F-4D97-AF65-F5344CB8AC3E}">
        <p14:creationId xmlns:p14="http://schemas.microsoft.com/office/powerpoint/2010/main" val="2943171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EA93D-DCA7-D300-310C-A15FB261D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7926FA-AF78-FA47-A8CA-6D540782BFF5}"/>
              </a:ext>
            </a:extLst>
          </p:cNvPr>
          <p:cNvSpPr>
            <a:spLocks noGrp="1"/>
          </p:cNvSpPr>
          <p:nvPr>
            <p:ph type="title"/>
          </p:nvPr>
        </p:nvSpPr>
        <p:spPr>
          <a:xfrm>
            <a:off x="4314731" y="119586"/>
            <a:ext cx="4032564" cy="766558"/>
          </a:xfrm>
        </p:spPr>
        <p:txBody>
          <a:bodyPr>
            <a:normAutofit/>
          </a:bodyPr>
          <a:lstStyle/>
          <a:p>
            <a:r>
              <a:rPr lang="en-US" sz="3000" b="1">
                <a:latin typeface="Arial" panose="020B0604020202020204" pitchFamily="34" charset="0"/>
                <a:cs typeface="Arial" panose="020B0604020202020204" pitchFamily="34" charset="0"/>
              </a:rPr>
              <a:t>4. Thực hiện giải mã</a:t>
            </a:r>
          </a:p>
        </p:txBody>
      </p:sp>
      <p:sp>
        <p:nvSpPr>
          <p:cNvPr id="7" name="Content Placeholder 2">
            <a:extLst>
              <a:ext uri="{FF2B5EF4-FFF2-40B4-BE49-F238E27FC236}">
                <a16:creationId xmlns:a16="http://schemas.microsoft.com/office/drawing/2014/main" id="{1DE86F5B-47EB-5556-BEC7-8E42E8161997}"/>
              </a:ext>
            </a:extLst>
          </p:cNvPr>
          <p:cNvSpPr txBox="1">
            <a:spLocks/>
          </p:cNvSpPr>
          <p:nvPr/>
        </p:nvSpPr>
        <p:spPr>
          <a:xfrm>
            <a:off x="923924" y="2858733"/>
            <a:ext cx="10429875" cy="24466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228600">
              <a:lnSpc>
                <a:spcPct val="150000"/>
              </a:lnSpc>
              <a:buNone/>
              <a:tabLst>
                <a:tab pos="228600" algn="l"/>
              </a:tabLst>
            </a:pPr>
            <a:endParaRPr lang="en-US" sz="2000">
              <a:latin typeface="Calibri (Body)"/>
            </a:endParaRPr>
          </a:p>
        </p:txBody>
      </p:sp>
      <p:sp>
        <p:nvSpPr>
          <p:cNvPr id="9" name="TextBox 8">
            <a:extLst>
              <a:ext uri="{FF2B5EF4-FFF2-40B4-BE49-F238E27FC236}">
                <a16:creationId xmlns:a16="http://schemas.microsoft.com/office/drawing/2014/main" id="{8B8F0740-9301-B07D-3D31-8C1E9C789202}"/>
              </a:ext>
            </a:extLst>
          </p:cNvPr>
          <p:cNvSpPr txBox="1"/>
          <p:nvPr/>
        </p:nvSpPr>
        <p:spPr>
          <a:xfrm>
            <a:off x="923924" y="1191584"/>
            <a:ext cx="5273927" cy="506292"/>
          </a:xfrm>
          <a:prstGeom prst="rect">
            <a:avLst/>
          </a:prstGeom>
          <a:noFill/>
        </p:spPr>
        <p:txBody>
          <a:bodyPr wrap="square">
            <a:spAutoFit/>
          </a:bodyPr>
          <a:lstStyle/>
          <a:p>
            <a:pPr marR="0" lvl="0" algn="just">
              <a:lnSpc>
                <a:spcPct val="150000"/>
              </a:lnSpc>
            </a:pPr>
            <a:r>
              <a:rPr lang="en-US" sz="2000" b="1" kern="100">
                <a:effectLst/>
                <a:ea typeface="Aptos" panose="020B0004020202020204" pitchFamily="34" charset="0"/>
                <a:cs typeface="Times New Roman" panose="02020603050405020304" pitchFamily="18" charset="0"/>
              </a:rPr>
              <a:t>Chúng ta có bản mã (không biết khóa) như sau:</a:t>
            </a:r>
            <a:endParaRPr lang="en-US" sz="2000" kern="100">
              <a:effectLst/>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76EA7FD-5C42-0F48-57E0-69B7967D158E}"/>
              </a:ext>
            </a:extLst>
          </p:cNvPr>
          <p:cNvSpPr txBox="1"/>
          <p:nvPr/>
        </p:nvSpPr>
        <p:spPr>
          <a:xfrm>
            <a:off x="1200196" y="1702754"/>
            <a:ext cx="9591536" cy="967957"/>
          </a:xfrm>
          <a:prstGeom prst="rect">
            <a:avLst/>
          </a:prstGeom>
          <a:noFill/>
        </p:spPr>
        <p:txBody>
          <a:bodyPr wrap="square">
            <a:spAutoFit/>
          </a:bodyPr>
          <a:lstStyle/>
          <a:p>
            <a:pPr marR="0" lvl="0" algn="just">
              <a:lnSpc>
                <a:spcPct val="150000"/>
              </a:lnSpc>
            </a:pPr>
            <a:r>
              <a:rPr lang="en-US" sz="2000"/>
              <a:t>“PeogrzqngcgbxerqunrNxxekiogpaegtrquwqwgPeogrzqngcrnpakqugfagfdxuekvyhwNxxekiogpafckxaonerrPeogrzqngcstaghqduaeGgvxtghpntveenaeketpdawrmaon “</a:t>
            </a:r>
            <a:endParaRPr lang="en-US" sz="2000" kern="100">
              <a:effectLst/>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9755A491-17A8-0B11-84D6-FAC09CD931C2}"/>
              </a:ext>
            </a:extLst>
          </p:cNvPr>
          <p:cNvSpPr txBox="1"/>
          <p:nvPr/>
        </p:nvSpPr>
        <p:spPr>
          <a:xfrm>
            <a:off x="923923" y="2870103"/>
            <a:ext cx="9614311" cy="506292"/>
          </a:xfrm>
          <a:prstGeom prst="rect">
            <a:avLst/>
          </a:prstGeom>
          <a:noFill/>
        </p:spPr>
        <p:txBody>
          <a:bodyPr wrap="square">
            <a:spAutoFit/>
          </a:bodyPr>
          <a:lstStyle/>
          <a:p>
            <a:pPr algn="just">
              <a:lnSpc>
                <a:spcPct val="150000"/>
              </a:lnSpc>
            </a:pPr>
            <a:r>
              <a:rPr lang="en-US" sz="2000" b="1" kern="100">
                <a:ea typeface="Aptos" panose="020B0004020202020204" pitchFamily="34" charset="0"/>
                <a:cs typeface="Times New Roman" panose="02020603050405020304" pitchFamily="18" charset="0"/>
              </a:rPr>
              <a:t>Sử dụng Kasiski để ước lượng độ dài khóa (Quy định chuỗi lặp lại tối thiểu là 10 ký tự)</a:t>
            </a:r>
          </a:p>
        </p:txBody>
      </p:sp>
      <p:sp>
        <p:nvSpPr>
          <p:cNvPr id="8" name="TextBox 7">
            <a:extLst>
              <a:ext uri="{FF2B5EF4-FFF2-40B4-BE49-F238E27FC236}">
                <a16:creationId xmlns:a16="http://schemas.microsoft.com/office/drawing/2014/main" id="{E3AA8B7B-8EC7-9CAC-9007-0E11FDC12413}"/>
              </a:ext>
            </a:extLst>
          </p:cNvPr>
          <p:cNvSpPr txBox="1"/>
          <p:nvPr/>
        </p:nvSpPr>
        <p:spPr>
          <a:xfrm>
            <a:off x="923922" y="3589792"/>
            <a:ext cx="9614311" cy="965970"/>
          </a:xfrm>
          <a:prstGeom prst="rect">
            <a:avLst/>
          </a:prstGeom>
          <a:noFill/>
        </p:spPr>
        <p:txBody>
          <a:bodyPr wrap="square">
            <a:spAutoFit/>
          </a:bodyPr>
          <a:lstStyle/>
          <a:p>
            <a:pPr algn="just">
              <a:lnSpc>
                <a:spcPct val="150000"/>
              </a:lnSpc>
            </a:pPr>
            <a:r>
              <a:rPr lang="vi-VN" sz="2000" b="1">
                <a:latin typeface="Calibri" panose="020F0502020204030204" pitchFamily="34" charset="0"/>
                <a:cs typeface="Calibri" panose="020F0502020204030204" pitchFamily="34" charset="0"/>
              </a:rPr>
              <a:t>Phân tích tần suất bằng phương pháp Ch</a:t>
            </a:r>
            <a:r>
              <a:rPr lang="en-US" sz="2000" b="1">
                <a:latin typeface="Calibri" panose="020F0502020204030204" pitchFamily="34" charset="0"/>
                <a:cs typeface="Calibri" panose="020F0502020204030204" pitchFamily="34" charset="0"/>
              </a:rPr>
              <a:t>i bình phương</a:t>
            </a:r>
            <a:r>
              <a:rPr lang="vi-VN" sz="2000" b="1">
                <a:latin typeface="Calibri" panose="020F0502020204030204" pitchFamily="34" charset="0"/>
                <a:cs typeface="Calibri" panose="020F0502020204030204" pitchFamily="34" charset="0"/>
              </a:rPr>
              <a:t> dựa trên bảng chữ cái tiếng Anh và tần suất xuất hiện chuẩn của từng ký tự.</a:t>
            </a:r>
            <a:endParaRPr lang="en-US" sz="2000" b="1" kern="100">
              <a:latin typeface="Calibri" panose="020F0502020204030204" pitchFamily="34" charset="0"/>
              <a:ea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1472149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3CCB5-3A3B-94AF-755C-207921C41E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417D01-50CD-4B96-EA2A-81045D7C80FE}"/>
              </a:ext>
            </a:extLst>
          </p:cNvPr>
          <p:cNvSpPr>
            <a:spLocks noGrp="1"/>
          </p:cNvSpPr>
          <p:nvPr>
            <p:ph idx="1"/>
          </p:nvPr>
        </p:nvSpPr>
        <p:spPr>
          <a:xfrm>
            <a:off x="1421865" y="2992673"/>
            <a:ext cx="9048751" cy="1294647"/>
          </a:xfrm>
        </p:spPr>
        <p:style>
          <a:lnRef idx="3">
            <a:schemeClr val="lt1"/>
          </a:lnRef>
          <a:fillRef idx="1">
            <a:schemeClr val="dk1"/>
          </a:fillRef>
          <a:effectRef idx="1">
            <a:schemeClr val="dk1"/>
          </a:effectRef>
          <a:fontRef idx="minor">
            <a:schemeClr val="lt1"/>
          </a:fontRef>
        </p:style>
        <p:txBody>
          <a:bodyPr>
            <a:noAutofit/>
          </a:bodyPr>
          <a:lstStyle/>
          <a:p>
            <a:pPr marL="0" indent="0" algn="just">
              <a:lnSpc>
                <a:spcPct val="150000"/>
              </a:lnSpc>
              <a:buNone/>
            </a:pPr>
            <a:r>
              <a:rPr lang="en-US" sz="2000">
                <a:latin typeface="Calibri" panose="020F0502020204030204" pitchFamily="34" charset="0"/>
                <a:cs typeface="Calibri" panose="020F0502020204030204" pitchFamily="34" charset="0"/>
              </a:rPr>
              <a:t>Khoảng cách giữa </a:t>
            </a:r>
            <a:r>
              <a:rPr lang="en-US" sz="2000" kern="100">
                <a:solidFill>
                  <a:srgbClr val="FF3737"/>
                </a:solidFill>
                <a:latin typeface="Calibri "/>
                <a:ea typeface="Aptos" panose="020B0004020202020204" pitchFamily="34" charset="0"/>
                <a:cs typeface="Times New Roman" panose="02020603050405020304" pitchFamily="18" charset="0"/>
              </a:rPr>
              <a:t>Peogrzqngc</a:t>
            </a:r>
            <a:r>
              <a:rPr lang="en-US" sz="2000" kern="100" baseline="-25000">
                <a:solidFill>
                  <a:srgbClr val="FF3737"/>
                </a:solidFill>
                <a:latin typeface="Calibri "/>
                <a:ea typeface="Aptos" panose="020B0004020202020204" pitchFamily="34" charset="0"/>
                <a:cs typeface="Times New Roman" panose="02020603050405020304" pitchFamily="18" charset="0"/>
              </a:rPr>
              <a:t>1</a:t>
            </a:r>
            <a:r>
              <a:rPr lang="en-US" sz="2000" kern="100">
                <a:solidFill>
                  <a:srgbClr val="FF3737"/>
                </a:solidFill>
                <a:latin typeface="Calibri "/>
                <a:ea typeface="Aptos" panose="020B0004020202020204" pitchFamily="34" charset="0"/>
                <a:cs typeface="Times New Roman" panose="02020603050405020304" pitchFamily="18" charset="0"/>
              </a:rPr>
              <a:t> </a:t>
            </a:r>
            <a:r>
              <a:rPr lang="en-US" sz="2000" kern="100">
                <a:latin typeface="Calibri "/>
                <a:ea typeface="Aptos" panose="020B0004020202020204" pitchFamily="34" charset="0"/>
                <a:cs typeface="Times New Roman" panose="02020603050405020304" pitchFamily="18" charset="0"/>
              </a:rPr>
              <a:t>và  </a:t>
            </a:r>
            <a:r>
              <a:rPr lang="en-US" sz="2000" kern="100">
                <a:solidFill>
                  <a:srgbClr val="FF3737"/>
                </a:solidFill>
                <a:latin typeface="Calibri "/>
                <a:ea typeface="Aptos" panose="020B0004020202020204" pitchFamily="34" charset="0"/>
                <a:cs typeface="Times New Roman" panose="02020603050405020304" pitchFamily="18" charset="0"/>
              </a:rPr>
              <a:t>Peogrzqngc</a:t>
            </a:r>
            <a:r>
              <a:rPr lang="en-US" sz="2000" kern="100" baseline="-25000">
                <a:solidFill>
                  <a:srgbClr val="FF3737"/>
                </a:solidFill>
                <a:latin typeface="Calibri "/>
                <a:ea typeface="Aptos" panose="020B0004020202020204" pitchFamily="34" charset="0"/>
                <a:cs typeface="Times New Roman" panose="02020603050405020304" pitchFamily="18" charset="0"/>
              </a:rPr>
              <a:t>2</a:t>
            </a:r>
            <a:r>
              <a:rPr lang="en-US" sz="2000" kern="100">
                <a:solidFill>
                  <a:srgbClr val="FF3737"/>
                </a:solidFill>
                <a:latin typeface="Calibri "/>
                <a:ea typeface="Aptos" panose="020B0004020202020204" pitchFamily="34" charset="0"/>
                <a:cs typeface="Times New Roman" panose="02020603050405020304" pitchFamily="18" charset="0"/>
              </a:rPr>
              <a:t> </a:t>
            </a:r>
            <a:r>
              <a:rPr lang="en-US" sz="2000" kern="100">
                <a:latin typeface="Calibri "/>
                <a:ea typeface="Aptos" panose="020B0004020202020204" pitchFamily="34" charset="0"/>
                <a:cs typeface="Times New Roman" panose="02020603050405020304" pitchFamily="18" charset="0"/>
              </a:rPr>
              <a:t>là 39. Các ước số là {1, 3, 13, 39}</a:t>
            </a:r>
          </a:p>
          <a:p>
            <a:pPr marL="0" indent="0" algn="just">
              <a:lnSpc>
                <a:spcPct val="150000"/>
              </a:lnSpc>
              <a:buNone/>
            </a:pPr>
            <a:r>
              <a:rPr lang="en-US" sz="2000" kern="100">
                <a:latin typeface="Calibri "/>
                <a:ea typeface="Aptos" panose="020B0004020202020204" pitchFamily="34" charset="0"/>
                <a:cs typeface="Times New Roman" panose="02020603050405020304" pitchFamily="18" charset="0"/>
              </a:rPr>
              <a:t>Khoảng cách giữa </a:t>
            </a:r>
            <a:r>
              <a:rPr lang="en-US" sz="2000" kern="100">
                <a:solidFill>
                  <a:srgbClr val="FF3737"/>
                </a:solidFill>
                <a:latin typeface="Calibri "/>
                <a:ea typeface="Aptos" panose="020B0004020202020204" pitchFamily="34" charset="0"/>
                <a:cs typeface="Times New Roman" panose="02020603050405020304" pitchFamily="18" charset="0"/>
              </a:rPr>
              <a:t>Peogrzqngc</a:t>
            </a:r>
            <a:r>
              <a:rPr lang="en-US" sz="2000" kern="100" baseline="-25000">
                <a:solidFill>
                  <a:srgbClr val="FF3737"/>
                </a:solidFill>
                <a:latin typeface="Calibri "/>
                <a:ea typeface="Aptos" panose="020B0004020202020204" pitchFamily="34" charset="0"/>
                <a:cs typeface="Times New Roman" panose="02020603050405020304" pitchFamily="18" charset="0"/>
              </a:rPr>
              <a:t>2  </a:t>
            </a:r>
            <a:r>
              <a:rPr lang="en-US" sz="2000" kern="100">
                <a:latin typeface="Calibri "/>
                <a:ea typeface="Aptos" panose="020B0004020202020204" pitchFamily="34" charset="0"/>
                <a:cs typeface="Times New Roman" panose="02020603050405020304" pitchFamily="18" charset="0"/>
              </a:rPr>
              <a:t>và  </a:t>
            </a:r>
            <a:r>
              <a:rPr lang="en-US" sz="2000" kern="100">
                <a:solidFill>
                  <a:srgbClr val="FF3737"/>
                </a:solidFill>
                <a:latin typeface="Calibri "/>
                <a:ea typeface="Aptos" panose="020B0004020202020204" pitchFamily="34" charset="0"/>
                <a:cs typeface="Times New Roman" panose="02020603050405020304" pitchFamily="18" charset="0"/>
              </a:rPr>
              <a:t>Peogrzqngc</a:t>
            </a:r>
            <a:r>
              <a:rPr lang="en-US" sz="2000" kern="100" baseline="-25000">
                <a:solidFill>
                  <a:srgbClr val="FF3737"/>
                </a:solidFill>
                <a:latin typeface="Calibri "/>
                <a:ea typeface="Aptos" panose="020B0004020202020204" pitchFamily="34" charset="0"/>
                <a:cs typeface="Times New Roman" panose="02020603050405020304" pitchFamily="18" charset="0"/>
              </a:rPr>
              <a:t>3</a:t>
            </a:r>
            <a:r>
              <a:rPr lang="en-US" sz="2000" kern="100">
                <a:solidFill>
                  <a:srgbClr val="FF3737"/>
                </a:solidFill>
                <a:latin typeface="Calibri "/>
                <a:ea typeface="Aptos" panose="020B0004020202020204" pitchFamily="34" charset="0"/>
                <a:cs typeface="Times New Roman" panose="02020603050405020304" pitchFamily="18" charset="0"/>
              </a:rPr>
              <a:t> </a:t>
            </a:r>
            <a:r>
              <a:rPr lang="en-US" sz="2000" kern="100">
                <a:latin typeface="Calibri "/>
                <a:ea typeface="Aptos" panose="020B0004020202020204" pitchFamily="34" charset="0"/>
                <a:cs typeface="Times New Roman" panose="02020603050405020304" pitchFamily="18" charset="0"/>
              </a:rPr>
              <a:t>là 51. Các ước số là {1, 3, 17, 51}</a:t>
            </a:r>
            <a:endParaRPr lang="en-US" sz="2000">
              <a:latin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5B4F8555-BCAE-0C2A-A2D3-452321EDC9F2}"/>
              </a:ext>
            </a:extLst>
          </p:cNvPr>
          <p:cNvSpPr txBox="1">
            <a:spLocks/>
          </p:cNvSpPr>
          <p:nvPr/>
        </p:nvSpPr>
        <p:spPr>
          <a:xfrm>
            <a:off x="349313" y="253495"/>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Ước lượng độ dài khóa</a:t>
            </a:r>
          </a:p>
        </p:txBody>
      </p:sp>
      <p:sp>
        <p:nvSpPr>
          <p:cNvPr id="7" name="Content Placeholder 2">
            <a:extLst>
              <a:ext uri="{FF2B5EF4-FFF2-40B4-BE49-F238E27FC236}">
                <a16:creationId xmlns:a16="http://schemas.microsoft.com/office/drawing/2014/main" id="{98DB45EA-B959-CC3C-702B-C3C02F2BD217}"/>
              </a:ext>
            </a:extLst>
          </p:cNvPr>
          <p:cNvSpPr txBox="1">
            <a:spLocks/>
          </p:cNvSpPr>
          <p:nvPr/>
        </p:nvSpPr>
        <p:spPr>
          <a:xfrm>
            <a:off x="953732" y="2901973"/>
            <a:ext cx="10429875" cy="24466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228600">
              <a:lnSpc>
                <a:spcPct val="150000"/>
              </a:lnSpc>
              <a:buNone/>
              <a:tabLst>
                <a:tab pos="228600" algn="l"/>
              </a:tabLst>
            </a:pPr>
            <a:endParaRPr lang="en-US" sz="2000">
              <a:latin typeface="Calibri (Body)"/>
            </a:endParaRPr>
          </a:p>
        </p:txBody>
      </p:sp>
      <p:sp>
        <p:nvSpPr>
          <p:cNvPr id="8" name="TextBox 7">
            <a:extLst>
              <a:ext uri="{FF2B5EF4-FFF2-40B4-BE49-F238E27FC236}">
                <a16:creationId xmlns:a16="http://schemas.microsoft.com/office/drawing/2014/main" id="{DA4001AE-6963-053C-59E5-7AFBA83CFF99}"/>
              </a:ext>
            </a:extLst>
          </p:cNvPr>
          <p:cNvSpPr txBox="1"/>
          <p:nvPr/>
        </p:nvSpPr>
        <p:spPr>
          <a:xfrm>
            <a:off x="1183471" y="1043747"/>
            <a:ext cx="9970398" cy="779444"/>
          </a:xfrm>
          <a:prstGeom prst="rect">
            <a:avLst/>
          </a:prstGeom>
          <a:ln>
            <a:noFill/>
          </a:ln>
        </p:spPr>
        <p:style>
          <a:lnRef idx="3">
            <a:schemeClr val="lt1"/>
          </a:lnRef>
          <a:fillRef idx="1">
            <a:schemeClr val="dk1"/>
          </a:fillRef>
          <a:effectRef idx="1">
            <a:schemeClr val="dk1"/>
          </a:effectRef>
          <a:fontRef idx="minor">
            <a:schemeClr val="lt1"/>
          </a:fontRef>
        </p:style>
        <p:txBody>
          <a:bodyPr wrap="square">
            <a:spAutoFit/>
          </a:bodyPr>
          <a:lstStyle/>
          <a:p>
            <a:pPr marL="0" marR="0" algn="just">
              <a:lnSpc>
                <a:spcPct val="115000"/>
              </a:lnSpc>
              <a:spcAft>
                <a:spcPts val="800"/>
              </a:spcAft>
              <a:buNone/>
            </a:pPr>
            <a:r>
              <a:rPr lang="en-US" sz="2000" kern="100">
                <a:solidFill>
                  <a:srgbClr val="FF3737"/>
                </a:solidFill>
                <a:effectLst/>
                <a:latin typeface="Calibri "/>
                <a:ea typeface="Aptos" panose="020B0004020202020204" pitchFamily="34" charset="0"/>
                <a:cs typeface="Times New Roman" panose="02020603050405020304" pitchFamily="18" charset="0"/>
              </a:rPr>
              <a:t>Peogrzqngc</a:t>
            </a:r>
            <a:r>
              <a:rPr lang="en-US" sz="2000" kern="100">
                <a:effectLst/>
                <a:latin typeface="Calibri "/>
                <a:ea typeface="Aptos" panose="020B0004020202020204" pitchFamily="34" charset="0"/>
                <a:cs typeface="Times New Roman" panose="02020603050405020304" pitchFamily="18" charset="0"/>
              </a:rPr>
              <a:t>gbxerqunr</a:t>
            </a:r>
            <a:r>
              <a:rPr lang="en-US" sz="2000" kern="100">
                <a:solidFill>
                  <a:srgbClr val="00B0F0"/>
                </a:solidFill>
                <a:effectLst/>
                <a:latin typeface="Calibri "/>
                <a:ea typeface="Aptos" panose="020B0004020202020204" pitchFamily="34" charset="0"/>
                <a:cs typeface="Times New Roman" panose="02020603050405020304" pitchFamily="18" charset="0"/>
              </a:rPr>
              <a:t>Nxxekiogpa</a:t>
            </a:r>
            <a:r>
              <a:rPr lang="en-US" sz="2000" kern="100">
                <a:effectLst/>
                <a:latin typeface="Calibri "/>
                <a:ea typeface="Aptos" panose="020B0004020202020204" pitchFamily="34" charset="0"/>
                <a:cs typeface="Times New Roman" panose="02020603050405020304" pitchFamily="18" charset="0"/>
              </a:rPr>
              <a:t>egtrquwqwg</a:t>
            </a:r>
            <a:r>
              <a:rPr lang="en-US" sz="2000" kern="100">
                <a:solidFill>
                  <a:srgbClr val="FF3737"/>
                </a:solidFill>
                <a:effectLst/>
                <a:latin typeface="Calibri "/>
                <a:ea typeface="Aptos" panose="020B0004020202020204" pitchFamily="34" charset="0"/>
                <a:cs typeface="Times New Roman" panose="02020603050405020304" pitchFamily="18" charset="0"/>
              </a:rPr>
              <a:t>Peogrzqngc</a:t>
            </a:r>
            <a:r>
              <a:rPr lang="en-US" sz="2000" kern="100">
                <a:effectLst/>
                <a:latin typeface="Calibri "/>
                <a:ea typeface="Aptos" panose="020B0004020202020204" pitchFamily="34" charset="0"/>
                <a:cs typeface="Times New Roman" panose="02020603050405020304" pitchFamily="18" charset="0"/>
              </a:rPr>
              <a:t>rnpakqugfagfdxuekvyhw</a:t>
            </a:r>
            <a:r>
              <a:rPr lang="en-US" sz="2000" kern="100">
                <a:solidFill>
                  <a:srgbClr val="00B0F0"/>
                </a:solidFill>
                <a:effectLst/>
                <a:latin typeface="Calibri "/>
                <a:ea typeface="Aptos" panose="020B0004020202020204" pitchFamily="34" charset="0"/>
                <a:cs typeface="Times New Roman" panose="02020603050405020304" pitchFamily="18" charset="0"/>
              </a:rPr>
              <a:t>Nxxekiogpa</a:t>
            </a:r>
            <a:r>
              <a:rPr lang="en-US" sz="2000" kern="100">
                <a:effectLst/>
                <a:latin typeface="Calibri "/>
                <a:ea typeface="Aptos" panose="020B0004020202020204" pitchFamily="34" charset="0"/>
                <a:cs typeface="Times New Roman" panose="02020603050405020304" pitchFamily="18" charset="0"/>
              </a:rPr>
              <a:t>fckxaonerr</a:t>
            </a:r>
            <a:r>
              <a:rPr lang="en-US" sz="2000" kern="100">
                <a:solidFill>
                  <a:srgbClr val="FF3737"/>
                </a:solidFill>
                <a:effectLst/>
                <a:latin typeface="Calibri "/>
                <a:ea typeface="Aptos" panose="020B0004020202020204" pitchFamily="34" charset="0"/>
                <a:cs typeface="Times New Roman" panose="02020603050405020304" pitchFamily="18" charset="0"/>
              </a:rPr>
              <a:t>Peogrzqngc</a:t>
            </a:r>
            <a:r>
              <a:rPr lang="en-US" sz="2000" kern="100">
                <a:effectLst/>
                <a:latin typeface="Calibri "/>
                <a:ea typeface="Aptos" panose="020B0004020202020204" pitchFamily="34" charset="0"/>
                <a:cs typeface="Times New Roman" panose="02020603050405020304" pitchFamily="18" charset="0"/>
              </a:rPr>
              <a:t>staghqduaeGgvxtghpntveenaeketpdawrmaon</a:t>
            </a:r>
          </a:p>
        </p:txBody>
      </p:sp>
      <p:sp>
        <p:nvSpPr>
          <p:cNvPr id="9" name="TextBox 8">
            <a:extLst>
              <a:ext uri="{FF2B5EF4-FFF2-40B4-BE49-F238E27FC236}">
                <a16:creationId xmlns:a16="http://schemas.microsoft.com/office/drawing/2014/main" id="{C71FFD17-7EF1-3E0D-7C80-6C41544D6F8A}"/>
              </a:ext>
            </a:extLst>
          </p:cNvPr>
          <p:cNvSpPr txBox="1"/>
          <p:nvPr/>
        </p:nvSpPr>
        <p:spPr>
          <a:xfrm>
            <a:off x="923924" y="2226390"/>
            <a:ext cx="10229945" cy="506292"/>
          </a:xfrm>
          <a:prstGeom prst="rect">
            <a:avLst/>
          </a:prstGeom>
          <a:noFill/>
        </p:spPr>
        <p:txBody>
          <a:bodyPr wrap="square">
            <a:spAutoFit/>
          </a:bodyPr>
          <a:lstStyle/>
          <a:p>
            <a:pPr algn="just">
              <a:lnSpc>
                <a:spcPct val="150000"/>
              </a:lnSpc>
            </a:pPr>
            <a:r>
              <a:rPr lang="en-US" sz="2000"/>
              <a:t>Tìm các đoạn lặp lại trong bảng mã: </a:t>
            </a:r>
            <a:r>
              <a:rPr lang="en-US" sz="2000">
                <a:solidFill>
                  <a:srgbClr val="FF3737"/>
                </a:solidFill>
              </a:rPr>
              <a:t>Peogrzqngc </a:t>
            </a:r>
            <a:r>
              <a:rPr lang="en-US" sz="2000"/>
              <a:t>và </a:t>
            </a:r>
            <a:r>
              <a:rPr lang="en-US" sz="2000">
                <a:solidFill>
                  <a:srgbClr val="00B0F0"/>
                </a:solidFill>
              </a:rPr>
              <a:t>Nxxekiogpa</a:t>
            </a:r>
            <a:endParaRPr lang="en-US" sz="2000" kern="100">
              <a:solidFill>
                <a:srgbClr val="00B0F0"/>
              </a:solidFill>
              <a:effectLst/>
              <a:ea typeface="Aptos" panose="020B000402020202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8B8A7712-586D-C91A-BD91-7E2364606D7E}"/>
              </a:ext>
            </a:extLst>
          </p:cNvPr>
          <p:cNvSpPr txBox="1"/>
          <p:nvPr/>
        </p:nvSpPr>
        <p:spPr>
          <a:xfrm>
            <a:off x="4922445" y="2623341"/>
            <a:ext cx="1369336" cy="369332"/>
          </a:xfrm>
          <a:prstGeom prst="rect">
            <a:avLst/>
          </a:prstGeom>
          <a:noFill/>
        </p:spPr>
        <p:txBody>
          <a:bodyPr wrap="square">
            <a:spAutoFit/>
          </a:bodyPr>
          <a:lstStyle/>
          <a:p>
            <a:endParaRPr lang="en-US"/>
          </a:p>
        </p:txBody>
      </p:sp>
      <p:sp>
        <p:nvSpPr>
          <p:cNvPr id="17" name="Content Placeholder 2">
            <a:extLst>
              <a:ext uri="{FF2B5EF4-FFF2-40B4-BE49-F238E27FC236}">
                <a16:creationId xmlns:a16="http://schemas.microsoft.com/office/drawing/2014/main" id="{786BCE8D-B430-7F50-ACE7-956C51FF351C}"/>
              </a:ext>
            </a:extLst>
          </p:cNvPr>
          <p:cNvSpPr txBox="1">
            <a:spLocks/>
          </p:cNvSpPr>
          <p:nvPr/>
        </p:nvSpPr>
        <p:spPr>
          <a:xfrm>
            <a:off x="1421864" y="4701341"/>
            <a:ext cx="9048751" cy="647324"/>
          </a:xfrm>
          <a:prstGeom prst="rect">
            <a:avLst/>
          </a:prstGeom>
        </p:spPr>
        <p:style>
          <a:lnRef idx="3">
            <a:schemeClr val="lt1"/>
          </a:lnRef>
          <a:fillRef idx="1">
            <a:schemeClr val="dk1"/>
          </a:fillRef>
          <a:effectRef idx="1">
            <a:schemeClr val="dk1"/>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just">
              <a:lnSpc>
                <a:spcPct val="150000"/>
              </a:lnSpc>
              <a:buNone/>
            </a:pPr>
            <a:r>
              <a:rPr lang="en-US" sz="2000">
                <a:latin typeface="Calibri" panose="020F0502020204030204" pitchFamily="34" charset="0"/>
                <a:cs typeface="Calibri" panose="020F0502020204030204" pitchFamily="34" charset="0"/>
              </a:rPr>
              <a:t>Khoảng cách giữa </a:t>
            </a:r>
            <a:r>
              <a:rPr lang="en-US" sz="2000">
                <a:solidFill>
                  <a:srgbClr val="00B0F0"/>
                </a:solidFill>
              </a:rPr>
              <a:t>Nxxekiogpa</a:t>
            </a:r>
            <a:r>
              <a:rPr lang="en-US" sz="2000" baseline="-25000">
                <a:solidFill>
                  <a:srgbClr val="00B0F0"/>
                </a:solidFill>
              </a:rPr>
              <a:t>1</a:t>
            </a:r>
            <a:r>
              <a:rPr lang="en-US" sz="2000">
                <a:solidFill>
                  <a:srgbClr val="00B0F0"/>
                </a:solidFill>
              </a:rPr>
              <a:t> </a:t>
            </a:r>
            <a:r>
              <a:rPr lang="en-US" sz="2000">
                <a:solidFill>
                  <a:schemeClr val="tx1"/>
                </a:solidFill>
              </a:rPr>
              <a:t>và</a:t>
            </a:r>
            <a:r>
              <a:rPr lang="en-US" sz="2000">
                <a:solidFill>
                  <a:srgbClr val="00B0F0"/>
                </a:solidFill>
              </a:rPr>
              <a:t> Nxxekiogpa</a:t>
            </a:r>
            <a:r>
              <a:rPr lang="en-US" sz="2000" baseline="-25000">
                <a:solidFill>
                  <a:srgbClr val="00B0F0"/>
                </a:solidFill>
              </a:rPr>
              <a:t>2</a:t>
            </a:r>
            <a:r>
              <a:rPr lang="en-US" sz="2000">
                <a:solidFill>
                  <a:srgbClr val="00B0F0"/>
                </a:solidFill>
              </a:rPr>
              <a:t> </a:t>
            </a:r>
            <a:r>
              <a:rPr lang="en-US" sz="2000">
                <a:solidFill>
                  <a:schemeClr val="tx1"/>
                </a:solidFill>
              </a:rPr>
              <a:t>là 51. Các ước số là {1, 3, 17, 51}</a:t>
            </a:r>
            <a:endParaRPr lang="en-US" sz="2000">
              <a:solidFill>
                <a:schemeClr val="tx1"/>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2338E75B-D14F-D636-A5FD-50D2F7A0EFF8}"/>
              </a:ext>
            </a:extLst>
          </p:cNvPr>
          <p:cNvSpPr txBox="1"/>
          <p:nvPr/>
        </p:nvSpPr>
        <p:spPr>
          <a:xfrm>
            <a:off x="923924" y="5717356"/>
            <a:ext cx="9647660" cy="880369"/>
          </a:xfrm>
          <a:prstGeom prst="rect">
            <a:avLst/>
          </a:prstGeom>
          <a:noFill/>
        </p:spPr>
        <p:txBody>
          <a:bodyPr wrap="square" rtlCol="0">
            <a:spAutoFit/>
          </a:bodyPr>
          <a:lstStyle/>
          <a:p>
            <a:pPr>
              <a:lnSpc>
                <a:spcPct val="150000"/>
              </a:lnSpc>
            </a:pPr>
            <a:r>
              <a:rPr lang="vi-VN">
                <a:latin typeface="Calibri "/>
              </a:rPr>
              <a:t>Ưu tiên chọn các ước số xuất hiện nhiều lần, đặc biệt là các ước lớn hơn 1. </a:t>
            </a:r>
            <a:r>
              <a:rPr lang="en-US">
                <a:latin typeface="Calibri "/>
              </a:rPr>
              <a:t>Trong trường hợp này độ dài khóa ứng viên ưu tiên là 3</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156E6C22-66F2-8A16-07C4-151C76CC9D3A}"/>
                  </a:ext>
                </a:extLst>
              </p14:cNvPr>
              <p14:cNvContentPartPr/>
              <p14:nvPr/>
            </p14:nvContentPartPr>
            <p14:xfrm>
              <a:off x="1295280" y="1378080"/>
              <a:ext cx="4858200" cy="44640"/>
            </p14:xfrm>
          </p:contentPart>
        </mc:Choice>
        <mc:Fallback>
          <p:pic>
            <p:nvPicPr>
              <p:cNvPr id="2" name="Ink 1">
                <a:extLst>
                  <a:ext uri="{FF2B5EF4-FFF2-40B4-BE49-F238E27FC236}">
                    <a16:creationId xmlns:a16="http://schemas.microsoft.com/office/drawing/2014/main" id="{156E6C22-66F2-8A16-07C4-151C76CC9D3A}"/>
                  </a:ext>
                </a:extLst>
              </p:cNvPr>
              <p:cNvPicPr/>
              <p:nvPr/>
            </p:nvPicPr>
            <p:blipFill>
              <a:blip r:embed="rId4"/>
              <a:stretch>
                <a:fillRect/>
              </a:stretch>
            </p:blipFill>
            <p:spPr>
              <a:xfrm>
                <a:off x="1285920" y="1368720"/>
                <a:ext cx="4876920" cy="63360"/>
              </a:xfrm>
              <a:prstGeom prst="rect">
                <a:avLst/>
              </a:prstGeom>
            </p:spPr>
          </p:pic>
        </mc:Fallback>
      </mc:AlternateContent>
    </p:spTree>
    <p:extLst>
      <p:ext uri="{BB962C8B-B14F-4D97-AF65-F5344CB8AC3E}">
        <p14:creationId xmlns:p14="http://schemas.microsoft.com/office/powerpoint/2010/main" val="17716702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65DBC-9D02-DB1E-CBF9-BCAAE2BB6D6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317DA14-8DCB-53A9-F727-72B72525ABE1}"/>
              </a:ext>
            </a:extLst>
          </p:cNvPr>
          <p:cNvSpPr txBox="1">
            <a:spLocks/>
          </p:cNvSpPr>
          <p:nvPr/>
        </p:nvSpPr>
        <p:spPr>
          <a:xfrm>
            <a:off x="349313" y="253495"/>
            <a:ext cx="10515600" cy="534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a:latin typeface="Arial" panose="020B0604020202020204" pitchFamily="34" charset="0"/>
                <a:cs typeface="Arial" panose="020B0604020202020204" pitchFamily="34" charset="0"/>
              </a:rPr>
              <a:t>Phân tích tần suất (khóa có độ dài là 3)</a:t>
            </a:r>
          </a:p>
        </p:txBody>
      </p:sp>
      <p:sp>
        <p:nvSpPr>
          <p:cNvPr id="7" name="Content Placeholder 2">
            <a:extLst>
              <a:ext uri="{FF2B5EF4-FFF2-40B4-BE49-F238E27FC236}">
                <a16:creationId xmlns:a16="http://schemas.microsoft.com/office/drawing/2014/main" id="{DA4B8DDA-FBE9-26EC-B05B-D7DE49EDC417}"/>
              </a:ext>
            </a:extLst>
          </p:cNvPr>
          <p:cNvSpPr txBox="1">
            <a:spLocks/>
          </p:cNvSpPr>
          <p:nvPr/>
        </p:nvSpPr>
        <p:spPr>
          <a:xfrm>
            <a:off x="1439601" y="2976445"/>
            <a:ext cx="10429875" cy="24466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228600">
              <a:lnSpc>
                <a:spcPct val="150000"/>
              </a:lnSpc>
              <a:buNone/>
              <a:tabLst>
                <a:tab pos="228600" algn="l"/>
              </a:tabLst>
            </a:pPr>
            <a:endParaRPr lang="en-US" sz="2000">
              <a:latin typeface="Calibri (Body)"/>
            </a:endParaRPr>
          </a:p>
        </p:txBody>
      </p:sp>
      <p:sp>
        <p:nvSpPr>
          <p:cNvPr id="9" name="TextBox 8">
            <a:extLst>
              <a:ext uri="{FF2B5EF4-FFF2-40B4-BE49-F238E27FC236}">
                <a16:creationId xmlns:a16="http://schemas.microsoft.com/office/drawing/2014/main" id="{4CD91306-F8CF-FAD7-E54A-FC3E93F63B64}"/>
              </a:ext>
            </a:extLst>
          </p:cNvPr>
          <p:cNvSpPr txBox="1"/>
          <p:nvPr/>
        </p:nvSpPr>
        <p:spPr>
          <a:xfrm>
            <a:off x="793017" y="2240172"/>
            <a:ext cx="11356818" cy="506292"/>
          </a:xfrm>
          <a:prstGeom prst="rect">
            <a:avLst/>
          </a:prstGeom>
          <a:noFill/>
        </p:spPr>
        <p:txBody>
          <a:bodyPr wrap="square">
            <a:spAutoFit/>
          </a:bodyPr>
          <a:lstStyle/>
          <a:p>
            <a:pPr algn="just">
              <a:lnSpc>
                <a:spcPct val="150000"/>
              </a:lnSpc>
            </a:pPr>
            <a:r>
              <a:rPr lang="en-US" sz="2000" b="1"/>
              <a:t>Với khóa có độ dài là 3, khóa đó có dạng K</a:t>
            </a:r>
            <a:r>
              <a:rPr lang="en-US" sz="2000" b="1" baseline="-25000"/>
              <a:t>1</a:t>
            </a:r>
            <a:r>
              <a:rPr lang="en-US" sz="2000" b="1"/>
              <a:t> K</a:t>
            </a:r>
            <a:r>
              <a:rPr lang="en-US" sz="2000" b="1" baseline="-25000"/>
              <a:t>2</a:t>
            </a:r>
            <a:r>
              <a:rPr lang="en-US" sz="2000" b="1"/>
              <a:t> K</a:t>
            </a:r>
            <a:r>
              <a:rPr lang="en-US" sz="2000" b="1" baseline="-25000"/>
              <a:t>3</a:t>
            </a:r>
            <a:r>
              <a:rPr lang="en-US" sz="2000" b="1"/>
              <a:t>. Khi đó ta sẽ nhóm lại thành 3 nhóm tương ứng như sau</a:t>
            </a:r>
            <a:endParaRPr lang="en-US" sz="2000" b="1" kern="100">
              <a:solidFill>
                <a:srgbClr val="00B0F0"/>
              </a:solidFill>
              <a:effectLst/>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B1CA370F-2E80-72C0-B725-9AC5D3E5FC51}"/>
              </a:ext>
            </a:extLst>
          </p:cNvPr>
          <p:cNvSpPr txBox="1"/>
          <p:nvPr/>
        </p:nvSpPr>
        <p:spPr>
          <a:xfrm>
            <a:off x="1252879" y="1293941"/>
            <a:ext cx="9970398" cy="779444"/>
          </a:xfrm>
          <a:prstGeom prst="rect">
            <a:avLst/>
          </a:prstGeom>
          <a:ln>
            <a:noFill/>
          </a:ln>
        </p:spPr>
        <p:style>
          <a:lnRef idx="3">
            <a:schemeClr val="lt1"/>
          </a:lnRef>
          <a:fillRef idx="1">
            <a:schemeClr val="dk1"/>
          </a:fillRef>
          <a:effectRef idx="1">
            <a:schemeClr val="dk1"/>
          </a:effectRef>
          <a:fontRef idx="minor">
            <a:schemeClr val="lt1"/>
          </a:fontRef>
        </p:style>
        <p:txBody>
          <a:bodyPr wrap="square">
            <a:spAutoFit/>
          </a:bodyPr>
          <a:lstStyle/>
          <a:p>
            <a:pPr marL="0" marR="0" algn="just">
              <a:lnSpc>
                <a:spcPct val="115000"/>
              </a:lnSpc>
              <a:spcAft>
                <a:spcPts val="800"/>
              </a:spcAft>
              <a:buNone/>
            </a:pPr>
            <a:r>
              <a:rPr lang="en-US" sz="2000" kern="100">
                <a:solidFill>
                  <a:schemeClr val="tx1"/>
                </a:solidFill>
                <a:effectLst/>
                <a:latin typeface="Calibri "/>
                <a:ea typeface="Aptos" panose="020B0004020202020204" pitchFamily="34" charset="0"/>
                <a:cs typeface="Times New Roman" panose="02020603050405020304" pitchFamily="18" charset="0"/>
              </a:rPr>
              <a:t>PeogrzqngcgbxerqunrNxxekiogpaegtrquwqwgPeogrzqngcrnpakqugfagfdxuekvyhwNxxekiogpafckxaonerrPeogrzqngcstaghqduaeGgvxtghpntveenaeketpdawrmaon</a:t>
            </a:r>
          </a:p>
        </p:txBody>
      </p:sp>
      <p:sp>
        <p:nvSpPr>
          <p:cNvPr id="23" name="TextBox 22">
            <a:extLst>
              <a:ext uri="{FF2B5EF4-FFF2-40B4-BE49-F238E27FC236}">
                <a16:creationId xmlns:a16="http://schemas.microsoft.com/office/drawing/2014/main" id="{3EB64B08-9216-E234-29B2-D582C31195A5}"/>
              </a:ext>
            </a:extLst>
          </p:cNvPr>
          <p:cNvSpPr txBox="1"/>
          <p:nvPr/>
        </p:nvSpPr>
        <p:spPr>
          <a:xfrm>
            <a:off x="793017" y="787649"/>
            <a:ext cx="11356818" cy="506292"/>
          </a:xfrm>
          <a:prstGeom prst="rect">
            <a:avLst/>
          </a:prstGeom>
          <a:noFill/>
        </p:spPr>
        <p:txBody>
          <a:bodyPr wrap="square">
            <a:spAutoFit/>
          </a:bodyPr>
          <a:lstStyle/>
          <a:p>
            <a:pPr algn="just">
              <a:lnSpc>
                <a:spcPct val="150000"/>
              </a:lnSpc>
            </a:pPr>
            <a:r>
              <a:rPr lang="en-US" sz="2000" b="1"/>
              <a:t>Bản mã có độ dài 138 ký tự:</a:t>
            </a:r>
            <a:endParaRPr lang="en-US" sz="2000" b="1" kern="100">
              <a:solidFill>
                <a:srgbClr val="00B0F0"/>
              </a:solidFill>
              <a:effectLst/>
              <a:ea typeface="Aptos" panose="020B0004020202020204" pitchFamily="34" charset="0"/>
              <a:cs typeface="Times New Roman" panose="02020603050405020304" pitchFamily="18" charset="0"/>
            </a:endParaRPr>
          </a:p>
        </p:txBody>
      </p:sp>
      <p:graphicFrame>
        <p:nvGraphicFramePr>
          <p:cNvPr id="24" name="Table 23">
            <a:extLst>
              <a:ext uri="{FF2B5EF4-FFF2-40B4-BE49-F238E27FC236}">
                <a16:creationId xmlns:a16="http://schemas.microsoft.com/office/drawing/2014/main" id="{5A597B8C-F9FA-30AD-1749-DB7D9D05B41F}"/>
              </a:ext>
            </a:extLst>
          </p:cNvPr>
          <p:cNvGraphicFramePr>
            <a:graphicFrameLocks noGrp="1"/>
          </p:cNvGraphicFramePr>
          <p:nvPr>
            <p:extLst>
              <p:ext uri="{D42A27DB-BD31-4B8C-83A1-F6EECF244321}">
                <p14:modId xmlns:p14="http://schemas.microsoft.com/office/powerpoint/2010/main" val="1450092744"/>
              </p:ext>
            </p:extLst>
          </p:nvPr>
        </p:nvGraphicFramePr>
        <p:xfrm>
          <a:off x="2282029" y="2913251"/>
          <a:ext cx="7912097" cy="793750"/>
        </p:xfrm>
        <a:graphic>
          <a:graphicData uri="http://schemas.openxmlformats.org/drawingml/2006/table">
            <a:tbl>
              <a:tblPr firstRow="1" firstCol="1" bandRow="1"/>
              <a:tblGrid>
                <a:gridCol w="468803">
                  <a:extLst>
                    <a:ext uri="{9D8B030D-6E8A-4147-A177-3AD203B41FA5}">
                      <a16:colId xmlns:a16="http://schemas.microsoft.com/office/drawing/2014/main" val="246766785"/>
                    </a:ext>
                  </a:extLst>
                </a:gridCol>
                <a:gridCol w="464571">
                  <a:extLst>
                    <a:ext uri="{9D8B030D-6E8A-4147-A177-3AD203B41FA5}">
                      <a16:colId xmlns:a16="http://schemas.microsoft.com/office/drawing/2014/main" val="1781847980"/>
                    </a:ext>
                  </a:extLst>
                </a:gridCol>
                <a:gridCol w="467110">
                  <a:extLst>
                    <a:ext uri="{9D8B030D-6E8A-4147-A177-3AD203B41FA5}">
                      <a16:colId xmlns:a16="http://schemas.microsoft.com/office/drawing/2014/main" val="4106541789"/>
                    </a:ext>
                  </a:extLst>
                </a:gridCol>
                <a:gridCol w="467110">
                  <a:extLst>
                    <a:ext uri="{9D8B030D-6E8A-4147-A177-3AD203B41FA5}">
                      <a16:colId xmlns:a16="http://schemas.microsoft.com/office/drawing/2014/main" val="3690204488"/>
                    </a:ext>
                  </a:extLst>
                </a:gridCol>
                <a:gridCol w="461187">
                  <a:extLst>
                    <a:ext uri="{9D8B030D-6E8A-4147-A177-3AD203B41FA5}">
                      <a16:colId xmlns:a16="http://schemas.microsoft.com/office/drawing/2014/main" val="1128283973"/>
                    </a:ext>
                  </a:extLst>
                </a:gridCol>
                <a:gridCol w="464571">
                  <a:extLst>
                    <a:ext uri="{9D8B030D-6E8A-4147-A177-3AD203B41FA5}">
                      <a16:colId xmlns:a16="http://schemas.microsoft.com/office/drawing/2014/main" val="943187285"/>
                    </a:ext>
                  </a:extLst>
                </a:gridCol>
                <a:gridCol w="466263">
                  <a:extLst>
                    <a:ext uri="{9D8B030D-6E8A-4147-A177-3AD203B41FA5}">
                      <a16:colId xmlns:a16="http://schemas.microsoft.com/office/drawing/2014/main" val="285380656"/>
                    </a:ext>
                  </a:extLst>
                </a:gridCol>
                <a:gridCol w="466263">
                  <a:extLst>
                    <a:ext uri="{9D8B030D-6E8A-4147-A177-3AD203B41FA5}">
                      <a16:colId xmlns:a16="http://schemas.microsoft.com/office/drawing/2014/main" val="263349073"/>
                    </a:ext>
                  </a:extLst>
                </a:gridCol>
                <a:gridCol w="464571">
                  <a:extLst>
                    <a:ext uri="{9D8B030D-6E8A-4147-A177-3AD203B41FA5}">
                      <a16:colId xmlns:a16="http://schemas.microsoft.com/office/drawing/2014/main" val="3774422876"/>
                    </a:ext>
                  </a:extLst>
                </a:gridCol>
                <a:gridCol w="451033">
                  <a:extLst>
                    <a:ext uri="{9D8B030D-6E8A-4147-A177-3AD203B41FA5}">
                      <a16:colId xmlns:a16="http://schemas.microsoft.com/office/drawing/2014/main" val="4015915097"/>
                    </a:ext>
                  </a:extLst>
                </a:gridCol>
                <a:gridCol w="464571">
                  <a:extLst>
                    <a:ext uri="{9D8B030D-6E8A-4147-A177-3AD203B41FA5}">
                      <a16:colId xmlns:a16="http://schemas.microsoft.com/office/drawing/2014/main" val="2993501276"/>
                    </a:ext>
                  </a:extLst>
                </a:gridCol>
                <a:gridCol w="473034">
                  <a:extLst>
                    <a:ext uri="{9D8B030D-6E8A-4147-A177-3AD203B41FA5}">
                      <a16:colId xmlns:a16="http://schemas.microsoft.com/office/drawing/2014/main" val="78014685"/>
                    </a:ext>
                  </a:extLst>
                </a:gridCol>
                <a:gridCol w="461187">
                  <a:extLst>
                    <a:ext uri="{9D8B030D-6E8A-4147-A177-3AD203B41FA5}">
                      <a16:colId xmlns:a16="http://schemas.microsoft.com/office/drawing/2014/main" val="1775608888"/>
                    </a:ext>
                  </a:extLst>
                </a:gridCol>
                <a:gridCol w="474726">
                  <a:extLst>
                    <a:ext uri="{9D8B030D-6E8A-4147-A177-3AD203B41FA5}">
                      <a16:colId xmlns:a16="http://schemas.microsoft.com/office/drawing/2014/main" val="884480645"/>
                    </a:ext>
                  </a:extLst>
                </a:gridCol>
                <a:gridCol w="464571">
                  <a:extLst>
                    <a:ext uri="{9D8B030D-6E8A-4147-A177-3AD203B41FA5}">
                      <a16:colId xmlns:a16="http://schemas.microsoft.com/office/drawing/2014/main" val="1352808858"/>
                    </a:ext>
                  </a:extLst>
                </a:gridCol>
                <a:gridCol w="466263">
                  <a:extLst>
                    <a:ext uri="{9D8B030D-6E8A-4147-A177-3AD203B41FA5}">
                      <a16:colId xmlns:a16="http://schemas.microsoft.com/office/drawing/2014/main" val="405220543"/>
                    </a:ext>
                  </a:extLst>
                </a:gridCol>
                <a:gridCol w="466263">
                  <a:extLst>
                    <a:ext uri="{9D8B030D-6E8A-4147-A177-3AD203B41FA5}">
                      <a16:colId xmlns:a16="http://schemas.microsoft.com/office/drawing/2014/main" val="52060271"/>
                    </a:ext>
                  </a:extLst>
                </a:gridCol>
              </a:tblGrid>
              <a:tr h="396875">
                <a:tc>
                  <a:txBody>
                    <a:bodyPr/>
                    <a:lstStyle/>
                    <a:p>
                      <a:pPr marL="0" marR="0" algn="ctr">
                        <a:lnSpc>
                          <a:spcPct val="100000"/>
                        </a:lnSpc>
                        <a:spcBef>
                          <a:spcPts val="400"/>
                        </a:spcBef>
                        <a:spcAft>
                          <a:spcPts val="400"/>
                        </a:spcAft>
                        <a:buNone/>
                      </a:pPr>
                      <a:r>
                        <a:rPr lang="en-US" sz="2000" kern="100">
                          <a:effectLst/>
                        </a:rPr>
                        <a:t>P</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00000"/>
                        </a:lnSpc>
                        <a:spcBef>
                          <a:spcPts val="400"/>
                        </a:spcBef>
                        <a:spcAft>
                          <a:spcPts val="400"/>
                        </a:spcAft>
                        <a:buNone/>
                      </a:pPr>
                      <a:r>
                        <a:rPr lang="en-US" sz="2000" kern="100">
                          <a:effectLst/>
                        </a:rPr>
                        <a:t>e</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00000"/>
                        </a:lnSpc>
                        <a:spcBef>
                          <a:spcPts val="400"/>
                        </a:spcBef>
                        <a:spcAft>
                          <a:spcPts val="400"/>
                        </a:spcAft>
                        <a:buNone/>
                      </a:pPr>
                      <a:r>
                        <a:rPr lang="en-US" sz="2000" kern="100">
                          <a:effectLst/>
                        </a:rPr>
                        <a:t>o</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00000"/>
                        </a:lnSpc>
                        <a:spcBef>
                          <a:spcPts val="400"/>
                        </a:spcBef>
                        <a:spcAft>
                          <a:spcPts val="400"/>
                        </a:spcAft>
                        <a:buNone/>
                      </a:pPr>
                      <a:r>
                        <a:rPr lang="en-US" sz="2000" kern="100">
                          <a:effectLst/>
                        </a:rPr>
                        <a:t>g</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00000"/>
                        </a:lnSpc>
                        <a:spcBef>
                          <a:spcPts val="400"/>
                        </a:spcBef>
                        <a:spcAft>
                          <a:spcPts val="400"/>
                        </a:spcAft>
                        <a:buNone/>
                      </a:pPr>
                      <a:r>
                        <a:rPr lang="en-US" sz="2000" kern="100">
                          <a:effectLst/>
                        </a:rPr>
                        <a:t>r</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00000"/>
                        </a:lnSpc>
                        <a:spcBef>
                          <a:spcPts val="400"/>
                        </a:spcBef>
                        <a:spcAft>
                          <a:spcPts val="400"/>
                        </a:spcAft>
                        <a:buNone/>
                      </a:pPr>
                      <a:r>
                        <a:rPr lang="en-US" sz="2000" kern="100">
                          <a:effectLst/>
                        </a:rPr>
                        <a:t>z</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00000"/>
                        </a:lnSpc>
                        <a:spcBef>
                          <a:spcPts val="400"/>
                        </a:spcBef>
                        <a:spcAft>
                          <a:spcPts val="400"/>
                        </a:spcAft>
                        <a:buNone/>
                      </a:pPr>
                      <a:r>
                        <a:rPr lang="en-US" sz="2000" kern="100">
                          <a:effectLst/>
                        </a:rPr>
                        <a:t>q</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00000"/>
                        </a:lnSpc>
                        <a:spcBef>
                          <a:spcPts val="400"/>
                        </a:spcBef>
                        <a:spcAft>
                          <a:spcPts val="400"/>
                        </a:spcAft>
                        <a:buNone/>
                      </a:pPr>
                      <a:r>
                        <a:rPr lang="en-US" sz="2000" kern="100">
                          <a:effectLst/>
                        </a:rPr>
                        <a:t>n</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00000"/>
                        </a:lnSpc>
                        <a:spcBef>
                          <a:spcPts val="400"/>
                        </a:spcBef>
                        <a:spcAft>
                          <a:spcPts val="400"/>
                        </a:spcAft>
                        <a:buNone/>
                      </a:pPr>
                      <a:r>
                        <a:rPr lang="en-US" sz="2000" kern="100">
                          <a:effectLst/>
                        </a:rPr>
                        <a:t>c</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00000"/>
                        </a:lnSpc>
                        <a:spcBef>
                          <a:spcPts val="400"/>
                        </a:spcBef>
                        <a:spcAft>
                          <a:spcPts val="400"/>
                        </a:spcAft>
                        <a:buNone/>
                      </a:pPr>
                      <a:r>
                        <a:rPr lang="en-US" sz="2000" kern="100">
                          <a:effectLst/>
                        </a:rPr>
                        <a:t>…</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00000"/>
                        </a:lnSpc>
                        <a:spcBef>
                          <a:spcPts val="400"/>
                        </a:spcBef>
                        <a:spcAft>
                          <a:spcPts val="400"/>
                        </a:spcAft>
                        <a:buNone/>
                      </a:pPr>
                      <a:r>
                        <a:rPr lang="en-US" sz="2000" kern="100">
                          <a:effectLst/>
                        </a:rPr>
                        <a:t>a</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00000"/>
                        </a:lnSpc>
                        <a:spcBef>
                          <a:spcPts val="400"/>
                        </a:spcBef>
                        <a:spcAft>
                          <a:spcPts val="400"/>
                        </a:spcAft>
                        <a:buNone/>
                      </a:pPr>
                      <a:r>
                        <a:rPr lang="en-US" sz="2000" kern="100">
                          <a:effectLst/>
                        </a:rPr>
                        <a:t>w</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00000"/>
                        </a:lnSpc>
                        <a:spcBef>
                          <a:spcPts val="400"/>
                        </a:spcBef>
                        <a:spcAft>
                          <a:spcPts val="400"/>
                        </a:spcAft>
                        <a:buNone/>
                      </a:pPr>
                      <a:r>
                        <a:rPr lang="en-US" sz="2000" kern="100">
                          <a:effectLst/>
                        </a:rPr>
                        <a:t>r</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00000"/>
                        </a:lnSpc>
                        <a:spcBef>
                          <a:spcPts val="400"/>
                        </a:spcBef>
                        <a:spcAft>
                          <a:spcPts val="400"/>
                        </a:spcAft>
                        <a:buNone/>
                      </a:pPr>
                      <a:r>
                        <a:rPr lang="en-US" sz="2000" kern="100">
                          <a:effectLst/>
                        </a:rPr>
                        <a:t>m</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00000"/>
                        </a:lnSpc>
                        <a:spcBef>
                          <a:spcPts val="400"/>
                        </a:spcBef>
                        <a:spcAft>
                          <a:spcPts val="400"/>
                        </a:spcAft>
                        <a:buNone/>
                      </a:pPr>
                      <a:r>
                        <a:rPr lang="en-US" sz="2000" kern="100">
                          <a:effectLst/>
                        </a:rPr>
                        <a:t>a</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00000"/>
                        </a:lnSpc>
                        <a:spcBef>
                          <a:spcPts val="400"/>
                        </a:spcBef>
                        <a:spcAft>
                          <a:spcPts val="400"/>
                        </a:spcAft>
                        <a:buNone/>
                      </a:pPr>
                      <a:r>
                        <a:rPr lang="en-US" sz="2000" kern="100">
                          <a:effectLst/>
                        </a:rPr>
                        <a:t>o</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00000"/>
                        </a:lnSpc>
                        <a:spcBef>
                          <a:spcPts val="400"/>
                        </a:spcBef>
                        <a:spcAft>
                          <a:spcPts val="400"/>
                        </a:spcAft>
                        <a:buNone/>
                      </a:pPr>
                      <a:r>
                        <a:rPr lang="en-US" sz="2000" kern="100">
                          <a:effectLst/>
                        </a:rPr>
                        <a:t>n</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56570824"/>
                  </a:ext>
                </a:extLst>
              </a:tr>
              <a:tr h="396875">
                <a:tc>
                  <a:txBody>
                    <a:bodyPr/>
                    <a:lstStyle/>
                    <a:p>
                      <a:pPr marL="0" marR="0" algn="ctr">
                        <a:lnSpc>
                          <a:spcPct val="100000"/>
                        </a:lnSpc>
                        <a:spcBef>
                          <a:spcPts val="400"/>
                        </a:spcBef>
                        <a:spcAft>
                          <a:spcPts val="400"/>
                        </a:spcAft>
                        <a:buNone/>
                      </a:pPr>
                      <a:r>
                        <a:rPr lang="en-US" sz="2000" kern="100">
                          <a:effectLst/>
                        </a:rPr>
                        <a:t>K</a:t>
                      </a:r>
                      <a:r>
                        <a:rPr lang="en-US" sz="2000" kern="100" baseline="-25000">
                          <a:effectLst/>
                        </a:rPr>
                        <a:t>1</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algn="ctr">
                        <a:lnSpc>
                          <a:spcPct val="100000"/>
                        </a:lnSpc>
                        <a:spcBef>
                          <a:spcPts val="400"/>
                        </a:spcBef>
                        <a:spcAft>
                          <a:spcPts val="400"/>
                        </a:spcAft>
                        <a:buNone/>
                      </a:pPr>
                      <a:r>
                        <a:rPr lang="en-US" sz="2000" kern="100">
                          <a:effectLst/>
                        </a:rPr>
                        <a:t>K</a:t>
                      </a:r>
                      <a:r>
                        <a:rPr lang="en-US" sz="2000" kern="100" baseline="-25000">
                          <a:effectLst/>
                        </a:rPr>
                        <a:t>2</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algn="ctr">
                        <a:lnSpc>
                          <a:spcPct val="100000"/>
                        </a:lnSpc>
                        <a:spcBef>
                          <a:spcPts val="400"/>
                        </a:spcBef>
                        <a:spcAft>
                          <a:spcPts val="400"/>
                        </a:spcAft>
                        <a:buNone/>
                      </a:pPr>
                      <a:r>
                        <a:rPr lang="en-US" sz="2000" kern="100">
                          <a:effectLst/>
                        </a:rPr>
                        <a:t>K</a:t>
                      </a:r>
                      <a:r>
                        <a:rPr lang="en-US" sz="2000" kern="100" baseline="-25000">
                          <a:effectLst/>
                        </a:rPr>
                        <a:t>3</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algn="ctr">
                        <a:lnSpc>
                          <a:spcPct val="100000"/>
                        </a:lnSpc>
                        <a:spcBef>
                          <a:spcPts val="400"/>
                        </a:spcBef>
                        <a:spcAft>
                          <a:spcPts val="400"/>
                        </a:spcAft>
                        <a:buNone/>
                      </a:pPr>
                      <a:r>
                        <a:rPr lang="en-US" sz="2000" kern="100">
                          <a:effectLst/>
                        </a:rPr>
                        <a:t>K</a:t>
                      </a:r>
                      <a:r>
                        <a:rPr lang="en-US" sz="2000" kern="100" baseline="-25000">
                          <a:effectLst/>
                        </a:rPr>
                        <a:t>1</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algn="ctr">
                        <a:lnSpc>
                          <a:spcPct val="100000"/>
                        </a:lnSpc>
                        <a:spcBef>
                          <a:spcPts val="400"/>
                        </a:spcBef>
                        <a:spcAft>
                          <a:spcPts val="400"/>
                        </a:spcAft>
                        <a:buNone/>
                      </a:pPr>
                      <a:r>
                        <a:rPr lang="en-US" sz="2000" kern="100">
                          <a:effectLst/>
                        </a:rPr>
                        <a:t>K</a:t>
                      </a:r>
                      <a:r>
                        <a:rPr lang="en-US" sz="2000" kern="100" baseline="-25000">
                          <a:effectLst/>
                        </a:rPr>
                        <a:t>2</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algn="ctr">
                        <a:lnSpc>
                          <a:spcPct val="100000"/>
                        </a:lnSpc>
                        <a:spcBef>
                          <a:spcPts val="400"/>
                        </a:spcBef>
                        <a:spcAft>
                          <a:spcPts val="400"/>
                        </a:spcAft>
                        <a:buNone/>
                      </a:pPr>
                      <a:r>
                        <a:rPr lang="en-US" sz="2000" kern="100">
                          <a:effectLst/>
                        </a:rPr>
                        <a:t>K</a:t>
                      </a:r>
                      <a:r>
                        <a:rPr lang="en-US" sz="2000" kern="100" baseline="-25000">
                          <a:effectLst/>
                        </a:rPr>
                        <a:t>3</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algn="ctr">
                        <a:lnSpc>
                          <a:spcPct val="100000"/>
                        </a:lnSpc>
                        <a:spcBef>
                          <a:spcPts val="400"/>
                        </a:spcBef>
                        <a:spcAft>
                          <a:spcPts val="400"/>
                        </a:spcAft>
                        <a:buNone/>
                      </a:pPr>
                      <a:r>
                        <a:rPr lang="en-US" sz="2000" kern="100">
                          <a:effectLst/>
                        </a:rPr>
                        <a:t>K</a:t>
                      </a:r>
                      <a:r>
                        <a:rPr lang="en-US" sz="2000" kern="100" baseline="-25000">
                          <a:effectLst/>
                        </a:rPr>
                        <a:t>1</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algn="ctr">
                        <a:lnSpc>
                          <a:spcPct val="100000"/>
                        </a:lnSpc>
                        <a:spcBef>
                          <a:spcPts val="400"/>
                        </a:spcBef>
                        <a:spcAft>
                          <a:spcPts val="400"/>
                        </a:spcAft>
                        <a:buNone/>
                      </a:pPr>
                      <a:r>
                        <a:rPr lang="en-US" sz="2000" kern="100">
                          <a:effectLst/>
                        </a:rPr>
                        <a:t>K</a:t>
                      </a:r>
                      <a:r>
                        <a:rPr lang="en-US" sz="2000" kern="100" baseline="-25000">
                          <a:effectLst/>
                        </a:rPr>
                        <a:t>2</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algn="ctr">
                        <a:lnSpc>
                          <a:spcPct val="100000"/>
                        </a:lnSpc>
                        <a:spcBef>
                          <a:spcPts val="400"/>
                        </a:spcBef>
                        <a:spcAft>
                          <a:spcPts val="400"/>
                        </a:spcAft>
                        <a:buNone/>
                      </a:pPr>
                      <a:r>
                        <a:rPr lang="en-US" sz="2000" kern="100">
                          <a:effectLst/>
                        </a:rPr>
                        <a:t>K</a:t>
                      </a:r>
                      <a:r>
                        <a:rPr lang="en-US" sz="2000" kern="100" baseline="-25000">
                          <a:effectLst/>
                        </a:rPr>
                        <a:t>3</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algn="ctr">
                        <a:lnSpc>
                          <a:spcPct val="100000"/>
                        </a:lnSpc>
                        <a:spcBef>
                          <a:spcPts val="400"/>
                        </a:spcBef>
                        <a:spcAft>
                          <a:spcPts val="400"/>
                        </a:spcAft>
                        <a:buNone/>
                      </a:pPr>
                      <a:r>
                        <a:rPr lang="en-US" sz="2000" kern="100">
                          <a:effectLst/>
                        </a:rPr>
                        <a:t>…</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algn="ctr">
                        <a:lnSpc>
                          <a:spcPct val="100000"/>
                        </a:lnSpc>
                        <a:spcBef>
                          <a:spcPts val="400"/>
                        </a:spcBef>
                        <a:spcAft>
                          <a:spcPts val="400"/>
                        </a:spcAft>
                        <a:buNone/>
                      </a:pPr>
                      <a:r>
                        <a:rPr lang="en-US" sz="2000" kern="100">
                          <a:effectLst/>
                        </a:rPr>
                        <a:t>K</a:t>
                      </a:r>
                      <a:r>
                        <a:rPr lang="en-US" sz="2000" kern="100" baseline="-25000">
                          <a:effectLst/>
                        </a:rPr>
                        <a:t>3</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algn="ctr">
                        <a:lnSpc>
                          <a:spcPct val="100000"/>
                        </a:lnSpc>
                        <a:spcBef>
                          <a:spcPts val="400"/>
                        </a:spcBef>
                        <a:spcAft>
                          <a:spcPts val="400"/>
                        </a:spcAft>
                        <a:buNone/>
                      </a:pPr>
                      <a:r>
                        <a:rPr lang="en-US" sz="2000" kern="100">
                          <a:effectLst/>
                        </a:rPr>
                        <a:t>K</a:t>
                      </a:r>
                      <a:r>
                        <a:rPr lang="en-US" sz="2000" kern="100" baseline="-25000">
                          <a:effectLst/>
                        </a:rPr>
                        <a:t>1</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algn="ctr">
                        <a:lnSpc>
                          <a:spcPct val="100000"/>
                        </a:lnSpc>
                        <a:spcBef>
                          <a:spcPts val="400"/>
                        </a:spcBef>
                        <a:spcAft>
                          <a:spcPts val="400"/>
                        </a:spcAft>
                        <a:buNone/>
                      </a:pPr>
                      <a:r>
                        <a:rPr lang="en-US" sz="2000" kern="100">
                          <a:effectLst/>
                        </a:rPr>
                        <a:t>K</a:t>
                      </a:r>
                      <a:r>
                        <a:rPr lang="en-US" sz="2000" kern="100" baseline="-25000">
                          <a:effectLst/>
                        </a:rPr>
                        <a:t>2</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algn="ctr">
                        <a:lnSpc>
                          <a:spcPct val="100000"/>
                        </a:lnSpc>
                        <a:spcBef>
                          <a:spcPts val="400"/>
                        </a:spcBef>
                        <a:spcAft>
                          <a:spcPts val="400"/>
                        </a:spcAft>
                        <a:buNone/>
                      </a:pPr>
                      <a:r>
                        <a:rPr lang="en-US" sz="2000" kern="100">
                          <a:effectLst/>
                        </a:rPr>
                        <a:t>K</a:t>
                      </a:r>
                      <a:r>
                        <a:rPr lang="en-US" sz="2000" kern="100" baseline="-25000">
                          <a:effectLst/>
                        </a:rPr>
                        <a:t>3</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algn="ctr">
                        <a:lnSpc>
                          <a:spcPct val="100000"/>
                        </a:lnSpc>
                        <a:spcBef>
                          <a:spcPts val="400"/>
                        </a:spcBef>
                        <a:spcAft>
                          <a:spcPts val="400"/>
                        </a:spcAft>
                        <a:buNone/>
                      </a:pPr>
                      <a:r>
                        <a:rPr lang="en-US" sz="2000" kern="100">
                          <a:effectLst/>
                        </a:rPr>
                        <a:t>K</a:t>
                      </a:r>
                      <a:r>
                        <a:rPr lang="en-US" sz="2000" kern="100" baseline="-25000">
                          <a:effectLst/>
                        </a:rPr>
                        <a:t>1</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algn="ctr">
                        <a:lnSpc>
                          <a:spcPct val="100000"/>
                        </a:lnSpc>
                        <a:spcBef>
                          <a:spcPts val="400"/>
                        </a:spcBef>
                        <a:spcAft>
                          <a:spcPts val="400"/>
                        </a:spcAft>
                        <a:buNone/>
                      </a:pPr>
                      <a:r>
                        <a:rPr lang="en-US" sz="2000" kern="100">
                          <a:effectLst/>
                        </a:rPr>
                        <a:t>K</a:t>
                      </a:r>
                      <a:r>
                        <a:rPr lang="en-US" sz="2000" kern="100" baseline="-25000">
                          <a:effectLst/>
                        </a:rPr>
                        <a:t>2</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marL="0" marR="0" algn="ctr">
                        <a:lnSpc>
                          <a:spcPct val="100000"/>
                        </a:lnSpc>
                        <a:spcBef>
                          <a:spcPts val="400"/>
                        </a:spcBef>
                        <a:spcAft>
                          <a:spcPts val="400"/>
                        </a:spcAft>
                        <a:buNone/>
                      </a:pPr>
                      <a:r>
                        <a:rPr lang="en-US" sz="2000" kern="100">
                          <a:effectLst/>
                        </a:rPr>
                        <a:t>K</a:t>
                      </a:r>
                      <a:r>
                        <a:rPr lang="en-US" sz="2000" kern="100" baseline="-25000">
                          <a:effectLst/>
                        </a:rPr>
                        <a:t>3</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84273429"/>
                  </a:ext>
                </a:extLst>
              </a:tr>
            </a:tbl>
          </a:graphicData>
        </a:graphic>
      </p:graphicFrame>
      <p:sp>
        <p:nvSpPr>
          <p:cNvPr id="27" name="TextBox 26">
            <a:extLst>
              <a:ext uri="{FF2B5EF4-FFF2-40B4-BE49-F238E27FC236}">
                <a16:creationId xmlns:a16="http://schemas.microsoft.com/office/drawing/2014/main" id="{CA3136D1-AF96-3BD3-F75E-44656CC30F7D}"/>
              </a:ext>
            </a:extLst>
          </p:cNvPr>
          <p:cNvSpPr txBox="1"/>
          <p:nvPr/>
        </p:nvSpPr>
        <p:spPr>
          <a:xfrm>
            <a:off x="793017" y="4022844"/>
            <a:ext cx="11356818" cy="506292"/>
          </a:xfrm>
          <a:prstGeom prst="rect">
            <a:avLst/>
          </a:prstGeom>
          <a:noFill/>
        </p:spPr>
        <p:txBody>
          <a:bodyPr wrap="square">
            <a:spAutoFit/>
          </a:bodyPr>
          <a:lstStyle/>
          <a:p>
            <a:pPr algn="just">
              <a:lnSpc>
                <a:spcPct val="150000"/>
              </a:lnSpc>
            </a:pPr>
            <a:r>
              <a:rPr lang="en-US" sz="2000" b="1"/>
              <a:t>Chia làm 3 nhóm K</a:t>
            </a:r>
            <a:r>
              <a:rPr lang="en-US" sz="2000" b="1" baseline="-25000"/>
              <a:t>1</a:t>
            </a:r>
            <a:r>
              <a:rPr lang="en-US" sz="2000" b="1"/>
              <a:t>, K</a:t>
            </a:r>
            <a:r>
              <a:rPr lang="en-US" sz="2000" b="1" baseline="-25000"/>
              <a:t>2</a:t>
            </a:r>
            <a:r>
              <a:rPr lang="en-US" sz="2000" b="1"/>
              <a:t>, K</a:t>
            </a:r>
            <a:r>
              <a:rPr lang="en-US" sz="2000" b="1" baseline="-25000"/>
              <a:t>3</a:t>
            </a:r>
            <a:r>
              <a:rPr lang="en-US" sz="2000" b="1"/>
              <a:t> (mỗi nhóm 46 ký tự):</a:t>
            </a:r>
          </a:p>
        </p:txBody>
      </p:sp>
      <p:sp>
        <p:nvSpPr>
          <p:cNvPr id="30" name="TextBox 29">
            <a:extLst>
              <a:ext uri="{FF2B5EF4-FFF2-40B4-BE49-F238E27FC236}">
                <a16:creationId xmlns:a16="http://schemas.microsoft.com/office/drawing/2014/main" id="{48498D3A-99E6-6C33-8790-6480E5188C20}"/>
              </a:ext>
            </a:extLst>
          </p:cNvPr>
          <p:cNvSpPr txBox="1"/>
          <p:nvPr/>
        </p:nvSpPr>
        <p:spPr>
          <a:xfrm>
            <a:off x="1247869" y="4509635"/>
            <a:ext cx="6989002" cy="1429622"/>
          </a:xfrm>
          <a:prstGeom prst="rect">
            <a:avLst/>
          </a:prstGeom>
          <a:noFill/>
        </p:spPr>
        <p:txBody>
          <a:bodyPr wrap="square">
            <a:spAutoFit/>
          </a:bodyPr>
          <a:lstStyle/>
          <a:p>
            <a:pPr>
              <a:lnSpc>
                <a:spcPct val="150000"/>
              </a:lnSpc>
            </a:pPr>
            <a:r>
              <a:rPr lang="en-US" sz="2000"/>
              <a:t>K</a:t>
            </a:r>
            <a:r>
              <a:rPr lang="en-US" sz="2000" baseline="-25000"/>
              <a:t>1</a:t>
            </a:r>
            <a:r>
              <a:rPr lang="en-US" sz="2000"/>
              <a:t> : “PgqcxqrxipgqqPgqcpqffuvwxipcaePgqcaqagtpvnkpwa”</a:t>
            </a:r>
          </a:p>
          <a:p>
            <a:pPr>
              <a:lnSpc>
                <a:spcPct val="150000"/>
              </a:lnSpc>
            </a:pPr>
            <a:r>
              <a:rPr lang="en-US" sz="2000"/>
              <a:t>K</a:t>
            </a:r>
            <a:r>
              <a:rPr lang="en-US" sz="2000" baseline="-25000"/>
              <a:t>2</a:t>
            </a:r>
            <a:r>
              <a:rPr lang="en-US" sz="2000"/>
              <a:t>: “erngeuNeoatuwernrauadeyNeoakorernsgdevgneaedro”</a:t>
            </a:r>
          </a:p>
          <a:p>
            <a:pPr>
              <a:lnSpc>
                <a:spcPct val="150000"/>
              </a:lnSpc>
            </a:pPr>
            <a:r>
              <a:rPr lang="en-US" sz="2000"/>
              <a:t>K</a:t>
            </a:r>
            <a:r>
              <a:rPr lang="en-US" sz="2000" baseline="-25000"/>
              <a:t>3</a:t>
            </a:r>
            <a:r>
              <a:rPr lang="en-US" sz="2000"/>
              <a:t>: “ozgbrnxkgerwgozgnkggxkhxkgfxnrozgthuGxhteetamn”</a:t>
            </a:r>
            <a:endParaRPr lang="en-US" sz="2000">
              <a:effectLst/>
            </a:endParaRPr>
          </a:p>
        </p:txBody>
      </p:sp>
    </p:spTree>
    <p:extLst>
      <p:ext uri="{BB962C8B-B14F-4D97-AF65-F5344CB8AC3E}">
        <p14:creationId xmlns:p14="http://schemas.microsoft.com/office/powerpoint/2010/main" val="9265107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86D13-D108-A324-ED4F-CBD0F83D3EC7}"/>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25D575E9-0C5E-C6BD-C5A5-28A5E0688B46}"/>
              </a:ext>
            </a:extLst>
          </p:cNvPr>
          <p:cNvSpPr txBox="1"/>
          <p:nvPr/>
        </p:nvSpPr>
        <p:spPr>
          <a:xfrm>
            <a:off x="219075" y="104775"/>
            <a:ext cx="11356818" cy="609782"/>
          </a:xfrm>
          <a:prstGeom prst="rect">
            <a:avLst/>
          </a:prstGeom>
          <a:noFill/>
        </p:spPr>
        <p:txBody>
          <a:bodyPr wrap="square">
            <a:spAutoFit/>
          </a:bodyPr>
          <a:lstStyle/>
          <a:p>
            <a:pPr algn="just">
              <a:lnSpc>
                <a:spcPct val="150000"/>
              </a:lnSpc>
            </a:pPr>
            <a:r>
              <a:rPr lang="en-US" sz="2500" b="1"/>
              <a:t>Giả mã K</a:t>
            </a:r>
            <a:r>
              <a:rPr lang="en-US" sz="2500" b="1" baseline="-25000"/>
              <a:t>1</a:t>
            </a:r>
            <a:endParaRPr lang="en-US" sz="2500" b="1" kern="100">
              <a:solidFill>
                <a:srgbClr val="00B0F0"/>
              </a:solidFill>
              <a:effectLst/>
              <a:ea typeface="Aptos" panose="020B0004020202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60B330C8-ABBC-FB91-5F77-F47F58E72373}"/>
              </a:ext>
            </a:extLst>
          </p:cNvPr>
          <p:cNvSpPr txBox="1"/>
          <p:nvPr/>
        </p:nvSpPr>
        <p:spPr>
          <a:xfrm>
            <a:off x="620531" y="714557"/>
            <a:ext cx="7219950" cy="1429622"/>
          </a:xfrm>
          <a:prstGeom prst="rect">
            <a:avLst/>
          </a:prstGeom>
          <a:noFill/>
        </p:spPr>
        <p:txBody>
          <a:bodyPr wrap="square">
            <a:spAutoFit/>
          </a:bodyPr>
          <a:lstStyle/>
          <a:p>
            <a:pPr>
              <a:lnSpc>
                <a:spcPct val="150000"/>
              </a:lnSpc>
            </a:pPr>
            <a:r>
              <a:rPr lang="en-US" sz="2000"/>
              <a:t>K</a:t>
            </a:r>
            <a:r>
              <a:rPr lang="en-US" sz="2000" baseline="-25000"/>
              <a:t>1</a:t>
            </a:r>
            <a:r>
              <a:rPr lang="en-US" sz="2000"/>
              <a:t> = “PgqcxqrxipgqqPgqcpqffuvwxipcaePgqcaqagtpvnkpwa”</a:t>
            </a:r>
          </a:p>
          <a:p>
            <a:pPr>
              <a:lnSpc>
                <a:spcPct val="150000"/>
              </a:lnSpc>
            </a:pPr>
            <a:r>
              <a:rPr lang="en-US" sz="2000"/>
              <a:t>Số lượng ký tự của K</a:t>
            </a:r>
            <a:r>
              <a:rPr lang="en-US" sz="2000" baseline="-25000"/>
              <a:t>1</a:t>
            </a:r>
            <a:r>
              <a:rPr lang="en-US" sz="2000"/>
              <a:t>: </a:t>
            </a:r>
          </a:p>
          <a:p>
            <a:pPr>
              <a:lnSpc>
                <a:spcPct val="150000"/>
              </a:lnSpc>
            </a:pPr>
            <a:r>
              <a:rPr lang="en-US" sz="2000"/>
              <a:t>Tính tuần suất kỳ vọng E</a:t>
            </a:r>
            <a:r>
              <a:rPr lang="en-US" sz="2000" baseline="-25000"/>
              <a:t>i</a:t>
            </a:r>
            <a:r>
              <a:rPr lang="en-US" sz="2000"/>
              <a: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458A2A8-0555-B4DC-55FA-F10485DC654B}"/>
                  </a:ext>
                </a:extLst>
              </p:cNvPr>
              <p:cNvSpPr txBox="1"/>
              <p:nvPr/>
            </p:nvSpPr>
            <p:spPr>
              <a:xfrm>
                <a:off x="3473450" y="1284607"/>
                <a:ext cx="137795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𝑁</m:t>
                          </m:r>
                        </m:e>
                        <m:sub>
                          <m:r>
                            <a:rPr lang="en-US" i="0">
                              <a:latin typeface="Cambria Math" panose="02040503050406030204" pitchFamily="18" charset="0"/>
                            </a:rPr>
                            <m:t>1</m:t>
                          </m:r>
                        </m:sub>
                      </m:sSub>
                      <m:r>
                        <a:rPr lang="en-US" i="0">
                          <a:latin typeface="Cambria Math" panose="02040503050406030204" pitchFamily="18" charset="0"/>
                        </a:rPr>
                        <m:t>=46</m:t>
                      </m:r>
                    </m:oMath>
                  </m:oMathPara>
                </a14:m>
                <a:endParaRPr lang="en-US"/>
              </a:p>
            </p:txBody>
          </p:sp>
        </mc:Choice>
        <mc:Fallback xmlns="">
          <p:sp>
            <p:nvSpPr>
              <p:cNvPr id="5" name="TextBox 4">
                <a:extLst>
                  <a:ext uri="{FF2B5EF4-FFF2-40B4-BE49-F238E27FC236}">
                    <a16:creationId xmlns:a16="http://schemas.microsoft.com/office/drawing/2014/main" id="{4458A2A8-0555-B4DC-55FA-F10485DC654B}"/>
                  </a:ext>
                </a:extLst>
              </p:cNvPr>
              <p:cNvSpPr txBox="1">
                <a:spLocks noRot="1" noChangeAspect="1" noMove="1" noResize="1" noEditPoints="1" noAdjustHandles="1" noChangeArrowheads="1" noChangeShapeType="1" noTextEdit="1"/>
              </p:cNvSpPr>
              <p:nvPr/>
            </p:nvSpPr>
            <p:spPr>
              <a:xfrm>
                <a:off x="3473450" y="1284607"/>
                <a:ext cx="1377950"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5C72FE2-2DE8-520D-032F-79E3BABCF41E}"/>
                  </a:ext>
                </a:extLst>
              </p:cNvPr>
              <p:cNvSpPr txBox="1"/>
              <p:nvPr/>
            </p:nvSpPr>
            <p:spPr>
              <a:xfrm>
                <a:off x="3473450" y="1779609"/>
                <a:ext cx="1831063"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𝑖</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𝑖</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𝑁</m:t>
                          </m:r>
                        </m:e>
                        <m:sub>
                          <m:r>
                            <a:rPr lang="en-US" sz="2000" b="0" i="1" smtClean="0">
                              <a:latin typeface="Cambria Math" panose="02040503050406030204" pitchFamily="18" charset="0"/>
                            </a:rPr>
                            <m:t>1</m:t>
                          </m:r>
                        </m:sub>
                      </m:sSub>
                    </m:oMath>
                  </m:oMathPara>
                </a14:m>
                <a:endParaRPr lang="en-US" sz="2000"/>
              </a:p>
            </p:txBody>
          </p:sp>
        </mc:Choice>
        <mc:Fallback xmlns="">
          <p:sp>
            <p:nvSpPr>
              <p:cNvPr id="10" name="TextBox 9">
                <a:extLst>
                  <a:ext uri="{FF2B5EF4-FFF2-40B4-BE49-F238E27FC236}">
                    <a16:creationId xmlns:a16="http://schemas.microsoft.com/office/drawing/2014/main" id="{F5C72FE2-2DE8-520D-032F-79E3BABCF41E}"/>
                  </a:ext>
                </a:extLst>
              </p:cNvPr>
              <p:cNvSpPr txBox="1">
                <a:spLocks noRot="1" noChangeAspect="1" noMove="1" noResize="1" noEditPoints="1" noAdjustHandles="1" noChangeArrowheads="1" noChangeShapeType="1" noTextEdit="1"/>
              </p:cNvSpPr>
              <p:nvPr/>
            </p:nvSpPr>
            <p:spPr>
              <a:xfrm>
                <a:off x="3473450" y="1779609"/>
                <a:ext cx="1831063" cy="400110"/>
              </a:xfrm>
              <a:prstGeom prst="rect">
                <a:avLst/>
              </a:prstGeom>
              <a:blipFill>
                <a:blip r:embed="rId4"/>
                <a:stretch>
                  <a:fillRect b="-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Content Placeholder 14">
                <a:extLst>
                  <a:ext uri="{FF2B5EF4-FFF2-40B4-BE49-F238E27FC236}">
                    <a16:creationId xmlns:a16="http://schemas.microsoft.com/office/drawing/2014/main" id="{BC197C48-4DBE-82FA-9B9F-FF48D9E51F3F}"/>
                  </a:ext>
                </a:extLst>
              </p:cNvPr>
              <p:cNvGraphicFramePr>
                <a:graphicFrameLocks noGrp="1"/>
              </p:cNvGraphicFramePr>
              <p:nvPr>
                <p:ph idx="1"/>
                <p:extLst>
                  <p:ext uri="{D42A27DB-BD31-4B8C-83A1-F6EECF244321}">
                    <p14:modId xmlns:p14="http://schemas.microsoft.com/office/powerpoint/2010/main" val="1381022054"/>
                  </p:ext>
                </p:extLst>
              </p:nvPr>
            </p:nvGraphicFramePr>
            <p:xfrm>
              <a:off x="9239250" y="55428"/>
              <a:ext cx="2818110" cy="6747142"/>
            </p:xfrm>
            <a:graphic>
              <a:graphicData uri="http://schemas.openxmlformats.org/drawingml/2006/table">
                <a:tbl>
                  <a:tblPr firstRow="1" firstCol="1" bandRow="1">
                    <a:tableStyleId>{5940675A-B579-460E-94D1-54222C63F5DA}</a:tableStyleId>
                  </a:tblPr>
                  <a:tblGrid>
                    <a:gridCol w="704527">
                      <a:extLst>
                        <a:ext uri="{9D8B030D-6E8A-4147-A177-3AD203B41FA5}">
                          <a16:colId xmlns:a16="http://schemas.microsoft.com/office/drawing/2014/main" val="3705062519"/>
                        </a:ext>
                      </a:extLst>
                    </a:gridCol>
                    <a:gridCol w="1291634">
                      <a:extLst>
                        <a:ext uri="{9D8B030D-6E8A-4147-A177-3AD203B41FA5}">
                          <a16:colId xmlns:a16="http://schemas.microsoft.com/office/drawing/2014/main" val="2716038338"/>
                        </a:ext>
                      </a:extLst>
                    </a:gridCol>
                    <a:gridCol w="821949">
                      <a:extLst>
                        <a:ext uri="{9D8B030D-6E8A-4147-A177-3AD203B41FA5}">
                          <a16:colId xmlns:a16="http://schemas.microsoft.com/office/drawing/2014/main" val="2053861919"/>
                        </a:ext>
                      </a:extLst>
                    </a:gridCol>
                  </a:tblGrid>
                  <a:tr h="347167">
                    <a:tc>
                      <a:txBody>
                        <a:bodyPr/>
                        <a:lstStyle/>
                        <a:p>
                          <a:pPr marL="0" marR="0" algn="ctr">
                            <a:lnSpc>
                              <a:spcPct val="150000"/>
                            </a:lnSpc>
                            <a:spcAft>
                              <a:spcPts val="800"/>
                            </a:spcAft>
                            <a:buNone/>
                          </a:pPr>
                          <a14:m>
                            <m:oMathPara xmlns:m="http://schemas.openxmlformats.org/officeDocument/2006/math">
                              <m:oMathParaPr>
                                <m:jc m:val="centerGroup"/>
                              </m:oMathParaPr>
                              <m:oMath xmlns:m="http://schemas.openxmlformats.org/officeDocument/2006/math">
                                <m:r>
                                  <m:rPr>
                                    <m:sty m:val="p"/>
                                  </m:rPr>
                                  <a:rPr lang="en-US" sz="1200" b="0" i="0" kern="100" smtClean="0">
                                    <a:solidFill>
                                      <a:schemeClr val="bg1"/>
                                    </a:solidFill>
                                    <a:effectLst/>
                                    <a:latin typeface="Cambria Math" panose="02040503050406030204" pitchFamily="18" charset="0"/>
                                  </a:rPr>
                                  <m:t>K</m:t>
                                </m:r>
                                <m:r>
                                  <a:rPr lang="en-US" sz="1200" b="0" i="0" kern="100" smtClean="0">
                                    <a:solidFill>
                                      <a:schemeClr val="bg1"/>
                                    </a:solidFill>
                                    <a:effectLst/>
                                    <a:latin typeface="Cambria Math" panose="02040503050406030204" pitchFamily="18" charset="0"/>
                                  </a:rPr>
                                  <m:t>ý </m:t>
                                </m:r>
                                <m:r>
                                  <m:rPr>
                                    <m:sty m:val="p"/>
                                  </m:rPr>
                                  <a:rPr lang="en-US" sz="1200" b="0" i="0" kern="100" smtClean="0">
                                    <a:solidFill>
                                      <a:schemeClr val="bg1"/>
                                    </a:solidFill>
                                    <a:effectLst/>
                                    <a:latin typeface="Cambria Math" panose="02040503050406030204" pitchFamily="18" charset="0"/>
                                  </a:rPr>
                                  <m:t>t</m:t>
                                </m:r>
                                <m:r>
                                  <a:rPr lang="en-US" sz="1200" b="0" i="0" kern="100" smtClean="0">
                                    <a:solidFill>
                                      <a:schemeClr val="bg1"/>
                                    </a:solidFill>
                                    <a:effectLst/>
                                    <a:latin typeface="Cambria Math" panose="02040503050406030204" pitchFamily="18" charset="0"/>
                                  </a:rPr>
                                  <m:t>ự</m:t>
                                </m:r>
                              </m:oMath>
                            </m:oMathPara>
                          </a14:m>
                          <a:endParaRPr lang="en-US" sz="1200" i="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solidFill>
                          <a:srgbClr val="FFC000"/>
                        </a:solidFill>
                      </a:tcPr>
                    </a:tc>
                    <a:tc>
                      <a:txBody>
                        <a:bodyPr/>
                        <a:lstStyle/>
                        <a:p>
                          <a:pPr marL="0" marR="0" algn="ctr">
                            <a:lnSpc>
                              <a:spcPct val="150000"/>
                            </a:lnSpc>
                            <a:spcAft>
                              <a:spcPts val="800"/>
                            </a:spcAft>
                            <a:buNone/>
                          </a:pPr>
                          <a14:m>
                            <m:oMathPara xmlns:m="http://schemas.openxmlformats.org/officeDocument/2006/math">
                              <m:oMathParaPr>
                                <m:jc m:val="centerGroup"/>
                              </m:oMathParaPr>
                              <m:oMath xmlns:m="http://schemas.openxmlformats.org/officeDocument/2006/math">
                                <m:sSub>
                                  <m:sSubPr>
                                    <m:ctrlPr>
                                      <a:rPr lang="en-US" sz="1200" i="1" kern="100" smtClean="0">
                                        <a:solidFill>
                                          <a:schemeClr val="bg1"/>
                                        </a:solidFill>
                                        <a:effectLst/>
                                        <a:latin typeface="Cambria Math" panose="02040503050406030204" pitchFamily="18" charset="0"/>
                                      </a:rPr>
                                    </m:ctrlPr>
                                  </m:sSubPr>
                                  <m:e>
                                    <m:r>
                                      <a:rPr lang="en-US" sz="1200" kern="100">
                                        <a:solidFill>
                                          <a:schemeClr val="bg1"/>
                                        </a:solidFill>
                                        <a:effectLst/>
                                        <a:latin typeface="Cambria Math" panose="02040503050406030204" pitchFamily="18" charset="0"/>
                                      </a:rPr>
                                      <m:t>𝑝</m:t>
                                    </m:r>
                                  </m:e>
                                  <m:sub>
                                    <m:r>
                                      <a:rPr lang="en-US" sz="1200" kern="100">
                                        <a:solidFill>
                                          <a:schemeClr val="bg1"/>
                                        </a:solidFill>
                                        <a:effectLst/>
                                        <a:latin typeface="Cambria Math" panose="02040503050406030204" pitchFamily="18" charset="0"/>
                                      </a:rPr>
                                      <m:t>𝑖</m:t>
                                    </m:r>
                                  </m:sub>
                                </m:sSub>
                              </m:oMath>
                            </m:oMathPara>
                          </a14:m>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tc>
                      <a:txBody>
                        <a:bodyPr/>
                        <a:lstStyle/>
                        <a:p>
                          <a:pPr marL="0" marR="0" algn="ctr">
                            <a:lnSpc>
                              <a:spcPct val="150000"/>
                            </a:lnSpc>
                            <a:spcAft>
                              <a:spcPts val="800"/>
                            </a:spcAft>
                            <a:buNone/>
                          </a:pPr>
                          <a14:m>
                            <m:oMathPara xmlns:m="http://schemas.openxmlformats.org/officeDocument/2006/math">
                              <m:oMathParaPr>
                                <m:jc m:val="centerGroup"/>
                              </m:oMathParaPr>
                              <m:oMath xmlns:m="http://schemas.openxmlformats.org/officeDocument/2006/math">
                                <m:sSub>
                                  <m:sSubPr>
                                    <m:ctrlPr>
                                      <a:rPr lang="en-US" sz="1200" i="1" kern="100" smtClean="0">
                                        <a:solidFill>
                                          <a:schemeClr val="bg1"/>
                                        </a:solidFill>
                                        <a:effectLst/>
                                        <a:latin typeface="Cambria Math" panose="02040503050406030204" pitchFamily="18" charset="0"/>
                                      </a:rPr>
                                    </m:ctrlPr>
                                  </m:sSubPr>
                                  <m:e>
                                    <m:r>
                                      <a:rPr lang="en-US" sz="1200" kern="100">
                                        <a:solidFill>
                                          <a:schemeClr val="bg1"/>
                                        </a:solidFill>
                                        <a:effectLst/>
                                        <a:latin typeface="Cambria Math" panose="02040503050406030204" pitchFamily="18" charset="0"/>
                                      </a:rPr>
                                      <m:t>𝐸</m:t>
                                    </m:r>
                                  </m:e>
                                  <m:sub>
                                    <m:r>
                                      <a:rPr lang="en-US" sz="1200" kern="100">
                                        <a:solidFill>
                                          <a:schemeClr val="bg1"/>
                                        </a:solidFill>
                                        <a:effectLst/>
                                        <a:latin typeface="Cambria Math" panose="02040503050406030204" pitchFamily="18" charset="0"/>
                                      </a:rPr>
                                      <m:t>𝑖</m:t>
                                    </m:r>
                                  </m:sub>
                                </m:sSub>
                              </m:oMath>
                            </m:oMathPara>
                          </a14:m>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extLst>
                      <a:ext uri="{0D108BD9-81ED-4DB2-BD59-A6C34878D82A}">
                        <a16:rowId xmlns:a16="http://schemas.microsoft.com/office/drawing/2014/main" val="2273717808"/>
                      </a:ext>
                    </a:extLst>
                  </a:tr>
                  <a:tr h="226304">
                    <a:tc>
                      <a:txBody>
                        <a:bodyPr/>
                        <a:lstStyle/>
                        <a:p>
                          <a:pPr marL="0" marR="0" algn="ctr">
                            <a:lnSpc>
                              <a:spcPct val="15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0.08167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3.75682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51738712"/>
                      </a:ext>
                    </a:extLst>
                  </a:tr>
                  <a:tr h="226304">
                    <a:tc>
                      <a:txBody>
                        <a:bodyPr/>
                        <a:lstStyle/>
                        <a:p>
                          <a:pPr marL="0" marR="0" algn="ctr">
                            <a:lnSpc>
                              <a:spcPct val="15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0.01492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0.68632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528291463"/>
                      </a:ext>
                    </a:extLst>
                  </a:tr>
                  <a:tr h="226304">
                    <a:tc>
                      <a:txBody>
                        <a:bodyPr/>
                        <a:lstStyle/>
                        <a:p>
                          <a:pPr marL="0" marR="0" algn="ctr">
                            <a:lnSpc>
                              <a:spcPct val="15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1.27972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157828896"/>
                      </a:ext>
                    </a:extLst>
                  </a:tr>
                  <a:tr h="226304">
                    <a:tc>
                      <a:txBody>
                        <a:bodyPr/>
                        <a:lstStyle/>
                        <a:p>
                          <a:pPr marL="0" marR="0" algn="ctr">
                            <a:lnSpc>
                              <a:spcPct val="15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0.04253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1.95638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902391"/>
                      </a:ext>
                    </a:extLst>
                  </a:tr>
                  <a:tr h="226304">
                    <a:tc>
                      <a:txBody>
                        <a:bodyPr/>
                        <a:lstStyle/>
                        <a:p>
                          <a:pPr marL="0" marR="0" algn="ctr">
                            <a:lnSpc>
                              <a:spcPct val="15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0.12702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5.84292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860118349"/>
                      </a:ext>
                    </a:extLst>
                  </a:tr>
                  <a:tr h="226304">
                    <a:tc>
                      <a:txBody>
                        <a:bodyPr/>
                        <a:lstStyle/>
                        <a:p>
                          <a:pPr marL="0" marR="0" algn="ctr">
                            <a:lnSpc>
                              <a:spcPct val="15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0.02228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1.02488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139119834"/>
                      </a:ext>
                    </a:extLst>
                  </a:tr>
                  <a:tr h="226304">
                    <a:tc>
                      <a:txBody>
                        <a:bodyPr/>
                        <a:lstStyle/>
                        <a:p>
                          <a:pPr marL="0" marR="0" algn="ctr">
                            <a:lnSpc>
                              <a:spcPct val="15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0.9269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93505350"/>
                      </a:ext>
                    </a:extLst>
                  </a:tr>
                  <a:tr h="226304">
                    <a:tc>
                      <a:txBody>
                        <a:bodyPr/>
                        <a:lstStyle/>
                        <a:p>
                          <a:pPr marL="0" marR="0" algn="ctr">
                            <a:lnSpc>
                              <a:spcPct val="15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0.06094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2.80324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580187908"/>
                      </a:ext>
                    </a:extLst>
                  </a:tr>
                  <a:tr h="226304">
                    <a:tc>
                      <a:txBody>
                        <a:bodyPr/>
                        <a:lstStyle/>
                        <a:p>
                          <a:pPr marL="0" marR="0" algn="ctr">
                            <a:lnSpc>
                              <a:spcPct val="15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0.06966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3.20436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639935506"/>
                      </a:ext>
                    </a:extLst>
                  </a:tr>
                  <a:tr h="226304">
                    <a:tc>
                      <a:txBody>
                        <a:bodyPr/>
                        <a:lstStyle/>
                        <a:p>
                          <a:pPr marL="0" marR="0" algn="ctr">
                            <a:lnSpc>
                              <a:spcPct val="15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0.07038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19437713"/>
                      </a:ext>
                    </a:extLst>
                  </a:tr>
                  <a:tr h="226304">
                    <a:tc>
                      <a:txBody>
                        <a:bodyPr/>
                        <a:lstStyle/>
                        <a:p>
                          <a:pPr marL="0" marR="0" algn="ctr">
                            <a:lnSpc>
                              <a:spcPct val="15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0.00772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0.35512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6173072"/>
                      </a:ext>
                    </a:extLst>
                  </a:tr>
                  <a:tr h="226304">
                    <a:tc>
                      <a:txBody>
                        <a:bodyPr/>
                        <a:lstStyle/>
                        <a:p>
                          <a:pPr marL="0" marR="0" algn="ctr">
                            <a:lnSpc>
                              <a:spcPct val="15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0.04025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1.8515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180079724"/>
                      </a:ext>
                    </a:extLst>
                  </a:tr>
                  <a:tr h="226304">
                    <a:tc>
                      <a:txBody>
                        <a:bodyPr/>
                        <a:lstStyle/>
                        <a:p>
                          <a:pPr marL="0" marR="0" algn="ctr">
                            <a:lnSpc>
                              <a:spcPct val="15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0.02406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1.10676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48808680"/>
                      </a:ext>
                    </a:extLst>
                  </a:tr>
                  <a:tr h="226304">
                    <a:tc>
                      <a:txBody>
                        <a:bodyPr/>
                        <a:lstStyle/>
                        <a:p>
                          <a:pPr marL="0" marR="0" algn="ctr">
                            <a:lnSpc>
                              <a:spcPct val="15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0.06749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3.10454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11398717"/>
                      </a:ext>
                    </a:extLst>
                  </a:tr>
                  <a:tr h="226304">
                    <a:tc>
                      <a:txBody>
                        <a:bodyPr/>
                        <a:lstStyle/>
                        <a:p>
                          <a:pPr marL="0" marR="0" algn="ctr">
                            <a:lnSpc>
                              <a:spcPct val="15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0.07507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3.45322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878432031"/>
                      </a:ext>
                    </a:extLst>
                  </a:tr>
                  <a:tr h="226304">
                    <a:tc>
                      <a:txBody>
                        <a:bodyPr/>
                        <a:lstStyle/>
                        <a:p>
                          <a:pPr marL="0" marR="0" algn="ctr">
                            <a:lnSpc>
                              <a:spcPct val="15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0.01929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0.88734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111192"/>
                      </a:ext>
                    </a:extLst>
                  </a:tr>
                  <a:tr h="226304">
                    <a:tc>
                      <a:txBody>
                        <a:bodyPr/>
                        <a:lstStyle/>
                        <a:p>
                          <a:pPr marL="0" marR="0" algn="ctr">
                            <a:lnSpc>
                              <a:spcPct val="15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0.00095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0.0437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73563382"/>
                      </a:ext>
                    </a:extLst>
                  </a:tr>
                  <a:tr h="226304">
                    <a:tc>
                      <a:txBody>
                        <a:bodyPr/>
                        <a:lstStyle/>
                        <a:p>
                          <a:pPr marL="0" marR="0" algn="ctr">
                            <a:lnSpc>
                              <a:spcPct val="15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0.05987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2.75402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27019612"/>
                      </a:ext>
                    </a:extLst>
                  </a:tr>
                  <a:tr h="226304">
                    <a:tc>
                      <a:txBody>
                        <a:bodyPr/>
                        <a:lstStyle/>
                        <a:p>
                          <a:pPr marL="0" marR="0" algn="ctr">
                            <a:lnSpc>
                              <a:spcPct val="15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0.06327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2.91042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071481530"/>
                      </a:ext>
                    </a:extLst>
                  </a:tr>
                  <a:tr h="226304">
                    <a:tc>
                      <a:txBody>
                        <a:bodyPr/>
                        <a:lstStyle/>
                        <a:p>
                          <a:pPr marL="0" marR="0" algn="ctr">
                            <a:lnSpc>
                              <a:spcPct val="15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0.09056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4.16576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87245901"/>
                      </a:ext>
                    </a:extLst>
                  </a:tr>
                  <a:tr h="226304">
                    <a:tc>
                      <a:txBody>
                        <a:bodyPr/>
                        <a:lstStyle/>
                        <a:p>
                          <a:pPr marL="0" marR="0" algn="ctr">
                            <a:lnSpc>
                              <a:spcPct val="15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0.02758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1.26868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01611784"/>
                      </a:ext>
                    </a:extLst>
                  </a:tr>
                  <a:tr h="226304">
                    <a:tc>
                      <a:txBody>
                        <a:bodyPr/>
                        <a:lstStyle/>
                        <a:p>
                          <a:pPr marL="0" marR="0" algn="ctr">
                            <a:lnSpc>
                              <a:spcPct val="15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0.00978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0.44988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375969827"/>
                      </a:ext>
                    </a:extLst>
                  </a:tr>
                  <a:tr h="226304">
                    <a:tc>
                      <a:txBody>
                        <a:bodyPr/>
                        <a:lstStyle/>
                        <a:p>
                          <a:pPr marL="0" marR="0" algn="ctr">
                            <a:lnSpc>
                              <a:spcPct val="15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1.0856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06089555"/>
                      </a:ext>
                    </a:extLst>
                  </a:tr>
                  <a:tr h="226304">
                    <a:tc>
                      <a:txBody>
                        <a:bodyPr/>
                        <a:lstStyle/>
                        <a:p>
                          <a:pPr marL="0" marR="0" algn="ctr">
                            <a:lnSpc>
                              <a:spcPct val="15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794108946"/>
                      </a:ext>
                    </a:extLst>
                  </a:tr>
                  <a:tr h="226304">
                    <a:tc>
                      <a:txBody>
                        <a:bodyPr/>
                        <a:lstStyle/>
                        <a:p>
                          <a:pPr marL="0" marR="0" algn="ctr">
                            <a:lnSpc>
                              <a:spcPct val="15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0.90804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015600146"/>
                      </a:ext>
                    </a:extLst>
                  </a:tr>
                  <a:tr h="0">
                    <a:tc>
                      <a:txBody>
                        <a:bodyPr/>
                        <a:lstStyle/>
                        <a:p>
                          <a:pPr marL="0" marR="0" algn="ctr">
                            <a:lnSpc>
                              <a:spcPct val="15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0.03404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99105101"/>
                      </a:ext>
                    </a:extLst>
                  </a:tr>
                </a:tbl>
              </a:graphicData>
            </a:graphic>
          </p:graphicFrame>
        </mc:Choice>
        <mc:Fallback xmlns="">
          <p:graphicFrame>
            <p:nvGraphicFramePr>
              <p:cNvPr id="15" name="Content Placeholder 14">
                <a:extLst>
                  <a:ext uri="{FF2B5EF4-FFF2-40B4-BE49-F238E27FC236}">
                    <a16:creationId xmlns:a16="http://schemas.microsoft.com/office/drawing/2014/main" id="{BC197C48-4DBE-82FA-9B9F-FF48D9E51F3F}"/>
                  </a:ext>
                </a:extLst>
              </p:cNvPr>
              <p:cNvGraphicFramePr>
                <a:graphicFrameLocks noGrp="1"/>
              </p:cNvGraphicFramePr>
              <p:nvPr>
                <p:ph idx="1"/>
                <p:extLst>
                  <p:ext uri="{D42A27DB-BD31-4B8C-83A1-F6EECF244321}">
                    <p14:modId xmlns:p14="http://schemas.microsoft.com/office/powerpoint/2010/main" val="1381022054"/>
                  </p:ext>
                </p:extLst>
              </p:nvPr>
            </p:nvGraphicFramePr>
            <p:xfrm>
              <a:off x="9239250" y="55428"/>
              <a:ext cx="2818110" cy="6747142"/>
            </p:xfrm>
            <a:graphic>
              <a:graphicData uri="http://schemas.openxmlformats.org/drawingml/2006/table">
                <a:tbl>
                  <a:tblPr firstRow="1" firstCol="1" bandRow="1">
                    <a:tableStyleId>{5940675A-B579-460E-94D1-54222C63F5DA}</a:tableStyleId>
                  </a:tblPr>
                  <a:tblGrid>
                    <a:gridCol w="704527">
                      <a:extLst>
                        <a:ext uri="{9D8B030D-6E8A-4147-A177-3AD203B41FA5}">
                          <a16:colId xmlns:a16="http://schemas.microsoft.com/office/drawing/2014/main" val="3705062519"/>
                        </a:ext>
                      </a:extLst>
                    </a:gridCol>
                    <a:gridCol w="1291634">
                      <a:extLst>
                        <a:ext uri="{9D8B030D-6E8A-4147-A177-3AD203B41FA5}">
                          <a16:colId xmlns:a16="http://schemas.microsoft.com/office/drawing/2014/main" val="2716038338"/>
                        </a:ext>
                      </a:extLst>
                    </a:gridCol>
                    <a:gridCol w="821949">
                      <a:extLst>
                        <a:ext uri="{9D8B030D-6E8A-4147-A177-3AD203B41FA5}">
                          <a16:colId xmlns:a16="http://schemas.microsoft.com/office/drawing/2014/main" val="2053861919"/>
                        </a:ext>
                      </a:extLst>
                    </a:gridCol>
                  </a:tblGrid>
                  <a:tr h="375920">
                    <a:tc>
                      <a:txBody>
                        <a:bodyPr/>
                        <a:lstStyle/>
                        <a:p>
                          <a:endParaRPr lang="en-US"/>
                        </a:p>
                      </a:txBody>
                      <a:tcPr marL="44854" marR="44854" marT="0" marB="0">
                        <a:blipFill>
                          <a:blip r:embed="rId5"/>
                          <a:stretch>
                            <a:fillRect l="-862" t="-1613" r="-300862" b="-1711290"/>
                          </a:stretch>
                        </a:blipFill>
                      </a:tcPr>
                    </a:tc>
                    <a:tc>
                      <a:txBody>
                        <a:bodyPr/>
                        <a:lstStyle/>
                        <a:p>
                          <a:endParaRPr lang="en-US"/>
                        </a:p>
                      </a:txBody>
                      <a:tcPr marL="44854" marR="44854" marT="0" marB="0" anchor="ctr">
                        <a:blipFill>
                          <a:blip r:embed="rId5"/>
                          <a:stretch>
                            <a:fillRect l="-55189" t="-1613" r="-64623" b="-1711290"/>
                          </a:stretch>
                        </a:blipFill>
                      </a:tcPr>
                    </a:tc>
                    <a:tc>
                      <a:txBody>
                        <a:bodyPr/>
                        <a:lstStyle/>
                        <a:p>
                          <a:endParaRPr lang="en-US"/>
                        </a:p>
                      </a:txBody>
                      <a:tcPr marL="44854" marR="44854" marT="0" marB="0" anchor="ctr">
                        <a:blipFill>
                          <a:blip r:embed="rId5"/>
                          <a:stretch>
                            <a:fillRect l="-243704" t="-1613" r="-1481" b="-1711290"/>
                          </a:stretch>
                        </a:blipFill>
                      </a:tcPr>
                    </a:tc>
                    <a:extLst>
                      <a:ext uri="{0D108BD9-81ED-4DB2-BD59-A6C34878D82A}">
                        <a16:rowId xmlns:a16="http://schemas.microsoft.com/office/drawing/2014/main" val="2273717808"/>
                      </a:ext>
                    </a:extLst>
                  </a:tr>
                  <a:tr h="245047">
                    <a:tc>
                      <a:txBody>
                        <a:bodyPr/>
                        <a:lstStyle/>
                        <a:p>
                          <a:pPr marL="0" marR="0" algn="ctr">
                            <a:lnSpc>
                              <a:spcPct val="15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0.08167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3.75682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51738712"/>
                      </a:ext>
                    </a:extLst>
                  </a:tr>
                  <a:tr h="245047">
                    <a:tc>
                      <a:txBody>
                        <a:bodyPr/>
                        <a:lstStyle/>
                        <a:p>
                          <a:pPr marL="0" marR="0" algn="ctr">
                            <a:lnSpc>
                              <a:spcPct val="15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0.01492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0.68632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528291463"/>
                      </a:ext>
                    </a:extLst>
                  </a:tr>
                  <a:tr h="245047">
                    <a:tc>
                      <a:txBody>
                        <a:bodyPr/>
                        <a:lstStyle/>
                        <a:p>
                          <a:pPr marL="0" marR="0" algn="ctr">
                            <a:lnSpc>
                              <a:spcPct val="15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1.27972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157828896"/>
                      </a:ext>
                    </a:extLst>
                  </a:tr>
                  <a:tr h="245047">
                    <a:tc>
                      <a:txBody>
                        <a:bodyPr/>
                        <a:lstStyle/>
                        <a:p>
                          <a:pPr marL="0" marR="0" algn="ctr">
                            <a:lnSpc>
                              <a:spcPct val="15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0.04253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1.95638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902391"/>
                      </a:ext>
                    </a:extLst>
                  </a:tr>
                  <a:tr h="245047">
                    <a:tc>
                      <a:txBody>
                        <a:bodyPr/>
                        <a:lstStyle/>
                        <a:p>
                          <a:pPr marL="0" marR="0" algn="ctr">
                            <a:lnSpc>
                              <a:spcPct val="15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0.12702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5.84292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860118349"/>
                      </a:ext>
                    </a:extLst>
                  </a:tr>
                  <a:tr h="245047">
                    <a:tc>
                      <a:txBody>
                        <a:bodyPr/>
                        <a:lstStyle/>
                        <a:p>
                          <a:pPr marL="0" marR="0" algn="ctr">
                            <a:lnSpc>
                              <a:spcPct val="15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0.02228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1.02488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139119834"/>
                      </a:ext>
                    </a:extLst>
                  </a:tr>
                  <a:tr h="245047">
                    <a:tc>
                      <a:txBody>
                        <a:bodyPr/>
                        <a:lstStyle/>
                        <a:p>
                          <a:pPr marL="0" marR="0" algn="ctr">
                            <a:lnSpc>
                              <a:spcPct val="15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0.9269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93505350"/>
                      </a:ext>
                    </a:extLst>
                  </a:tr>
                  <a:tr h="245047">
                    <a:tc>
                      <a:txBody>
                        <a:bodyPr/>
                        <a:lstStyle/>
                        <a:p>
                          <a:pPr marL="0" marR="0" algn="ctr">
                            <a:lnSpc>
                              <a:spcPct val="15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0.06094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2.80324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580187908"/>
                      </a:ext>
                    </a:extLst>
                  </a:tr>
                  <a:tr h="245047">
                    <a:tc>
                      <a:txBody>
                        <a:bodyPr/>
                        <a:lstStyle/>
                        <a:p>
                          <a:pPr marL="0" marR="0" algn="ctr">
                            <a:lnSpc>
                              <a:spcPct val="15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0.06966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3.20436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639935506"/>
                      </a:ext>
                    </a:extLst>
                  </a:tr>
                  <a:tr h="245047">
                    <a:tc>
                      <a:txBody>
                        <a:bodyPr/>
                        <a:lstStyle/>
                        <a:p>
                          <a:pPr marL="0" marR="0" algn="ctr">
                            <a:lnSpc>
                              <a:spcPct val="15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0.07038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19437713"/>
                      </a:ext>
                    </a:extLst>
                  </a:tr>
                  <a:tr h="245047">
                    <a:tc>
                      <a:txBody>
                        <a:bodyPr/>
                        <a:lstStyle/>
                        <a:p>
                          <a:pPr marL="0" marR="0" algn="ctr">
                            <a:lnSpc>
                              <a:spcPct val="15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0.00772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0.35512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6173072"/>
                      </a:ext>
                    </a:extLst>
                  </a:tr>
                  <a:tr h="245047">
                    <a:tc>
                      <a:txBody>
                        <a:bodyPr/>
                        <a:lstStyle/>
                        <a:p>
                          <a:pPr marL="0" marR="0" algn="ctr">
                            <a:lnSpc>
                              <a:spcPct val="15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0.04025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1.8515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180079724"/>
                      </a:ext>
                    </a:extLst>
                  </a:tr>
                  <a:tr h="245047">
                    <a:tc>
                      <a:txBody>
                        <a:bodyPr/>
                        <a:lstStyle/>
                        <a:p>
                          <a:pPr marL="0" marR="0" algn="ctr">
                            <a:lnSpc>
                              <a:spcPct val="15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0.02406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1.10676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48808680"/>
                      </a:ext>
                    </a:extLst>
                  </a:tr>
                  <a:tr h="245047">
                    <a:tc>
                      <a:txBody>
                        <a:bodyPr/>
                        <a:lstStyle/>
                        <a:p>
                          <a:pPr marL="0" marR="0" algn="ctr">
                            <a:lnSpc>
                              <a:spcPct val="15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0.06749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3.10454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11398717"/>
                      </a:ext>
                    </a:extLst>
                  </a:tr>
                  <a:tr h="245047">
                    <a:tc>
                      <a:txBody>
                        <a:bodyPr/>
                        <a:lstStyle/>
                        <a:p>
                          <a:pPr marL="0" marR="0" algn="ctr">
                            <a:lnSpc>
                              <a:spcPct val="15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0.07507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3.45322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878432031"/>
                      </a:ext>
                    </a:extLst>
                  </a:tr>
                  <a:tr h="245047">
                    <a:tc>
                      <a:txBody>
                        <a:bodyPr/>
                        <a:lstStyle/>
                        <a:p>
                          <a:pPr marL="0" marR="0" algn="ctr">
                            <a:lnSpc>
                              <a:spcPct val="15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0.01929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0.88734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111192"/>
                      </a:ext>
                    </a:extLst>
                  </a:tr>
                  <a:tr h="245047">
                    <a:tc>
                      <a:txBody>
                        <a:bodyPr/>
                        <a:lstStyle/>
                        <a:p>
                          <a:pPr marL="0" marR="0" algn="ctr">
                            <a:lnSpc>
                              <a:spcPct val="15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0.00095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0.0437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73563382"/>
                      </a:ext>
                    </a:extLst>
                  </a:tr>
                  <a:tr h="245047">
                    <a:tc>
                      <a:txBody>
                        <a:bodyPr/>
                        <a:lstStyle/>
                        <a:p>
                          <a:pPr marL="0" marR="0" algn="ctr">
                            <a:lnSpc>
                              <a:spcPct val="15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0.05987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2.75402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27019612"/>
                      </a:ext>
                    </a:extLst>
                  </a:tr>
                  <a:tr h="245047">
                    <a:tc>
                      <a:txBody>
                        <a:bodyPr/>
                        <a:lstStyle/>
                        <a:p>
                          <a:pPr marL="0" marR="0" algn="ctr">
                            <a:lnSpc>
                              <a:spcPct val="15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0.06327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2.91042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071481530"/>
                      </a:ext>
                    </a:extLst>
                  </a:tr>
                  <a:tr h="245047">
                    <a:tc>
                      <a:txBody>
                        <a:bodyPr/>
                        <a:lstStyle/>
                        <a:p>
                          <a:pPr marL="0" marR="0" algn="ctr">
                            <a:lnSpc>
                              <a:spcPct val="15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0.09056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4.16576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87245901"/>
                      </a:ext>
                    </a:extLst>
                  </a:tr>
                  <a:tr h="245047">
                    <a:tc>
                      <a:txBody>
                        <a:bodyPr/>
                        <a:lstStyle/>
                        <a:p>
                          <a:pPr marL="0" marR="0" algn="ctr">
                            <a:lnSpc>
                              <a:spcPct val="15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0.02758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1.26868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01611784"/>
                      </a:ext>
                    </a:extLst>
                  </a:tr>
                  <a:tr h="245047">
                    <a:tc>
                      <a:txBody>
                        <a:bodyPr/>
                        <a:lstStyle/>
                        <a:p>
                          <a:pPr marL="0" marR="0" algn="ctr">
                            <a:lnSpc>
                              <a:spcPct val="15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0.00978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0.44988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375969827"/>
                      </a:ext>
                    </a:extLst>
                  </a:tr>
                  <a:tr h="245047">
                    <a:tc>
                      <a:txBody>
                        <a:bodyPr/>
                        <a:lstStyle/>
                        <a:p>
                          <a:pPr marL="0" marR="0" algn="ctr">
                            <a:lnSpc>
                              <a:spcPct val="15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1.0856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06089555"/>
                      </a:ext>
                    </a:extLst>
                  </a:tr>
                  <a:tr h="245047">
                    <a:tc>
                      <a:txBody>
                        <a:bodyPr/>
                        <a:lstStyle/>
                        <a:p>
                          <a:pPr marL="0" marR="0" algn="ctr">
                            <a:lnSpc>
                              <a:spcPct val="15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794108946"/>
                      </a:ext>
                    </a:extLst>
                  </a:tr>
                  <a:tr h="245047">
                    <a:tc>
                      <a:txBody>
                        <a:bodyPr/>
                        <a:lstStyle/>
                        <a:p>
                          <a:pPr marL="0" marR="0" algn="ctr">
                            <a:lnSpc>
                              <a:spcPct val="15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0.90804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015600146"/>
                      </a:ext>
                    </a:extLst>
                  </a:tr>
                  <a:tr h="245047">
                    <a:tc>
                      <a:txBody>
                        <a:bodyPr/>
                        <a:lstStyle/>
                        <a:p>
                          <a:pPr marL="0" marR="0" algn="ctr">
                            <a:lnSpc>
                              <a:spcPct val="15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0.03404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99105101"/>
                      </a:ext>
                    </a:extLst>
                  </a:tr>
                </a:tbl>
              </a:graphicData>
            </a:graphic>
          </p:graphicFrame>
        </mc:Fallback>
      </mc:AlternateContent>
      <p:sp>
        <p:nvSpPr>
          <p:cNvPr id="16" name="TextBox 15">
            <a:extLst>
              <a:ext uri="{FF2B5EF4-FFF2-40B4-BE49-F238E27FC236}">
                <a16:creationId xmlns:a16="http://schemas.microsoft.com/office/drawing/2014/main" id="{9AFD042B-B4CD-EC88-437E-946B86C137A1}"/>
              </a:ext>
            </a:extLst>
          </p:cNvPr>
          <p:cNvSpPr txBox="1"/>
          <p:nvPr/>
        </p:nvSpPr>
        <p:spPr>
          <a:xfrm>
            <a:off x="620531" y="2495413"/>
            <a:ext cx="8028169" cy="1427635"/>
          </a:xfrm>
          <a:prstGeom prst="rect">
            <a:avLst/>
          </a:prstGeom>
          <a:noFill/>
        </p:spPr>
        <p:txBody>
          <a:bodyPr wrap="square">
            <a:spAutoFit/>
          </a:bodyPr>
          <a:lstStyle/>
          <a:p>
            <a:pPr algn="just">
              <a:lnSpc>
                <a:spcPct val="150000"/>
              </a:lnSpc>
            </a:pPr>
            <a:r>
              <a:rPr lang="vi-VN" sz="2000">
                <a:latin typeface="Calibri" panose="020F0502020204030204" pitchFamily="34" charset="0"/>
                <a:cs typeface="Calibri" panose="020F0502020204030204" pitchFamily="34" charset="0"/>
              </a:rPr>
              <a:t>Bước tiếp theo chúng ta sẽ thực hiện phép giải mã dịch trái lên K</a:t>
            </a:r>
            <a:r>
              <a:rPr lang="vi-VN" sz="2000" baseline="-25000">
                <a:latin typeface="Calibri" panose="020F0502020204030204" pitchFamily="34" charset="0"/>
                <a:cs typeface="Calibri" panose="020F0502020204030204" pitchFamily="34" charset="0"/>
              </a:rPr>
              <a:t>1</a:t>
            </a:r>
            <a:r>
              <a:rPr lang="vi-VN" sz="2000">
                <a:latin typeface="Calibri" panose="020F0502020204030204" pitchFamily="34" charset="0"/>
                <a:cs typeface="Calibri" panose="020F0502020204030204" pitchFamily="34" charset="0"/>
              </a:rPr>
              <a:t>, mỗi lần dịch ta sẽ tính và có một bảng gồm </a:t>
            </a:r>
            <a:r>
              <a:rPr lang="en-US" sz="2000">
                <a:latin typeface="Calibri" panose="020F0502020204030204" pitchFamily="34" charset="0"/>
                <a:cs typeface="Calibri" panose="020F0502020204030204" pitchFamily="34" charset="0"/>
              </a:rPr>
              <a:t>c</a:t>
            </a:r>
            <a:r>
              <a:rPr lang="vi-VN" sz="2000">
                <a:latin typeface="Calibri" panose="020F0502020204030204" pitchFamily="34" charset="0"/>
                <a:cs typeface="Calibri" panose="020F0502020204030204" pitchFamily="34" charset="0"/>
              </a:rPr>
              <a:t>ác O</a:t>
            </a:r>
            <a:r>
              <a:rPr lang="vi-VN" sz="2000" baseline="-25000">
                <a:latin typeface="Calibri" panose="020F0502020204030204" pitchFamily="34" charset="0"/>
                <a:cs typeface="Calibri" panose="020F0502020204030204" pitchFamily="34" charset="0"/>
              </a:rPr>
              <a:t>i</a:t>
            </a:r>
            <a:r>
              <a:rPr lang="vi-VN" sz="2000">
                <a:latin typeface="Calibri" panose="020F0502020204030204" pitchFamily="34" charset="0"/>
                <a:cs typeface="Calibri" panose="020F0502020204030204" pitchFamily="34" charset="0"/>
              </a:rPr>
              <a:t>. </a:t>
            </a:r>
            <a:endParaRPr lang="en-US" sz="2000">
              <a:latin typeface="Calibri" panose="020F0502020204030204" pitchFamily="34" charset="0"/>
              <a:cs typeface="Calibri" panose="020F0502020204030204" pitchFamily="34" charset="0"/>
            </a:endParaRPr>
          </a:p>
          <a:p>
            <a:pPr algn="just">
              <a:lnSpc>
                <a:spcPct val="150000"/>
              </a:lnSpc>
            </a:pPr>
            <a:r>
              <a:rPr lang="vi-VN" sz="2000">
                <a:latin typeface="Calibri" panose="020F0502020204030204" pitchFamily="34" charset="0"/>
                <a:cs typeface="Calibri" panose="020F0502020204030204" pitchFamily="34" charset="0"/>
              </a:rPr>
              <a:t>Như vậy sau khi dịch 26 lần tương ứng 26 ký tự chúng ta sẽ có 26 bảng O</a:t>
            </a:r>
            <a:r>
              <a:rPr lang="vi-VN" sz="2000" baseline="-25000">
                <a:latin typeface="Calibri" panose="020F0502020204030204" pitchFamily="34" charset="0"/>
                <a:cs typeface="Calibri" panose="020F0502020204030204" pitchFamily="34" charset="0"/>
              </a:rPr>
              <a:t>i</a:t>
            </a:r>
            <a:r>
              <a:rPr lang="vi-VN" sz="2000">
                <a:latin typeface="Calibri" panose="020F0502020204030204" pitchFamily="34" charset="0"/>
                <a:cs typeface="Calibri" panose="020F0502020204030204" pitchFamily="34" charset="0"/>
              </a:rPr>
              <a:t> </a:t>
            </a:r>
            <a:endParaRPr lang="en-US" sz="20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6800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87ACB-C3C6-C231-08B2-1FC54AD30F88}"/>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F2B2DD49-8D4B-C6B1-C11B-32D52C8BEB47}"/>
              </a:ext>
            </a:extLst>
          </p:cNvPr>
          <p:cNvSpPr txBox="1"/>
          <p:nvPr/>
        </p:nvSpPr>
        <p:spPr>
          <a:xfrm>
            <a:off x="219075" y="104775"/>
            <a:ext cx="11356818" cy="609782"/>
          </a:xfrm>
          <a:prstGeom prst="rect">
            <a:avLst/>
          </a:prstGeom>
          <a:noFill/>
        </p:spPr>
        <p:txBody>
          <a:bodyPr wrap="square">
            <a:spAutoFit/>
          </a:bodyPr>
          <a:lstStyle/>
          <a:p>
            <a:pPr algn="just">
              <a:lnSpc>
                <a:spcPct val="150000"/>
              </a:lnSpc>
            </a:pPr>
            <a:r>
              <a:rPr lang="en-US" sz="2500" b="1"/>
              <a:t>Giả mã K</a:t>
            </a:r>
            <a:r>
              <a:rPr lang="en-US" sz="2500" b="1" baseline="-25000"/>
              <a:t>1</a:t>
            </a:r>
            <a:endParaRPr lang="en-US" sz="2500" b="1" kern="100">
              <a:solidFill>
                <a:srgbClr val="00B0F0"/>
              </a:solidFill>
              <a:effectLst/>
              <a:ea typeface="Aptos" panose="020B0004020202020204" pitchFamily="34" charset="0"/>
              <a:cs typeface="Times New Roman" panose="02020603050405020304" pitchFamily="18" charset="0"/>
            </a:endParaRPr>
          </a:p>
        </p:txBody>
      </p:sp>
      <p:graphicFrame>
        <p:nvGraphicFramePr>
          <p:cNvPr id="15" name="Content Placeholder 14">
            <a:extLst>
              <a:ext uri="{FF2B5EF4-FFF2-40B4-BE49-F238E27FC236}">
                <a16:creationId xmlns:a16="http://schemas.microsoft.com/office/drawing/2014/main" id="{A5A2A7E3-6A23-5EA1-AA41-A91BEB0E3588}"/>
              </a:ext>
            </a:extLst>
          </p:cNvPr>
          <p:cNvGraphicFramePr>
            <a:graphicFrameLocks noGrp="1"/>
          </p:cNvGraphicFramePr>
          <p:nvPr>
            <p:ph idx="1"/>
            <p:extLst>
              <p:ext uri="{D42A27DB-BD31-4B8C-83A1-F6EECF244321}">
                <p14:modId xmlns:p14="http://schemas.microsoft.com/office/powerpoint/2010/main" val="4032703214"/>
              </p:ext>
            </p:extLst>
          </p:nvPr>
        </p:nvGraphicFramePr>
        <p:xfrm>
          <a:off x="9239250" y="55428"/>
          <a:ext cx="2818110" cy="6617419"/>
        </p:xfrm>
        <a:graphic>
          <a:graphicData uri="http://schemas.openxmlformats.org/drawingml/2006/table">
            <a:tbl>
              <a:tblPr firstRow="1" firstCol="1" bandRow="1">
                <a:tableStyleId>{5940675A-B579-460E-94D1-54222C63F5DA}</a:tableStyleId>
              </a:tblPr>
              <a:tblGrid>
                <a:gridCol w="704527">
                  <a:extLst>
                    <a:ext uri="{9D8B030D-6E8A-4147-A177-3AD203B41FA5}">
                      <a16:colId xmlns:a16="http://schemas.microsoft.com/office/drawing/2014/main" val="3705062519"/>
                    </a:ext>
                  </a:extLst>
                </a:gridCol>
                <a:gridCol w="1291634">
                  <a:extLst>
                    <a:ext uri="{9D8B030D-6E8A-4147-A177-3AD203B41FA5}">
                      <a16:colId xmlns:a16="http://schemas.microsoft.com/office/drawing/2014/main" val="2716038338"/>
                    </a:ext>
                  </a:extLst>
                </a:gridCol>
                <a:gridCol w="821949">
                  <a:extLst>
                    <a:ext uri="{9D8B030D-6E8A-4147-A177-3AD203B41FA5}">
                      <a16:colId xmlns:a16="http://schemas.microsoft.com/office/drawing/2014/main" val="2053861919"/>
                    </a:ext>
                  </a:extLst>
                </a:gridCol>
              </a:tblGrid>
              <a:tr h="246197">
                <a:tc>
                  <a:txBody>
                    <a:bodyPr/>
                    <a:lstStyle/>
                    <a:p>
                      <a:pPr marL="0" marR="0" algn="ctr">
                        <a:lnSpc>
                          <a:spcPct val="100000"/>
                        </a:lnSpc>
                        <a:spcAft>
                          <a:spcPts val="800"/>
                        </a:spcAft>
                        <a:buNone/>
                      </a:pPr>
                      <a:r>
                        <a:rPr lang="en-US" sz="1200" kern="0">
                          <a:solidFill>
                            <a:schemeClr val="bg1"/>
                          </a:solidFill>
                          <a:effectLst/>
                        </a:rPr>
                        <a:t>Ký tự</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tc>
                  <a:txBody>
                    <a:bodyPr/>
                    <a:lstStyle/>
                    <a:p>
                      <a:pPr marL="0" marR="0" algn="ctr">
                        <a:lnSpc>
                          <a:spcPct val="100000"/>
                        </a:lnSpc>
                        <a:spcAft>
                          <a:spcPts val="800"/>
                        </a:spcAft>
                        <a:buNone/>
                      </a:pPr>
                      <a:r>
                        <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a:t>
                      </a:r>
                      <a:r>
                        <a:rPr lang="en-US" sz="1200" kern="100" baseline="-250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tc>
                  <a:txBody>
                    <a:bodyPr/>
                    <a:lstStyle/>
                    <a:p>
                      <a:pPr marL="0" marR="0" algn="ctr">
                        <a:lnSpc>
                          <a:spcPct val="100000"/>
                        </a:lnSpc>
                        <a:spcAft>
                          <a:spcPts val="800"/>
                        </a:spcAft>
                        <a:buNone/>
                      </a:pPr>
                      <a:r>
                        <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a:t>
                      </a:r>
                      <a:r>
                        <a:rPr lang="en-US" sz="1200" kern="100" baseline="-250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extLst>
                  <a:ext uri="{0D108BD9-81ED-4DB2-BD59-A6C34878D82A}">
                    <a16:rowId xmlns:a16="http://schemas.microsoft.com/office/drawing/2014/main" val="2273717808"/>
                  </a:ext>
                </a:extLst>
              </a:tr>
              <a:tr h="226304">
                <a:tc>
                  <a:txBody>
                    <a:bodyPr/>
                    <a:lstStyle/>
                    <a:p>
                      <a:pPr marL="0" marR="0" algn="ctr">
                        <a:lnSpc>
                          <a:spcPct val="15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0.08167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3.75682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51738712"/>
                  </a:ext>
                </a:extLst>
              </a:tr>
              <a:tr h="226304">
                <a:tc>
                  <a:txBody>
                    <a:bodyPr/>
                    <a:lstStyle/>
                    <a:p>
                      <a:pPr marL="0" marR="0" algn="ctr">
                        <a:lnSpc>
                          <a:spcPct val="15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0.01492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0.68632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528291463"/>
                  </a:ext>
                </a:extLst>
              </a:tr>
              <a:tr h="226304">
                <a:tc>
                  <a:txBody>
                    <a:bodyPr/>
                    <a:lstStyle/>
                    <a:p>
                      <a:pPr marL="0" marR="0" algn="ctr">
                        <a:lnSpc>
                          <a:spcPct val="15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1.27972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157828896"/>
                  </a:ext>
                </a:extLst>
              </a:tr>
              <a:tr h="226304">
                <a:tc>
                  <a:txBody>
                    <a:bodyPr/>
                    <a:lstStyle/>
                    <a:p>
                      <a:pPr marL="0" marR="0" algn="ctr">
                        <a:lnSpc>
                          <a:spcPct val="15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0.04253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1.95638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902391"/>
                  </a:ext>
                </a:extLst>
              </a:tr>
              <a:tr h="226304">
                <a:tc>
                  <a:txBody>
                    <a:bodyPr/>
                    <a:lstStyle/>
                    <a:p>
                      <a:pPr marL="0" marR="0" algn="ctr">
                        <a:lnSpc>
                          <a:spcPct val="15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0.12702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5.84292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860118349"/>
                  </a:ext>
                </a:extLst>
              </a:tr>
              <a:tr h="226304">
                <a:tc>
                  <a:txBody>
                    <a:bodyPr/>
                    <a:lstStyle/>
                    <a:p>
                      <a:pPr marL="0" marR="0" algn="ctr">
                        <a:lnSpc>
                          <a:spcPct val="15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0.02228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1.02488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139119834"/>
                  </a:ext>
                </a:extLst>
              </a:tr>
              <a:tr h="226304">
                <a:tc>
                  <a:txBody>
                    <a:bodyPr/>
                    <a:lstStyle/>
                    <a:p>
                      <a:pPr marL="0" marR="0" algn="ctr">
                        <a:lnSpc>
                          <a:spcPct val="15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0.9269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93505350"/>
                  </a:ext>
                </a:extLst>
              </a:tr>
              <a:tr h="226304">
                <a:tc>
                  <a:txBody>
                    <a:bodyPr/>
                    <a:lstStyle/>
                    <a:p>
                      <a:pPr marL="0" marR="0" algn="ctr">
                        <a:lnSpc>
                          <a:spcPct val="15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0.06094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2.80324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580187908"/>
                  </a:ext>
                </a:extLst>
              </a:tr>
              <a:tr h="226304">
                <a:tc>
                  <a:txBody>
                    <a:bodyPr/>
                    <a:lstStyle/>
                    <a:p>
                      <a:pPr marL="0" marR="0" algn="ctr">
                        <a:lnSpc>
                          <a:spcPct val="15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0.06966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3.20436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639935506"/>
                  </a:ext>
                </a:extLst>
              </a:tr>
              <a:tr h="226304">
                <a:tc>
                  <a:txBody>
                    <a:bodyPr/>
                    <a:lstStyle/>
                    <a:p>
                      <a:pPr marL="0" marR="0" algn="ctr">
                        <a:lnSpc>
                          <a:spcPct val="15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0.07038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19437713"/>
                  </a:ext>
                </a:extLst>
              </a:tr>
              <a:tr h="226304">
                <a:tc>
                  <a:txBody>
                    <a:bodyPr/>
                    <a:lstStyle/>
                    <a:p>
                      <a:pPr marL="0" marR="0" algn="ctr">
                        <a:lnSpc>
                          <a:spcPct val="15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0.00772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0.35512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6173072"/>
                  </a:ext>
                </a:extLst>
              </a:tr>
              <a:tr h="226304">
                <a:tc>
                  <a:txBody>
                    <a:bodyPr/>
                    <a:lstStyle/>
                    <a:p>
                      <a:pPr marL="0" marR="0" algn="ctr">
                        <a:lnSpc>
                          <a:spcPct val="15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0.04025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1.8515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180079724"/>
                  </a:ext>
                </a:extLst>
              </a:tr>
              <a:tr h="226304">
                <a:tc>
                  <a:txBody>
                    <a:bodyPr/>
                    <a:lstStyle/>
                    <a:p>
                      <a:pPr marL="0" marR="0" algn="ctr">
                        <a:lnSpc>
                          <a:spcPct val="15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0.02406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1.10676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48808680"/>
                  </a:ext>
                </a:extLst>
              </a:tr>
              <a:tr h="226304">
                <a:tc>
                  <a:txBody>
                    <a:bodyPr/>
                    <a:lstStyle/>
                    <a:p>
                      <a:pPr marL="0" marR="0" algn="ctr">
                        <a:lnSpc>
                          <a:spcPct val="15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0.06749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3.10454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11398717"/>
                  </a:ext>
                </a:extLst>
              </a:tr>
              <a:tr h="226304">
                <a:tc>
                  <a:txBody>
                    <a:bodyPr/>
                    <a:lstStyle/>
                    <a:p>
                      <a:pPr marL="0" marR="0" algn="ctr">
                        <a:lnSpc>
                          <a:spcPct val="15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0.07507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3.45322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878432031"/>
                  </a:ext>
                </a:extLst>
              </a:tr>
              <a:tr h="226304">
                <a:tc>
                  <a:txBody>
                    <a:bodyPr/>
                    <a:lstStyle/>
                    <a:p>
                      <a:pPr marL="0" marR="0" algn="ctr">
                        <a:lnSpc>
                          <a:spcPct val="15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0.01929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0.88734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111192"/>
                  </a:ext>
                </a:extLst>
              </a:tr>
              <a:tr h="226304">
                <a:tc>
                  <a:txBody>
                    <a:bodyPr/>
                    <a:lstStyle/>
                    <a:p>
                      <a:pPr marL="0" marR="0" algn="ctr">
                        <a:lnSpc>
                          <a:spcPct val="15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0.00095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0.0437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73563382"/>
                  </a:ext>
                </a:extLst>
              </a:tr>
              <a:tr h="226304">
                <a:tc>
                  <a:txBody>
                    <a:bodyPr/>
                    <a:lstStyle/>
                    <a:p>
                      <a:pPr marL="0" marR="0" algn="ctr">
                        <a:lnSpc>
                          <a:spcPct val="15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0.05987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2.75402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27019612"/>
                  </a:ext>
                </a:extLst>
              </a:tr>
              <a:tr h="226304">
                <a:tc>
                  <a:txBody>
                    <a:bodyPr/>
                    <a:lstStyle/>
                    <a:p>
                      <a:pPr marL="0" marR="0" algn="ctr">
                        <a:lnSpc>
                          <a:spcPct val="15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0.06327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2.91042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071481530"/>
                  </a:ext>
                </a:extLst>
              </a:tr>
              <a:tr h="226304">
                <a:tc>
                  <a:txBody>
                    <a:bodyPr/>
                    <a:lstStyle/>
                    <a:p>
                      <a:pPr marL="0" marR="0" algn="ctr">
                        <a:lnSpc>
                          <a:spcPct val="15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0.09056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4.16576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87245901"/>
                  </a:ext>
                </a:extLst>
              </a:tr>
              <a:tr h="226304">
                <a:tc>
                  <a:txBody>
                    <a:bodyPr/>
                    <a:lstStyle/>
                    <a:p>
                      <a:pPr marL="0" marR="0" algn="ctr">
                        <a:lnSpc>
                          <a:spcPct val="15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0.02758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1.26868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01611784"/>
                  </a:ext>
                </a:extLst>
              </a:tr>
              <a:tr h="226304">
                <a:tc>
                  <a:txBody>
                    <a:bodyPr/>
                    <a:lstStyle/>
                    <a:p>
                      <a:pPr marL="0" marR="0" algn="ctr">
                        <a:lnSpc>
                          <a:spcPct val="15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0.00978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0.44988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375969827"/>
                  </a:ext>
                </a:extLst>
              </a:tr>
              <a:tr h="226304">
                <a:tc>
                  <a:txBody>
                    <a:bodyPr/>
                    <a:lstStyle/>
                    <a:p>
                      <a:pPr marL="0" marR="0" algn="ctr">
                        <a:lnSpc>
                          <a:spcPct val="15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1.0856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06089555"/>
                  </a:ext>
                </a:extLst>
              </a:tr>
              <a:tr h="226304">
                <a:tc>
                  <a:txBody>
                    <a:bodyPr/>
                    <a:lstStyle/>
                    <a:p>
                      <a:pPr marL="0" marR="0" algn="ctr">
                        <a:lnSpc>
                          <a:spcPct val="15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794108946"/>
                  </a:ext>
                </a:extLst>
              </a:tr>
              <a:tr h="226304">
                <a:tc>
                  <a:txBody>
                    <a:bodyPr/>
                    <a:lstStyle/>
                    <a:p>
                      <a:pPr marL="0" marR="0" algn="ctr">
                        <a:lnSpc>
                          <a:spcPct val="15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0.90804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015600146"/>
                  </a:ext>
                </a:extLst>
              </a:tr>
              <a:tr h="0">
                <a:tc>
                  <a:txBody>
                    <a:bodyPr/>
                    <a:lstStyle/>
                    <a:p>
                      <a:pPr marL="0" marR="0" algn="ctr">
                        <a:lnSpc>
                          <a:spcPct val="15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0.03404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99105101"/>
                  </a:ext>
                </a:extLst>
              </a:tr>
            </a:tbl>
          </a:graphicData>
        </a:graphic>
      </p:graphicFrame>
      <p:pic>
        <p:nvPicPr>
          <p:cNvPr id="3" name="Picture 2">
            <a:extLst>
              <a:ext uri="{FF2B5EF4-FFF2-40B4-BE49-F238E27FC236}">
                <a16:creationId xmlns:a16="http://schemas.microsoft.com/office/drawing/2014/main" id="{70FB69F4-17B7-8995-E715-8EC6D68CEC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83904" y="714557"/>
            <a:ext cx="5962334" cy="5886450"/>
          </a:xfrm>
          <a:prstGeom prst="rect">
            <a:avLst/>
          </a:prstGeom>
          <a:noFill/>
          <a:ln w="28575">
            <a:solidFill>
              <a:schemeClr val="bg1"/>
            </a:solidFill>
          </a:ln>
        </p:spPr>
      </p:pic>
      <p:sp>
        <p:nvSpPr>
          <p:cNvPr id="6" name="TextBox 5">
            <a:extLst>
              <a:ext uri="{FF2B5EF4-FFF2-40B4-BE49-F238E27FC236}">
                <a16:creationId xmlns:a16="http://schemas.microsoft.com/office/drawing/2014/main" id="{E86CDED5-6B0D-89E0-DFDC-CE5873AEA81F}"/>
              </a:ext>
            </a:extLst>
          </p:cNvPr>
          <p:cNvSpPr txBox="1"/>
          <p:nvPr/>
        </p:nvSpPr>
        <p:spPr>
          <a:xfrm>
            <a:off x="2916317" y="104775"/>
            <a:ext cx="6097508" cy="464871"/>
          </a:xfrm>
          <a:prstGeom prst="rect">
            <a:avLst/>
          </a:prstGeom>
          <a:noFill/>
        </p:spPr>
        <p:txBody>
          <a:bodyPr wrap="square">
            <a:spAutoFit/>
          </a:bodyPr>
          <a:lstStyle/>
          <a:p>
            <a:pPr>
              <a:lnSpc>
                <a:spcPct val="150000"/>
              </a:lnSpc>
            </a:pPr>
            <a:r>
              <a:rPr lang="en-US" sz="1800"/>
              <a:t>K</a:t>
            </a:r>
            <a:r>
              <a:rPr lang="en-US" sz="1800" baseline="-25000"/>
              <a:t>1</a:t>
            </a:r>
            <a:r>
              <a:rPr lang="en-US" sz="1800"/>
              <a:t> = “PgqcxqrxipgqqPgqcpqffuvwxipcaePgqcaqagtpvnkpwa”</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A6220C7-C082-234A-BA58-5621D7AE07E0}"/>
                  </a:ext>
                </a:extLst>
              </p:cNvPr>
              <p:cNvSpPr txBox="1"/>
              <p:nvPr/>
            </p:nvSpPr>
            <p:spPr>
              <a:xfrm>
                <a:off x="0" y="905464"/>
                <a:ext cx="2705100" cy="870751"/>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𝑥</m:t>
                          </m:r>
                        </m:e>
                        <m:sup>
                          <m:r>
                            <a:rPr lang="en-US" i="0">
                              <a:latin typeface="Cambria Math" panose="02040503050406030204" pitchFamily="18" charset="0"/>
                            </a:rPr>
                            <m:t>2</m:t>
                          </m:r>
                        </m:sup>
                      </m:sSup>
                      <m:r>
                        <a:rPr lang="en-US" i="0">
                          <a:latin typeface="Cambria Math" panose="02040503050406030204" pitchFamily="18" charset="0"/>
                        </a:rPr>
                        <m:t>=</m:t>
                      </m:r>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𝑖</m:t>
                          </m:r>
                          <m:r>
                            <a:rPr lang="en-US" i="0">
                              <a:latin typeface="Cambria Math" panose="02040503050406030204" pitchFamily="18" charset="0"/>
                            </a:rPr>
                            <m:t>=</m:t>
                          </m:r>
                          <m:r>
                            <a:rPr lang="en-US" b="0" i="0" smtClean="0">
                              <a:latin typeface="Cambria Math" panose="02040503050406030204" pitchFamily="18" charset="0"/>
                            </a:rPr>
                            <m:t>0</m:t>
                          </m:r>
                        </m:sub>
                        <m:sup>
                          <m:r>
                            <a:rPr lang="en-US" i="1">
                              <a:latin typeface="Cambria Math" panose="02040503050406030204" pitchFamily="18" charset="0"/>
                            </a:rPr>
                            <m:t>𝑛</m:t>
                          </m:r>
                          <m:r>
                            <a:rPr lang="en-US" b="0" i="1" smtClean="0">
                              <a:latin typeface="Cambria Math" panose="02040503050406030204" pitchFamily="18" charset="0"/>
                            </a:rPr>
                            <m:t>−1</m:t>
                          </m:r>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𝑖</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𝑖</m:t>
                                          </m:r>
                                        </m:sub>
                                      </m:sSub>
                                    </m:e>
                                  </m:d>
                                </m:e>
                                <m:sup>
                                  <m:r>
                                    <a:rPr lang="en-US" i="0">
                                      <a:latin typeface="Cambria Math" panose="02040503050406030204" pitchFamily="18" charset="0"/>
                                    </a:rPr>
                                    <m:t>2</m:t>
                                  </m:r>
                                </m:sup>
                              </m:sSup>
                            </m:num>
                            <m:den>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𝑖</m:t>
                                  </m:r>
                                </m:sub>
                              </m:sSub>
                            </m:den>
                          </m:f>
                        </m:e>
                      </m:nary>
                    </m:oMath>
                  </m:oMathPara>
                </a14:m>
                <a:endParaRPr lang="en-US"/>
              </a:p>
            </p:txBody>
          </p:sp>
        </mc:Choice>
        <mc:Fallback xmlns="">
          <p:sp>
            <p:nvSpPr>
              <p:cNvPr id="7" name="TextBox 6">
                <a:extLst>
                  <a:ext uri="{FF2B5EF4-FFF2-40B4-BE49-F238E27FC236}">
                    <a16:creationId xmlns:a16="http://schemas.microsoft.com/office/drawing/2014/main" id="{6A6220C7-C082-234A-BA58-5621D7AE07E0}"/>
                  </a:ext>
                </a:extLst>
              </p:cNvPr>
              <p:cNvSpPr txBox="1">
                <a:spLocks noRot="1" noChangeAspect="1" noMove="1" noResize="1" noEditPoints="1" noAdjustHandles="1" noChangeArrowheads="1" noChangeShapeType="1" noTextEdit="1"/>
              </p:cNvSpPr>
              <p:nvPr/>
            </p:nvSpPr>
            <p:spPr>
              <a:xfrm>
                <a:off x="0" y="905464"/>
                <a:ext cx="2705100" cy="87075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488981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66E03-70FD-F220-213B-1AF0399E34F6}"/>
            </a:ext>
          </a:extLst>
        </p:cNvPr>
        <p:cNvGrpSpPr/>
        <p:nvPr/>
      </p:nvGrpSpPr>
      <p:grpSpPr>
        <a:xfrm>
          <a:off x="0" y="0"/>
          <a:ext cx="0" cy="0"/>
          <a:chOff x="0" y="0"/>
          <a:chExt cx="0" cy="0"/>
        </a:xfrm>
      </p:grpSpPr>
      <p:graphicFrame>
        <p:nvGraphicFramePr>
          <p:cNvPr id="15" name="Content Placeholder 14">
            <a:extLst>
              <a:ext uri="{FF2B5EF4-FFF2-40B4-BE49-F238E27FC236}">
                <a16:creationId xmlns:a16="http://schemas.microsoft.com/office/drawing/2014/main" id="{CACA8AAB-6947-D115-9DC7-8DF096B5264A}"/>
              </a:ext>
            </a:extLst>
          </p:cNvPr>
          <p:cNvGraphicFramePr>
            <a:graphicFrameLocks noGrp="1"/>
          </p:cNvGraphicFramePr>
          <p:nvPr>
            <p:ph idx="1"/>
          </p:nvPr>
        </p:nvGraphicFramePr>
        <p:xfrm>
          <a:off x="9239250" y="55428"/>
          <a:ext cx="2818110" cy="6617419"/>
        </p:xfrm>
        <a:graphic>
          <a:graphicData uri="http://schemas.openxmlformats.org/drawingml/2006/table">
            <a:tbl>
              <a:tblPr firstRow="1" firstCol="1" bandRow="1">
                <a:tableStyleId>{5940675A-B579-460E-94D1-54222C63F5DA}</a:tableStyleId>
              </a:tblPr>
              <a:tblGrid>
                <a:gridCol w="704527">
                  <a:extLst>
                    <a:ext uri="{9D8B030D-6E8A-4147-A177-3AD203B41FA5}">
                      <a16:colId xmlns:a16="http://schemas.microsoft.com/office/drawing/2014/main" val="3705062519"/>
                    </a:ext>
                  </a:extLst>
                </a:gridCol>
                <a:gridCol w="1291634">
                  <a:extLst>
                    <a:ext uri="{9D8B030D-6E8A-4147-A177-3AD203B41FA5}">
                      <a16:colId xmlns:a16="http://schemas.microsoft.com/office/drawing/2014/main" val="2716038338"/>
                    </a:ext>
                  </a:extLst>
                </a:gridCol>
                <a:gridCol w="821949">
                  <a:extLst>
                    <a:ext uri="{9D8B030D-6E8A-4147-A177-3AD203B41FA5}">
                      <a16:colId xmlns:a16="http://schemas.microsoft.com/office/drawing/2014/main" val="2053861919"/>
                    </a:ext>
                  </a:extLst>
                </a:gridCol>
              </a:tblGrid>
              <a:tr h="246197">
                <a:tc>
                  <a:txBody>
                    <a:bodyPr/>
                    <a:lstStyle/>
                    <a:p>
                      <a:pPr marL="0" marR="0" algn="ctr">
                        <a:lnSpc>
                          <a:spcPct val="100000"/>
                        </a:lnSpc>
                        <a:spcAft>
                          <a:spcPts val="800"/>
                        </a:spcAft>
                        <a:buNone/>
                      </a:pPr>
                      <a:r>
                        <a:rPr lang="en-US" sz="1200" kern="0">
                          <a:solidFill>
                            <a:schemeClr val="bg1"/>
                          </a:solidFill>
                          <a:effectLst/>
                        </a:rPr>
                        <a:t>Ký tự</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tc>
                  <a:txBody>
                    <a:bodyPr/>
                    <a:lstStyle/>
                    <a:p>
                      <a:pPr marL="0" marR="0" algn="ctr">
                        <a:lnSpc>
                          <a:spcPct val="100000"/>
                        </a:lnSpc>
                        <a:spcAft>
                          <a:spcPts val="800"/>
                        </a:spcAft>
                        <a:buNone/>
                      </a:pPr>
                      <a:r>
                        <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a:t>
                      </a:r>
                      <a:r>
                        <a:rPr lang="en-US" sz="1200" kern="100" baseline="-250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tc>
                  <a:txBody>
                    <a:bodyPr/>
                    <a:lstStyle/>
                    <a:p>
                      <a:pPr marL="0" marR="0" algn="ctr">
                        <a:lnSpc>
                          <a:spcPct val="100000"/>
                        </a:lnSpc>
                        <a:spcAft>
                          <a:spcPts val="800"/>
                        </a:spcAft>
                        <a:buNone/>
                      </a:pPr>
                      <a:r>
                        <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a:t>
                      </a:r>
                      <a:r>
                        <a:rPr lang="en-US" sz="1200" kern="100" baseline="-250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extLst>
                  <a:ext uri="{0D108BD9-81ED-4DB2-BD59-A6C34878D82A}">
                    <a16:rowId xmlns:a16="http://schemas.microsoft.com/office/drawing/2014/main" val="2273717808"/>
                  </a:ext>
                </a:extLst>
              </a:tr>
              <a:tr h="226304">
                <a:tc>
                  <a:txBody>
                    <a:bodyPr/>
                    <a:lstStyle/>
                    <a:p>
                      <a:pPr marL="0" marR="0" algn="ctr">
                        <a:lnSpc>
                          <a:spcPct val="15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0.08167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3.75682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51738712"/>
                  </a:ext>
                </a:extLst>
              </a:tr>
              <a:tr h="226304">
                <a:tc>
                  <a:txBody>
                    <a:bodyPr/>
                    <a:lstStyle/>
                    <a:p>
                      <a:pPr marL="0" marR="0" algn="ctr">
                        <a:lnSpc>
                          <a:spcPct val="15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0.01492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0.68632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528291463"/>
                  </a:ext>
                </a:extLst>
              </a:tr>
              <a:tr h="226304">
                <a:tc>
                  <a:txBody>
                    <a:bodyPr/>
                    <a:lstStyle/>
                    <a:p>
                      <a:pPr marL="0" marR="0" algn="ctr">
                        <a:lnSpc>
                          <a:spcPct val="15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1.27972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157828896"/>
                  </a:ext>
                </a:extLst>
              </a:tr>
              <a:tr h="226304">
                <a:tc>
                  <a:txBody>
                    <a:bodyPr/>
                    <a:lstStyle/>
                    <a:p>
                      <a:pPr marL="0" marR="0" algn="ctr">
                        <a:lnSpc>
                          <a:spcPct val="15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0.04253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1.95638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902391"/>
                  </a:ext>
                </a:extLst>
              </a:tr>
              <a:tr h="226304">
                <a:tc>
                  <a:txBody>
                    <a:bodyPr/>
                    <a:lstStyle/>
                    <a:p>
                      <a:pPr marL="0" marR="0" algn="ctr">
                        <a:lnSpc>
                          <a:spcPct val="15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0.12702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5.84292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860118349"/>
                  </a:ext>
                </a:extLst>
              </a:tr>
              <a:tr h="226304">
                <a:tc>
                  <a:txBody>
                    <a:bodyPr/>
                    <a:lstStyle/>
                    <a:p>
                      <a:pPr marL="0" marR="0" algn="ctr">
                        <a:lnSpc>
                          <a:spcPct val="15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0.02228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1.02488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139119834"/>
                  </a:ext>
                </a:extLst>
              </a:tr>
              <a:tr h="226304">
                <a:tc>
                  <a:txBody>
                    <a:bodyPr/>
                    <a:lstStyle/>
                    <a:p>
                      <a:pPr marL="0" marR="0" algn="ctr">
                        <a:lnSpc>
                          <a:spcPct val="15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0.9269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93505350"/>
                  </a:ext>
                </a:extLst>
              </a:tr>
              <a:tr h="226304">
                <a:tc>
                  <a:txBody>
                    <a:bodyPr/>
                    <a:lstStyle/>
                    <a:p>
                      <a:pPr marL="0" marR="0" algn="ctr">
                        <a:lnSpc>
                          <a:spcPct val="15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0.06094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2.80324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580187908"/>
                  </a:ext>
                </a:extLst>
              </a:tr>
              <a:tr h="226304">
                <a:tc>
                  <a:txBody>
                    <a:bodyPr/>
                    <a:lstStyle/>
                    <a:p>
                      <a:pPr marL="0" marR="0" algn="ctr">
                        <a:lnSpc>
                          <a:spcPct val="15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0.06966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3.20436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639935506"/>
                  </a:ext>
                </a:extLst>
              </a:tr>
              <a:tr h="226304">
                <a:tc>
                  <a:txBody>
                    <a:bodyPr/>
                    <a:lstStyle/>
                    <a:p>
                      <a:pPr marL="0" marR="0" algn="ctr">
                        <a:lnSpc>
                          <a:spcPct val="15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0.07038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19437713"/>
                  </a:ext>
                </a:extLst>
              </a:tr>
              <a:tr h="226304">
                <a:tc>
                  <a:txBody>
                    <a:bodyPr/>
                    <a:lstStyle/>
                    <a:p>
                      <a:pPr marL="0" marR="0" algn="ctr">
                        <a:lnSpc>
                          <a:spcPct val="15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0.00772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0.35512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6173072"/>
                  </a:ext>
                </a:extLst>
              </a:tr>
              <a:tr h="226304">
                <a:tc>
                  <a:txBody>
                    <a:bodyPr/>
                    <a:lstStyle/>
                    <a:p>
                      <a:pPr marL="0" marR="0" algn="ctr">
                        <a:lnSpc>
                          <a:spcPct val="15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0.04025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1.8515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180079724"/>
                  </a:ext>
                </a:extLst>
              </a:tr>
              <a:tr h="226304">
                <a:tc>
                  <a:txBody>
                    <a:bodyPr/>
                    <a:lstStyle/>
                    <a:p>
                      <a:pPr marL="0" marR="0" algn="ctr">
                        <a:lnSpc>
                          <a:spcPct val="15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0.02406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1.10676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48808680"/>
                  </a:ext>
                </a:extLst>
              </a:tr>
              <a:tr h="226304">
                <a:tc>
                  <a:txBody>
                    <a:bodyPr/>
                    <a:lstStyle/>
                    <a:p>
                      <a:pPr marL="0" marR="0" algn="ctr">
                        <a:lnSpc>
                          <a:spcPct val="15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0.06749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3.10454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11398717"/>
                  </a:ext>
                </a:extLst>
              </a:tr>
              <a:tr h="226304">
                <a:tc>
                  <a:txBody>
                    <a:bodyPr/>
                    <a:lstStyle/>
                    <a:p>
                      <a:pPr marL="0" marR="0" algn="ctr">
                        <a:lnSpc>
                          <a:spcPct val="15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0.07507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3.45322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878432031"/>
                  </a:ext>
                </a:extLst>
              </a:tr>
              <a:tr h="226304">
                <a:tc>
                  <a:txBody>
                    <a:bodyPr/>
                    <a:lstStyle/>
                    <a:p>
                      <a:pPr marL="0" marR="0" algn="ctr">
                        <a:lnSpc>
                          <a:spcPct val="15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0.01929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0.88734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111192"/>
                  </a:ext>
                </a:extLst>
              </a:tr>
              <a:tr h="226304">
                <a:tc>
                  <a:txBody>
                    <a:bodyPr/>
                    <a:lstStyle/>
                    <a:p>
                      <a:pPr marL="0" marR="0" algn="ctr">
                        <a:lnSpc>
                          <a:spcPct val="15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0.00095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0.0437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73563382"/>
                  </a:ext>
                </a:extLst>
              </a:tr>
              <a:tr h="226304">
                <a:tc>
                  <a:txBody>
                    <a:bodyPr/>
                    <a:lstStyle/>
                    <a:p>
                      <a:pPr marL="0" marR="0" algn="ctr">
                        <a:lnSpc>
                          <a:spcPct val="15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0.05987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2.75402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27019612"/>
                  </a:ext>
                </a:extLst>
              </a:tr>
              <a:tr h="226304">
                <a:tc>
                  <a:txBody>
                    <a:bodyPr/>
                    <a:lstStyle/>
                    <a:p>
                      <a:pPr marL="0" marR="0" algn="ctr">
                        <a:lnSpc>
                          <a:spcPct val="15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0.06327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2.91042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071481530"/>
                  </a:ext>
                </a:extLst>
              </a:tr>
              <a:tr h="226304">
                <a:tc>
                  <a:txBody>
                    <a:bodyPr/>
                    <a:lstStyle/>
                    <a:p>
                      <a:pPr marL="0" marR="0" algn="ctr">
                        <a:lnSpc>
                          <a:spcPct val="15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0.09056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4.16576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87245901"/>
                  </a:ext>
                </a:extLst>
              </a:tr>
              <a:tr h="226304">
                <a:tc>
                  <a:txBody>
                    <a:bodyPr/>
                    <a:lstStyle/>
                    <a:p>
                      <a:pPr marL="0" marR="0" algn="ctr">
                        <a:lnSpc>
                          <a:spcPct val="15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0.02758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1.26868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01611784"/>
                  </a:ext>
                </a:extLst>
              </a:tr>
              <a:tr h="226304">
                <a:tc>
                  <a:txBody>
                    <a:bodyPr/>
                    <a:lstStyle/>
                    <a:p>
                      <a:pPr marL="0" marR="0" algn="ctr">
                        <a:lnSpc>
                          <a:spcPct val="15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0.00978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0.44988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375969827"/>
                  </a:ext>
                </a:extLst>
              </a:tr>
              <a:tr h="226304">
                <a:tc>
                  <a:txBody>
                    <a:bodyPr/>
                    <a:lstStyle/>
                    <a:p>
                      <a:pPr marL="0" marR="0" algn="ctr">
                        <a:lnSpc>
                          <a:spcPct val="15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1.0856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06089555"/>
                  </a:ext>
                </a:extLst>
              </a:tr>
              <a:tr h="226304">
                <a:tc>
                  <a:txBody>
                    <a:bodyPr/>
                    <a:lstStyle/>
                    <a:p>
                      <a:pPr marL="0" marR="0" algn="ctr">
                        <a:lnSpc>
                          <a:spcPct val="15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794108946"/>
                  </a:ext>
                </a:extLst>
              </a:tr>
              <a:tr h="226304">
                <a:tc>
                  <a:txBody>
                    <a:bodyPr/>
                    <a:lstStyle/>
                    <a:p>
                      <a:pPr marL="0" marR="0" algn="ctr">
                        <a:lnSpc>
                          <a:spcPct val="15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0.90804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015600146"/>
                  </a:ext>
                </a:extLst>
              </a:tr>
              <a:tr h="0">
                <a:tc>
                  <a:txBody>
                    <a:bodyPr/>
                    <a:lstStyle/>
                    <a:p>
                      <a:pPr marL="0" marR="0" algn="ctr">
                        <a:lnSpc>
                          <a:spcPct val="15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0.03404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99105101"/>
                  </a:ext>
                </a:extLst>
              </a:tr>
            </a:tbl>
          </a:graphicData>
        </a:graphic>
      </p:graphicFrame>
      <p:pic>
        <p:nvPicPr>
          <p:cNvPr id="3" name="Picture 2">
            <a:extLst>
              <a:ext uri="{FF2B5EF4-FFF2-40B4-BE49-F238E27FC236}">
                <a16:creationId xmlns:a16="http://schemas.microsoft.com/office/drawing/2014/main" id="{05BC813B-DA2C-EA3A-575A-2C73EE9527B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83904" y="714557"/>
            <a:ext cx="5962334" cy="5886450"/>
          </a:xfrm>
          <a:prstGeom prst="rect">
            <a:avLst/>
          </a:prstGeom>
          <a:noFill/>
          <a:ln w="28575">
            <a:solidFill>
              <a:schemeClr val="bg1"/>
            </a:solidFill>
          </a:ln>
        </p:spPr>
      </p:pic>
      <p:sp>
        <p:nvSpPr>
          <p:cNvPr id="6" name="TextBox 5">
            <a:extLst>
              <a:ext uri="{FF2B5EF4-FFF2-40B4-BE49-F238E27FC236}">
                <a16:creationId xmlns:a16="http://schemas.microsoft.com/office/drawing/2014/main" id="{53D157EB-C455-647E-674E-02AE1AEFB6AA}"/>
              </a:ext>
            </a:extLst>
          </p:cNvPr>
          <p:cNvSpPr txBox="1"/>
          <p:nvPr/>
        </p:nvSpPr>
        <p:spPr>
          <a:xfrm>
            <a:off x="2916317" y="104775"/>
            <a:ext cx="6097508" cy="464871"/>
          </a:xfrm>
          <a:prstGeom prst="rect">
            <a:avLst/>
          </a:prstGeom>
          <a:noFill/>
        </p:spPr>
        <p:txBody>
          <a:bodyPr wrap="square">
            <a:spAutoFit/>
          </a:bodyPr>
          <a:lstStyle/>
          <a:p>
            <a:pPr>
              <a:lnSpc>
                <a:spcPct val="150000"/>
              </a:lnSpc>
            </a:pPr>
            <a:r>
              <a:rPr lang="en-US" sz="1800"/>
              <a:t>K</a:t>
            </a:r>
            <a:r>
              <a:rPr lang="en-US" sz="1800" baseline="-25000"/>
              <a:t>1</a:t>
            </a:r>
            <a:r>
              <a:rPr lang="en-US" sz="1800"/>
              <a:t> = “PgqcxqrxipgqqPgqcpqffuvwxipcaePgqcaqagtpvnkpwa”</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8F71DA48-46C1-2EA4-FFE8-A68B1C6DED03}"/>
                  </a:ext>
                </a:extLst>
              </p:cNvPr>
              <p:cNvGraphicFramePr>
                <a:graphicFrameLocks noGrp="1"/>
              </p:cNvGraphicFramePr>
              <p:nvPr>
                <p:extLst>
                  <p:ext uri="{D42A27DB-BD31-4B8C-83A1-F6EECF244321}">
                    <p14:modId xmlns:p14="http://schemas.microsoft.com/office/powerpoint/2010/main" val="3781743328"/>
                  </p:ext>
                </p:extLst>
              </p:nvPr>
            </p:nvGraphicFramePr>
            <p:xfrm>
              <a:off x="250134" y="55428"/>
              <a:ext cx="2373171" cy="6645542"/>
            </p:xfrm>
            <a:graphic>
              <a:graphicData uri="http://schemas.openxmlformats.org/drawingml/2006/table">
                <a:tbl>
                  <a:tblPr firstRow="1" firstCol="1" bandRow="1">
                    <a:tableStyleId>{5940675A-B579-460E-94D1-54222C63F5DA}</a:tableStyleId>
                  </a:tblPr>
                  <a:tblGrid>
                    <a:gridCol w="435951">
                      <a:extLst>
                        <a:ext uri="{9D8B030D-6E8A-4147-A177-3AD203B41FA5}">
                          <a16:colId xmlns:a16="http://schemas.microsoft.com/office/drawing/2014/main" val="2453796704"/>
                        </a:ext>
                      </a:extLst>
                    </a:gridCol>
                    <a:gridCol w="887252">
                      <a:extLst>
                        <a:ext uri="{9D8B030D-6E8A-4147-A177-3AD203B41FA5}">
                          <a16:colId xmlns:a16="http://schemas.microsoft.com/office/drawing/2014/main" val="3229751627"/>
                        </a:ext>
                      </a:extLst>
                    </a:gridCol>
                    <a:gridCol w="1049968">
                      <a:extLst>
                        <a:ext uri="{9D8B030D-6E8A-4147-A177-3AD203B41FA5}">
                          <a16:colId xmlns:a16="http://schemas.microsoft.com/office/drawing/2014/main" val="2852936276"/>
                        </a:ext>
                      </a:extLst>
                    </a:gridCol>
                  </a:tblGrid>
                  <a:tr h="66725">
                    <a:tc>
                      <a:txBody>
                        <a:bodyPr/>
                        <a:lstStyle/>
                        <a:p>
                          <a:pPr marL="0" marR="0" algn="ctr">
                            <a:lnSpc>
                              <a:spcPct val="150000"/>
                            </a:lnSpc>
                            <a:spcAft>
                              <a:spcPts val="800"/>
                            </a:spcAft>
                            <a:buNone/>
                          </a:pPr>
                          <a:r>
                            <a:rPr lang="en-US" sz="1200" kern="0">
                              <a:solidFill>
                                <a:sysClr val="windowText" lastClr="000000"/>
                              </a:solidFill>
                              <a:effectLst/>
                            </a:rPr>
                            <a:t>Shift</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FFC000"/>
                        </a:solidFill>
                      </a:tcPr>
                    </a:tc>
                    <a:tc>
                      <a:txBody>
                        <a:bodyPr/>
                        <a:lstStyle/>
                        <a:p>
                          <a:pPr marL="0" marR="0" algn="ctr">
                            <a:lnSpc>
                              <a:spcPct val="150000"/>
                            </a:lnSpc>
                            <a:spcAft>
                              <a:spcPts val="800"/>
                            </a:spcAft>
                            <a:buNone/>
                          </a:pPr>
                          <a:r>
                            <a:rPr lang="en-US" sz="1200" kern="0">
                              <a:solidFill>
                                <a:sysClr val="windowText" lastClr="000000"/>
                              </a:solidFill>
                              <a:effectLst/>
                            </a:rPr>
                            <a:t>Ký tự</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FFC000"/>
                        </a:solidFill>
                      </a:tcPr>
                    </a:tc>
                    <a:tc>
                      <a:txBody>
                        <a:bodyPr/>
                        <a:lstStyle/>
                        <a:p>
                          <a:pPr marL="0" marR="0" algn="ctr">
                            <a:lnSpc>
                              <a:spcPct val="150000"/>
                            </a:lnSpc>
                            <a:spcAft>
                              <a:spcPts val="0"/>
                            </a:spcAft>
                            <a:buNone/>
                          </a:pPr>
                          <a14:m>
                            <m:oMathPara xmlns:m="http://schemas.openxmlformats.org/officeDocument/2006/math">
                              <m:oMathParaPr>
                                <m:jc m:val="centerGroup"/>
                              </m:oMathParaPr>
                              <m:oMath xmlns:m="http://schemas.openxmlformats.org/officeDocument/2006/math">
                                <m:sSup>
                                  <m:sSupPr>
                                    <m:ctrlPr>
                                      <a:rPr lang="en-US" sz="1200" i="1" kern="100" smtClean="0">
                                        <a:solidFill>
                                          <a:sysClr val="windowText" lastClr="000000"/>
                                        </a:solidFill>
                                        <a:effectLst/>
                                        <a:latin typeface="Cambria Math" panose="02040503050406030204" pitchFamily="18" charset="0"/>
                                      </a:rPr>
                                    </m:ctrlPr>
                                  </m:sSupPr>
                                  <m:e>
                                    <m:r>
                                      <a:rPr lang="en-US" sz="1200" kern="100">
                                        <a:solidFill>
                                          <a:sysClr val="windowText" lastClr="000000"/>
                                        </a:solidFill>
                                        <a:effectLst/>
                                        <a:latin typeface="Cambria Math" panose="02040503050406030204" pitchFamily="18" charset="0"/>
                                      </a:rPr>
                                      <m:t>𝑥</m:t>
                                    </m:r>
                                  </m:e>
                                  <m:sup>
                                    <m:r>
                                      <a:rPr lang="en-US" sz="1200" kern="100">
                                        <a:solidFill>
                                          <a:sysClr val="windowText" lastClr="000000"/>
                                        </a:solidFill>
                                        <a:effectLst/>
                                        <a:latin typeface="Cambria Math" panose="02040503050406030204" pitchFamily="18" charset="0"/>
                                      </a:rPr>
                                      <m:t>2</m:t>
                                    </m:r>
                                  </m:sup>
                                </m:sSup>
                              </m:oMath>
                            </m:oMathPara>
                          </a14:m>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FFC000"/>
                        </a:solidFill>
                      </a:tcPr>
                    </a:tc>
                    <a:extLst>
                      <a:ext uri="{0D108BD9-81ED-4DB2-BD59-A6C34878D82A}">
                        <a16:rowId xmlns:a16="http://schemas.microsoft.com/office/drawing/2014/main" val="1602111150"/>
                      </a:ext>
                    </a:extLst>
                  </a:tr>
                  <a:tr h="157362">
                    <a:tc>
                      <a:txBody>
                        <a:bodyPr/>
                        <a:lstStyle/>
                        <a:p>
                          <a:pPr marL="0" marR="0" algn="ctr">
                            <a:lnSpc>
                              <a:spcPct val="150000"/>
                            </a:lnSpc>
                            <a:spcAft>
                              <a:spcPts val="800"/>
                            </a:spcAft>
                            <a:buNone/>
                          </a:pPr>
                          <a:r>
                            <a:rPr lang="en-US" sz="1200" kern="0">
                              <a:solidFill>
                                <a:sysClr val="windowText" lastClr="000000"/>
                              </a:solidFill>
                              <a:effectLst/>
                            </a:rPr>
                            <a:t>0</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A</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1687.252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468754846"/>
                      </a:ext>
                    </a:extLst>
                  </a:tr>
                  <a:tr h="157362">
                    <a:tc>
                      <a:txBody>
                        <a:bodyPr/>
                        <a:lstStyle/>
                        <a:p>
                          <a:pPr marL="0" marR="0" algn="ctr">
                            <a:lnSpc>
                              <a:spcPct val="150000"/>
                            </a:lnSpc>
                            <a:spcAft>
                              <a:spcPts val="800"/>
                            </a:spcAft>
                            <a:buNone/>
                          </a:pPr>
                          <a:r>
                            <a:rPr lang="en-US" sz="1200" kern="0">
                              <a:solidFill>
                                <a:sysClr val="windowText" lastClr="000000"/>
                              </a:solidFill>
                              <a:effectLst/>
                            </a:rPr>
                            <a:t>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B</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623.9359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506509399"/>
                      </a:ext>
                    </a:extLst>
                  </a:tr>
                  <a:tr h="157362">
                    <a:tc>
                      <a:txBody>
                        <a:bodyPr/>
                        <a:lstStyle/>
                        <a:p>
                          <a:pPr marL="0" marR="0" algn="ctr">
                            <a:lnSpc>
                              <a:spcPct val="150000"/>
                            </a:lnSpc>
                            <a:spcAft>
                              <a:spcPts val="800"/>
                            </a:spcAft>
                            <a:buNone/>
                          </a:pPr>
                          <a:r>
                            <a:rPr lang="en-US" sz="1200" kern="0">
                              <a:solidFill>
                                <a:sysClr val="windowText" lastClr="000000"/>
                              </a:solidFill>
                              <a:effectLst/>
                            </a:rPr>
                            <a:t>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C</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53.25165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260764966"/>
                      </a:ext>
                    </a:extLst>
                  </a:tr>
                  <a:tr h="157362">
                    <a:tc>
                      <a:txBody>
                        <a:bodyPr/>
                        <a:lstStyle/>
                        <a:p>
                          <a:pPr marL="0" marR="0" algn="ctr">
                            <a:lnSpc>
                              <a:spcPct val="150000"/>
                            </a:lnSpc>
                            <a:spcAft>
                              <a:spcPts val="800"/>
                            </a:spcAft>
                            <a:buNone/>
                          </a:pPr>
                          <a:r>
                            <a:rPr lang="en-US" sz="1200" kern="0">
                              <a:solidFill>
                                <a:sysClr val="windowText" lastClr="000000"/>
                              </a:solidFill>
                              <a:effectLst/>
                            </a:rPr>
                            <a:t>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D</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791.7618</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488259505"/>
                      </a:ext>
                    </a:extLst>
                  </a:tr>
                  <a:tr h="157362">
                    <a:tc>
                      <a:txBody>
                        <a:bodyPr/>
                        <a:lstStyle/>
                        <a:p>
                          <a:pPr marL="0" marR="0" algn="ctr">
                            <a:lnSpc>
                              <a:spcPct val="150000"/>
                            </a:lnSpc>
                            <a:spcAft>
                              <a:spcPts val="800"/>
                            </a:spcAft>
                            <a:buNone/>
                          </a:pPr>
                          <a:r>
                            <a:rPr lang="en-US" sz="1200" kern="0">
                              <a:solidFill>
                                <a:sysClr val="windowText" lastClr="000000"/>
                              </a:solidFill>
                              <a:effectLst/>
                            </a:rPr>
                            <a:t>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E</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149.6729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635751290"/>
                      </a:ext>
                    </a:extLst>
                  </a:tr>
                  <a:tr h="157362">
                    <a:tc>
                      <a:txBody>
                        <a:bodyPr/>
                        <a:lstStyle/>
                        <a:p>
                          <a:pPr marL="0" marR="0" algn="ctr">
                            <a:lnSpc>
                              <a:spcPct val="150000"/>
                            </a:lnSpc>
                            <a:spcAft>
                              <a:spcPts val="800"/>
                            </a:spcAft>
                            <a:buNone/>
                          </a:pPr>
                          <a:r>
                            <a:rPr lang="en-US" sz="1200" kern="0">
                              <a:solidFill>
                                <a:sysClr val="windowText" lastClr="000000"/>
                              </a:solidFill>
                              <a:effectLst/>
                            </a:rPr>
                            <a:t>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F</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604.8345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03226818"/>
                      </a:ext>
                    </a:extLst>
                  </a:tr>
                  <a:tr h="157362">
                    <a:tc>
                      <a:txBody>
                        <a:bodyPr/>
                        <a:lstStyle/>
                        <a:p>
                          <a:pPr marL="0" marR="0" algn="ctr">
                            <a:lnSpc>
                              <a:spcPct val="150000"/>
                            </a:lnSpc>
                            <a:spcAft>
                              <a:spcPts val="800"/>
                            </a:spcAft>
                            <a:buNone/>
                          </a:pPr>
                          <a:r>
                            <a:rPr lang="en-US" sz="1200" kern="0">
                              <a:solidFill>
                                <a:sysClr val="windowText" lastClr="000000"/>
                              </a:solidFill>
                              <a:effectLst/>
                            </a:rPr>
                            <a:t>6</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G</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1300.298</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927123811"/>
                      </a:ext>
                    </a:extLst>
                  </a:tr>
                  <a:tr h="157362">
                    <a:tc>
                      <a:txBody>
                        <a:bodyPr/>
                        <a:lstStyle/>
                        <a:p>
                          <a:pPr marL="0" marR="0" algn="ctr">
                            <a:lnSpc>
                              <a:spcPct val="150000"/>
                            </a:lnSpc>
                            <a:spcAft>
                              <a:spcPts val="800"/>
                            </a:spcAft>
                            <a:buNone/>
                          </a:pPr>
                          <a:r>
                            <a:rPr lang="en-US" sz="1200" kern="0">
                              <a:solidFill>
                                <a:sysClr val="windowText" lastClr="000000"/>
                              </a:solidFill>
                              <a:effectLst/>
                            </a:rPr>
                            <a:t>7</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H</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1899.131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229772012"/>
                      </a:ext>
                    </a:extLst>
                  </a:tr>
                  <a:tr h="157362">
                    <a:tc>
                      <a:txBody>
                        <a:bodyPr/>
                        <a:lstStyle/>
                        <a:p>
                          <a:pPr marL="0" marR="0" algn="ctr">
                            <a:lnSpc>
                              <a:spcPct val="150000"/>
                            </a:lnSpc>
                            <a:spcAft>
                              <a:spcPts val="800"/>
                            </a:spcAft>
                            <a:buNone/>
                          </a:pPr>
                          <a:r>
                            <a:rPr lang="en-US" sz="1200" kern="0">
                              <a:solidFill>
                                <a:sysClr val="windowText" lastClr="000000"/>
                              </a:solidFill>
                              <a:effectLst/>
                            </a:rPr>
                            <a:t>8</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I</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132.3996</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155257222"/>
                      </a:ext>
                    </a:extLst>
                  </a:tr>
                  <a:tr h="157362">
                    <a:tc>
                      <a:txBody>
                        <a:bodyPr/>
                        <a:lstStyle/>
                        <a:p>
                          <a:pPr marL="0" marR="0" algn="ctr">
                            <a:lnSpc>
                              <a:spcPct val="150000"/>
                            </a:lnSpc>
                            <a:spcAft>
                              <a:spcPts val="800"/>
                            </a:spcAft>
                            <a:buNone/>
                          </a:pPr>
                          <a:r>
                            <a:rPr lang="en-US" sz="1200" kern="0">
                              <a:solidFill>
                                <a:sysClr val="windowText" lastClr="000000"/>
                              </a:solidFill>
                              <a:effectLst/>
                            </a:rPr>
                            <a:t>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J</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554.0684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937379524"/>
                      </a:ext>
                    </a:extLst>
                  </a:tr>
                  <a:tr h="157362">
                    <a:tc>
                      <a:txBody>
                        <a:bodyPr/>
                        <a:lstStyle/>
                        <a:p>
                          <a:pPr marL="0" marR="0" algn="ctr">
                            <a:lnSpc>
                              <a:spcPct val="150000"/>
                            </a:lnSpc>
                            <a:spcAft>
                              <a:spcPts val="800"/>
                            </a:spcAft>
                            <a:buNone/>
                          </a:pPr>
                          <a:r>
                            <a:rPr lang="en-US" sz="1200" kern="0">
                              <a:solidFill>
                                <a:sysClr val="windowText" lastClr="000000"/>
                              </a:solidFill>
                              <a:effectLst/>
                            </a:rPr>
                            <a:t>10</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K</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521.0689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705776906"/>
                      </a:ext>
                    </a:extLst>
                  </a:tr>
                  <a:tr h="157362">
                    <a:tc>
                      <a:txBody>
                        <a:bodyPr/>
                        <a:lstStyle/>
                        <a:p>
                          <a:pPr marL="0" marR="0" algn="ctr">
                            <a:lnSpc>
                              <a:spcPct val="150000"/>
                            </a:lnSpc>
                            <a:spcAft>
                              <a:spcPts val="800"/>
                            </a:spcAft>
                            <a:buNone/>
                          </a:pPr>
                          <a:r>
                            <a:rPr lang="en-US" sz="1200" kern="0">
                              <a:solidFill>
                                <a:sysClr val="windowText" lastClr="000000"/>
                              </a:solidFill>
                              <a:effectLst/>
                            </a:rPr>
                            <a:t>11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L</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235.4889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585119550"/>
                      </a:ext>
                    </a:extLst>
                  </a:tr>
                  <a:tr h="157362">
                    <a:tc>
                      <a:txBody>
                        <a:bodyPr/>
                        <a:lstStyle/>
                        <a:p>
                          <a:pPr marL="0" marR="0" algn="ctr">
                            <a:lnSpc>
                              <a:spcPct val="150000"/>
                            </a:lnSpc>
                            <a:spcAft>
                              <a:spcPts val="800"/>
                            </a:spcAft>
                            <a:buNone/>
                          </a:pPr>
                          <a:r>
                            <a:rPr lang="en-US" sz="1200" kern="0">
                              <a:solidFill>
                                <a:sysClr val="windowText" lastClr="000000"/>
                              </a:solidFill>
                              <a:effectLst/>
                            </a:rPr>
                            <a:t>12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M</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470.2883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307841277"/>
                      </a:ext>
                    </a:extLst>
                  </a:tr>
                  <a:tr h="157362">
                    <a:tc>
                      <a:txBody>
                        <a:bodyPr/>
                        <a:lstStyle/>
                        <a:p>
                          <a:pPr marL="0" marR="0" algn="ctr">
                            <a:lnSpc>
                              <a:spcPct val="150000"/>
                            </a:lnSpc>
                            <a:spcAft>
                              <a:spcPts val="800"/>
                            </a:spcAft>
                            <a:buNone/>
                          </a:pPr>
                          <a:r>
                            <a:rPr lang="en-US" sz="1200" kern="0">
                              <a:solidFill>
                                <a:sysClr val="windowText" lastClr="000000"/>
                              </a:solidFill>
                              <a:effectLst/>
                            </a:rPr>
                            <a:t>13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N</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176.331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499693063"/>
                      </a:ext>
                    </a:extLst>
                  </a:tr>
                  <a:tr h="157362">
                    <a:tc>
                      <a:txBody>
                        <a:bodyPr/>
                        <a:lstStyle/>
                        <a:p>
                          <a:pPr marL="0" marR="0" algn="ctr">
                            <a:lnSpc>
                              <a:spcPct val="150000"/>
                            </a:lnSpc>
                            <a:spcAft>
                              <a:spcPts val="800"/>
                            </a:spcAft>
                            <a:buNone/>
                          </a:pPr>
                          <a:r>
                            <a:rPr lang="en-US" sz="1200" kern="0">
                              <a:solidFill>
                                <a:sysClr val="windowText" lastClr="000000"/>
                              </a:solidFill>
                              <a:effectLst/>
                            </a:rPr>
                            <a:t>14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O</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315.8464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714571466"/>
                      </a:ext>
                    </a:extLst>
                  </a:tr>
                  <a:tr h="157362">
                    <a:tc>
                      <a:txBody>
                        <a:bodyPr/>
                        <a:lstStyle/>
                        <a:p>
                          <a:pPr marL="0" marR="0" algn="ctr">
                            <a:lnSpc>
                              <a:spcPct val="150000"/>
                            </a:lnSpc>
                            <a:spcAft>
                              <a:spcPts val="800"/>
                            </a:spcAft>
                            <a:buNone/>
                          </a:pPr>
                          <a:r>
                            <a:rPr lang="en-US" sz="1200" kern="0">
                              <a:solidFill>
                                <a:sysClr val="windowText" lastClr="000000"/>
                              </a:solidFill>
                              <a:effectLst/>
                            </a:rPr>
                            <a:t>15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P</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194.583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409673897"/>
                      </a:ext>
                    </a:extLst>
                  </a:tr>
                  <a:tr h="157362">
                    <a:tc>
                      <a:txBody>
                        <a:bodyPr/>
                        <a:lstStyle/>
                        <a:p>
                          <a:pPr marL="0" marR="0" algn="ctr">
                            <a:lnSpc>
                              <a:spcPct val="150000"/>
                            </a:lnSpc>
                            <a:spcAft>
                              <a:spcPts val="800"/>
                            </a:spcAft>
                            <a:buNone/>
                          </a:pPr>
                          <a:r>
                            <a:rPr lang="en-US" sz="1200" kern="0">
                              <a:solidFill>
                                <a:sysClr val="windowText" lastClr="000000"/>
                              </a:solidFill>
                              <a:effectLst/>
                            </a:rPr>
                            <a:t>16</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Q</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2517.791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510169574"/>
                      </a:ext>
                    </a:extLst>
                  </a:tr>
                  <a:tr h="157362">
                    <a:tc>
                      <a:txBody>
                        <a:bodyPr/>
                        <a:lstStyle/>
                        <a:p>
                          <a:pPr marL="0" marR="0" algn="ctr">
                            <a:lnSpc>
                              <a:spcPct val="150000"/>
                            </a:lnSpc>
                            <a:spcAft>
                              <a:spcPts val="800"/>
                            </a:spcAft>
                            <a:buNone/>
                          </a:pPr>
                          <a:r>
                            <a:rPr lang="en-US" sz="1200" kern="0">
                              <a:solidFill>
                                <a:sysClr val="windowText" lastClr="000000"/>
                              </a:solidFill>
                              <a:effectLst/>
                            </a:rPr>
                            <a:t>17</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R</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2188.725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27850623"/>
                      </a:ext>
                    </a:extLst>
                  </a:tr>
                  <a:tr h="157362">
                    <a:tc>
                      <a:txBody>
                        <a:bodyPr/>
                        <a:lstStyle/>
                        <a:p>
                          <a:pPr marL="0" marR="0" algn="ctr">
                            <a:lnSpc>
                              <a:spcPct val="150000"/>
                            </a:lnSpc>
                            <a:spcAft>
                              <a:spcPts val="800"/>
                            </a:spcAft>
                            <a:buNone/>
                          </a:pPr>
                          <a:r>
                            <a:rPr lang="en-US" sz="1200" kern="0">
                              <a:solidFill>
                                <a:sysClr val="windowText" lastClr="000000"/>
                              </a:solidFill>
                              <a:effectLst/>
                            </a:rPr>
                            <a:t>18</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S</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1148.723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451983286"/>
                      </a:ext>
                    </a:extLst>
                  </a:tr>
                  <a:tr h="157362">
                    <a:tc>
                      <a:txBody>
                        <a:bodyPr/>
                        <a:lstStyle/>
                        <a:p>
                          <a:pPr marL="0" marR="0" algn="ctr">
                            <a:lnSpc>
                              <a:spcPct val="150000"/>
                            </a:lnSpc>
                            <a:spcAft>
                              <a:spcPts val="800"/>
                            </a:spcAft>
                            <a:buNone/>
                          </a:pPr>
                          <a:r>
                            <a:rPr lang="en-US" sz="1200" kern="0">
                              <a:solidFill>
                                <a:sysClr val="windowText" lastClr="000000"/>
                              </a:solidFill>
                              <a:effectLst/>
                            </a:rPr>
                            <a:t>19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T</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1200.936</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631365413"/>
                      </a:ext>
                    </a:extLst>
                  </a:tr>
                  <a:tr h="157362">
                    <a:tc>
                      <a:txBody>
                        <a:bodyPr/>
                        <a:lstStyle/>
                        <a:p>
                          <a:pPr marL="0" marR="0" algn="ctr">
                            <a:lnSpc>
                              <a:spcPct val="150000"/>
                            </a:lnSpc>
                            <a:spcAft>
                              <a:spcPts val="800"/>
                            </a:spcAft>
                            <a:buNone/>
                          </a:pPr>
                          <a:r>
                            <a:rPr lang="en-US" sz="1200" kern="0">
                              <a:solidFill>
                                <a:sysClr val="windowText" lastClr="000000"/>
                              </a:solidFill>
                              <a:effectLst/>
                            </a:rPr>
                            <a:t>20</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U</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287.0052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749086329"/>
                      </a:ext>
                    </a:extLst>
                  </a:tr>
                  <a:tr h="157362">
                    <a:tc>
                      <a:txBody>
                        <a:bodyPr/>
                        <a:lstStyle/>
                        <a:p>
                          <a:pPr marL="0" marR="0" algn="ctr">
                            <a:lnSpc>
                              <a:spcPct val="150000"/>
                            </a:lnSpc>
                            <a:spcAft>
                              <a:spcPts val="800"/>
                            </a:spcAft>
                            <a:buNone/>
                          </a:pPr>
                          <a:r>
                            <a:rPr lang="en-US" sz="1200" kern="0">
                              <a:solidFill>
                                <a:sysClr val="windowText" lastClr="000000"/>
                              </a:solidFill>
                              <a:effectLst/>
                            </a:rPr>
                            <a:t>21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V</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255.0844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48671032"/>
                      </a:ext>
                    </a:extLst>
                  </a:tr>
                  <a:tr h="157362">
                    <a:tc>
                      <a:txBody>
                        <a:bodyPr/>
                        <a:lstStyle/>
                        <a:p>
                          <a:pPr marL="0" marR="0" algn="ctr">
                            <a:lnSpc>
                              <a:spcPct val="150000"/>
                            </a:lnSpc>
                            <a:spcAft>
                              <a:spcPts val="800"/>
                            </a:spcAft>
                            <a:buNone/>
                          </a:pPr>
                          <a:r>
                            <a:rPr lang="en-US" sz="1200" kern="0">
                              <a:solidFill>
                                <a:sysClr val="windowText" lastClr="000000"/>
                              </a:solidFill>
                              <a:effectLst/>
                            </a:rPr>
                            <a:t>22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W</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321.125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448858586"/>
                      </a:ext>
                    </a:extLst>
                  </a:tr>
                  <a:tr h="157362">
                    <a:tc>
                      <a:txBody>
                        <a:bodyPr/>
                        <a:lstStyle/>
                        <a:p>
                          <a:pPr marL="0" marR="0" algn="ctr">
                            <a:lnSpc>
                              <a:spcPct val="150000"/>
                            </a:lnSpc>
                            <a:spcAft>
                              <a:spcPts val="800"/>
                            </a:spcAft>
                            <a:buNone/>
                          </a:pPr>
                          <a:r>
                            <a:rPr lang="en-US" sz="1200" kern="0">
                              <a:solidFill>
                                <a:sysClr val="windowText" lastClr="000000"/>
                              </a:solidFill>
                              <a:effectLst/>
                            </a:rPr>
                            <a:t>23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X</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537.8399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765466765"/>
                      </a:ext>
                    </a:extLst>
                  </a:tr>
                  <a:tr h="157362">
                    <a:tc>
                      <a:txBody>
                        <a:bodyPr/>
                        <a:lstStyle/>
                        <a:p>
                          <a:pPr marL="0" marR="0" algn="ctr">
                            <a:lnSpc>
                              <a:spcPct val="150000"/>
                            </a:lnSpc>
                            <a:spcAft>
                              <a:spcPts val="800"/>
                            </a:spcAft>
                            <a:buNone/>
                          </a:pPr>
                          <a:r>
                            <a:rPr lang="en-US" sz="1200" kern="0">
                              <a:solidFill>
                                <a:sysClr val="windowText" lastClr="000000"/>
                              </a:solidFill>
                              <a:effectLst/>
                            </a:rPr>
                            <a:t>24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Y</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368.2263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039450505"/>
                      </a:ext>
                    </a:extLst>
                  </a:tr>
                  <a:tr h="0">
                    <a:tc>
                      <a:txBody>
                        <a:bodyPr/>
                        <a:lstStyle/>
                        <a:p>
                          <a:pPr marL="0" marR="0" algn="ctr">
                            <a:lnSpc>
                              <a:spcPct val="150000"/>
                            </a:lnSpc>
                            <a:spcAft>
                              <a:spcPts val="800"/>
                            </a:spcAft>
                            <a:buNone/>
                          </a:pPr>
                          <a:r>
                            <a:rPr lang="en-US" sz="1200" kern="0">
                              <a:solidFill>
                                <a:sysClr val="windowText" lastClr="000000"/>
                              </a:solidFill>
                              <a:effectLst/>
                            </a:rPr>
                            <a:t>25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Z</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1620.055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4069953218"/>
                      </a:ext>
                    </a:extLst>
                  </a:tr>
                </a:tbl>
              </a:graphicData>
            </a:graphic>
          </p:graphicFrame>
        </mc:Choice>
        <mc:Fallback xmlns="">
          <p:graphicFrame>
            <p:nvGraphicFramePr>
              <p:cNvPr id="2" name="Table 1">
                <a:extLst>
                  <a:ext uri="{FF2B5EF4-FFF2-40B4-BE49-F238E27FC236}">
                    <a16:creationId xmlns:a16="http://schemas.microsoft.com/office/drawing/2014/main" id="{8F71DA48-46C1-2EA4-FFE8-A68B1C6DED03}"/>
                  </a:ext>
                </a:extLst>
              </p:cNvPr>
              <p:cNvGraphicFramePr>
                <a:graphicFrameLocks noGrp="1"/>
              </p:cNvGraphicFramePr>
              <p:nvPr>
                <p:extLst>
                  <p:ext uri="{D42A27DB-BD31-4B8C-83A1-F6EECF244321}">
                    <p14:modId xmlns:p14="http://schemas.microsoft.com/office/powerpoint/2010/main" val="3781743328"/>
                  </p:ext>
                </p:extLst>
              </p:nvPr>
            </p:nvGraphicFramePr>
            <p:xfrm>
              <a:off x="250134" y="55428"/>
              <a:ext cx="2373171" cy="6651765"/>
            </p:xfrm>
            <a:graphic>
              <a:graphicData uri="http://schemas.openxmlformats.org/drawingml/2006/table">
                <a:tbl>
                  <a:tblPr firstRow="1" firstCol="1" bandRow="1">
                    <a:tableStyleId>{5940675A-B579-460E-94D1-54222C63F5DA}</a:tableStyleId>
                  </a:tblPr>
                  <a:tblGrid>
                    <a:gridCol w="435951">
                      <a:extLst>
                        <a:ext uri="{9D8B030D-6E8A-4147-A177-3AD203B41FA5}">
                          <a16:colId xmlns:a16="http://schemas.microsoft.com/office/drawing/2014/main" val="2453796704"/>
                        </a:ext>
                      </a:extLst>
                    </a:gridCol>
                    <a:gridCol w="887252">
                      <a:extLst>
                        <a:ext uri="{9D8B030D-6E8A-4147-A177-3AD203B41FA5}">
                          <a16:colId xmlns:a16="http://schemas.microsoft.com/office/drawing/2014/main" val="3229751627"/>
                        </a:ext>
                      </a:extLst>
                    </a:gridCol>
                    <a:gridCol w="1049968">
                      <a:extLst>
                        <a:ext uri="{9D8B030D-6E8A-4147-A177-3AD203B41FA5}">
                          <a16:colId xmlns:a16="http://schemas.microsoft.com/office/drawing/2014/main" val="2852936276"/>
                        </a:ext>
                      </a:extLst>
                    </a:gridCol>
                  </a:tblGrid>
                  <a:tr h="280543">
                    <a:tc>
                      <a:txBody>
                        <a:bodyPr/>
                        <a:lstStyle/>
                        <a:p>
                          <a:pPr marL="0" marR="0" algn="ctr">
                            <a:lnSpc>
                              <a:spcPct val="150000"/>
                            </a:lnSpc>
                            <a:spcAft>
                              <a:spcPts val="800"/>
                            </a:spcAft>
                            <a:buNone/>
                          </a:pPr>
                          <a:r>
                            <a:rPr lang="en-US" sz="1200" kern="0">
                              <a:solidFill>
                                <a:sysClr val="windowText" lastClr="000000"/>
                              </a:solidFill>
                              <a:effectLst/>
                            </a:rPr>
                            <a:t>Shift</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FFC000"/>
                        </a:solidFill>
                      </a:tcPr>
                    </a:tc>
                    <a:tc>
                      <a:txBody>
                        <a:bodyPr/>
                        <a:lstStyle/>
                        <a:p>
                          <a:pPr marL="0" marR="0" algn="ctr">
                            <a:lnSpc>
                              <a:spcPct val="150000"/>
                            </a:lnSpc>
                            <a:spcAft>
                              <a:spcPts val="800"/>
                            </a:spcAft>
                            <a:buNone/>
                          </a:pPr>
                          <a:r>
                            <a:rPr lang="en-US" sz="1200" kern="0">
                              <a:solidFill>
                                <a:sysClr val="windowText" lastClr="000000"/>
                              </a:solidFill>
                              <a:effectLst/>
                            </a:rPr>
                            <a:t>Ký tự</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FFC000"/>
                        </a:solidFill>
                      </a:tcPr>
                    </a:tc>
                    <a:tc>
                      <a:txBody>
                        <a:bodyPr/>
                        <a:lstStyle/>
                        <a:p>
                          <a:endParaRPr lang="en-US"/>
                        </a:p>
                      </a:txBody>
                      <a:tcPr marL="44700" marR="44700" marT="0" marB="0" anchor="ctr">
                        <a:blipFill>
                          <a:blip r:embed="rId4"/>
                          <a:stretch>
                            <a:fillRect l="-126590" t="-2174" r="-1156" b="-2308696"/>
                          </a:stretch>
                        </a:blipFill>
                      </a:tcPr>
                    </a:tc>
                    <a:extLst>
                      <a:ext uri="{0D108BD9-81ED-4DB2-BD59-A6C34878D82A}">
                        <a16:rowId xmlns:a16="http://schemas.microsoft.com/office/drawing/2014/main" val="1602111150"/>
                      </a:ext>
                    </a:extLst>
                  </a:tr>
                  <a:tr h="245047">
                    <a:tc>
                      <a:txBody>
                        <a:bodyPr/>
                        <a:lstStyle/>
                        <a:p>
                          <a:pPr marL="0" marR="0" algn="ctr">
                            <a:lnSpc>
                              <a:spcPct val="150000"/>
                            </a:lnSpc>
                            <a:spcAft>
                              <a:spcPts val="800"/>
                            </a:spcAft>
                            <a:buNone/>
                          </a:pPr>
                          <a:r>
                            <a:rPr lang="en-US" sz="1200" kern="0">
                              <a:solidFill>
                                <a:sysClr val="windowText" lastClr="000000"/>
                              </a:solidFill>
                              <a:effectLst/>
                            </a:rPr>
                            <a:t>0</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A</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1687.252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468754846"/>
                      </a:ext>
                    </a:extLst>
                  </a:tr>
                  <a:tr h="245047">
                    <a:tc>
                      <a:txBody>
                        <a:bodyPr/>
                        <a:lstStyle/>
                        <a:p>
                          <a:pPr marL="0" marR="0" algn="ctr">
                            <a:lnSpc>
                              <a:spcPct val="150000"/>
                            </a:lnSpc>
                            <a:spcAft>
                              <a:spcPts val="800"/>
                            </a:spcAft>
                            <a:buNone/>
                          </a:pPr>
                          <a:r>
                            <a:rPr lang="en-US" sz="1200" kern="0">
                              <a:solidFill>
                                <a:sysClr val="windowText" lastClr="000000"/>
                              </a:solidFill>
                              <a:effectLst/>
                            </a:rPr>
                            <a:t>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B</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623.9359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506509399"/>
                      </a:ext>
                    </a:extLst>
                  </a:tr>
                  <a:tr h="245047">
                    <a:tc>
                      <a:txBody>
                        <a:bodyPr/>
                        <a:lstStyle/>
                        <a:p>
                          <a:pPr marL="0" marR="0" algn="ctr">
                            <a:lnSpc>
                              <a:spcPct val="150000"/>
                            </a:lnSpc>
                            <a:spcAft>
                              <a:spcPts val="800"/>
                            </a:spcAft>
                            <a:buNone/>
                          </a:pPr>
                          <a:r>
                            <a:rPr lang="en-US" sz="1200" kern="0">
                              <a:solidFill>
                                <a:sysClr val="windowText" lastClr="000000"/>
                              </a:solidFill>
                              <a:effectLst/>
                            </a:rPr>
                            <a:t>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C</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53.25165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260764966"/>
                      </a:ext>
                    </a:extLst>
                  </a:tr>
                  <a:tr h="245047">
                    <a:tc>
                      <a:txBody>
                        <a:bodyPr/>
                        <a:lstStyle/>
                        <a:p>
                          <a:pPr marL="0" marR="0" algn="ctr">
                            <a:lnSpc>
                              <a:spcPct val="150000"/>
                            </a:lnSpc>
                            <a:spcAft>
                              <a:spcPts val="800"/>
                            </a:spcAft>
                            <a:buNone/>
                          </a:pPr>
                          <a:r>
                            <a:rPr lang="en-US" sz="1200" kern="0">
                              <a:solidFill>
                                <a:sysClr val="windowText" lastClr="000000"/>
                              </a:solidFill>
                              <a:effectLst/>
                            </a:rPr>
                            <a:t>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D</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791.7618</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488259505"/>
                      </a:ext>
                    </a:extLst>
                  </a:tr>
                  <a:tr h="245047">
                    <a:tc>
                      <a:txBody>
                        <a:bodyPr/>
                        <a:lstStyle/>
                        <a:p>
                          <a:pPr marL="0" marR="0" algn="ctr">
                            <a:lnSpc>
                              <a:spcPct val="150000"/>
                            </a:lnSpc>
                            <a:spcAft>
                              <a:spcPts val="800"/>
                            </a:spcAft>
                            <a:buNone/>
                          </a:pPr>
                          <a:r>
                            <a:rPr lang="en-US" sz="1200" kern="0">
                              <a:solidFill>
                                <a:sysClr val="windowText" lastClr="000000"/>
                              </a:solidFill>
                              <a:effectLst/>
                            </a:rPr>
                            <a:t>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E</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149.6729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635751290"/>
                      </a:ext>
                    </a:extLst>
                  </a:tr>
                  <a:tr h="245047">
                    <a:tc>
                      <a:txBody>
                        <a:bodyPr/>
                        <a:lstStyle/>
                        <a:p>
                          <a:pPr marL="0" marR="0" algn="ctr">
                            <a:lnSpc>
                              <a:spcPct val="150000"/>
                            </a:lnSpc>
                            <a:spcAft>
                              <a:spcPts val="800"/>
                            </a:spcAft>
                            <a:buNone/>
                          </a:pPr>
                          <a:r>
                            <a:rPr lang="en-US" sz="1200" kern="0">
                              <a:solidFill>
                                <a:sysClr val="windowText" lastClr="000000"/>
                              </a:solidFill>
                              <a:effectLst/>
                            </a:rPr>
                            <a:t>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F</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604.8345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03226818"/>
                      </a:ext>
                    </a:extLst>
                  </a:tr>
                  <a:tr h="245047">
                    <a:tc>
                      <a:txBody>
                        <a:bodyPr/>
                        <a:lstStyle/>
                        <a:p>
                          <a:pPr marL="0" marR="0" algn="ctr">
                            <a:lnSpc>
                              <a:spcPct val="150000"/>
                            </a:lnSpc>
                            <a:spcAft>
                              <a:spcPts val="800"/>
                            </a:spcAft>
                            <a:buNone/>
                          </a:pPr>
                          <a:r>
                            <a:rPr lang="en-US" sz="1200" kern="0">
                              <a:solidFill>
                                <a:sysClr val="windowText" lastClr="000000"/>
                              </a:solidFill>
                              <a:effectLst/>
                            </a:rPr>
                            <a:t>6</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G</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1300.298</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927123811"/>
                      </a:ext>
                    </a:extLst>
                  </a:tr>
                  <a:tr h="245047">
                    <a:tc>
                      <a:txBody>
                        <a:bodyPr/>
                        <a:lstStyle/>
                        <a:p>
                          <a:pPr marL="0" marR="0" algn="ctr">
                            <a:lnSpc>
                              <a:spcPct val="150000"/>
                            </a:lnSpc>
                            <a:spcAft>
                              <a:spcPts val="800"/>
                            </a:spcAft>
                            <a:buNone/>
                          </a:pPr>
                          <a:r>
                            <a:rPr lang="en-US" sz="1200" kern="0">
                              <a:solidFill>
                                <a:sysClr val="windowText" lastClr="000000"/>
                              </a:solidFill>
                              <a:effectLst/>
                            </a:rPr>
                            <a:t>7</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H</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1899.131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229772012"/>
                      </a:ext>
                    </a:extLst>
                  </a:tr>
                  <a:tr h="245047">
                    <a:tc>
                      <a:txBody>
                        <a:bodyPr/>
                        <a:lstStyle/>
                        <a:p>
                          <a:pPr marL="0" marR="0" algn="ctr">
                            <a:lnSpc>
                              <a:spcPct val="150000"/>
                            </a:lnSpc>
                            <a:spcAft>
                              <a:spcPts val="800"/>
                            </a:spcAft>
                            <a:buNone/>
                          </a:pPr>
                          <a:r>
                            <a:rPr lang="en-US" sz="1200" kern="0">
                              <a:solidFill>
                                <a:sysClr val="windowText" lastClr="000000"/>
                              </a:solidFill>
                              <a:effectLst/>
                            </a:rPr>
                            <a:t>8</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I</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132.3996</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155257222"/>
                      </a:ext>
                    </a:extLst>
                  </a:tr>
                  <a:tr h="245047">
                    <a:tc>
                      <a:txBody>
                        <a:bodyPr/>
                        <a:lstStyle/>
                        <a:p>
                          <a:pPr marL="0" marR="0" algn="ctr">
                            <a:lnSpc>
                              <a:spcPct val="150000"/>
                            </a:lnSpc>
                            <a:spcAft>
                              <a:spcPts val="800"/>
                            </a:spcAft>
                            <a:buNone/>
                          </a:pPr>
                          <a:r>
                            <a:rPr lang="en-US" sz="1200" kern="0">
                              <a:solidFill>
                                <a:sysClr val="windowText" lastClr="000000"/>
                              </a:solidFill>
                              <a:effectLst/>
                            </a:rPr>
                            <a:t>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J</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554.0684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937379524"/>
                      </a:ext>
                    </a:extLst>
                  </a:tr>
                  <a:tr h="245047">
                    <a:tc>
                      <a:txBody>
                        <a:bodyPr/>
                        <a:lstStyle/>
                        <a:p>
                          <a:pPr marL="0" marR="0" algn="ctr">
                            <a:lnSpc>
                              <a:spcPct val="150000"/>
                            </a:lnSpc>
                            <a:spcAft>
                              <a:spcPts val="800"/>
                            </a:spcAft>
                            <a:buNone/>
                          </a:pPr>
                          <a:r>
                            <a:rPr lang="en-US" sz="1200" kern="0">
                              <a:solidFill>
                                <a:sysClr val="windowText" lastClr="000000"/>
                              </a:solidFill>
                              <a:effectLst/>
                            </a:rPr>
                            <a:t>10</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K</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521.0689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705776906"/>
                      </a:ext>
                    </a:extLst>
                  </a:tr>
                  <a:tr h="245047">
                    <a:tc>
                      <a:txBody>
                        <a:bodyPr/>
                        <a:lstStyle/>
                        <a:p>
                          <a:pPr marL="0" marR="0" algn="ctr">
                            <a:lnSpc>
                              <a:spcPct val="150000"/>
                            </a:lnSpc>
                            <a:spcAft>
                              <a:spcPts val="800"/>
                            </a:spcAft>
                            <a:buNone/>
                          </a:pPr>
                          <a:r>
                            <a:rPr lang="en-US" sz="1200" kern="0">
                              <a:solidFill>
                                <a:sysClr val="windowText" lastClr="000000"/>
                              </a:solidFill>
                              <a:effectLst/>
                            </a:rPr>
                            <a:t>11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L</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235.4889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585119550"/>
                      </a:ext>
                    </a:extLst>
                  </a:tr>
                  <a:tr h="245047">
                    <a:tc>
                      <a:txBody>
                        <a:bodyPr/>
                        <a:lstStyle/>
                        <a:p>
                          <a:pPr marL="0" marR="0" algn="ctr">
                            <a:lnSpc>
                              <a:spcPct val="150000"/>
                            </a:lnSpc>
                            <a:spcAft>
                              <a:spcPts val="800"/>
                            </a:spcAft>
                            <a:buNone/>
                          </a:pPr>
                          <a:r>
                            <a:rPr lang="en-US" sz="1200" kern="0">
                              <a:solidFill>
                                <a:sysClr val="windowText" lastClr="000000"/>
                              </a:solidFill>
                              <a:effectLst/>
                            </a:rPr>
                            <a:t>12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M</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470.2883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307841277"/>
                      </a:ext>
                    </a:extLst>
                  </a:tr>
                  <a:tr h="245047">
                    <a:tc>
                      <a:txBody>
                        <a:bodyPr/>
                        <a:lstStyle/>
                        <a:p>
                          <a:pPr marL="0" marR="0" algn="ctr">
                            <a:lnSpc>
                              <a:spcPct val="150000"/>
                            </a:lnSpc>
                            <a:spcAft>
                              <a:spcPts val="800"/>
                            </a:spcAft>
                            <a:buNone/>
                          </a:pPr>
                          <a:r>
                            <a:rPr lang="en-US" sz="1200" kern="0">
                              <a:solidFill>
                                <a:sysClr val="windowText" lastClr="000000"/>
                              </a:solidFill>
                              <a:effectLst/>
                            </a:rPr>
                            <a:t>13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N</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176.331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499693063"/>
                      </a:ext>
                    </a:extLst>
                  </a:tr>
                  <a:tr h="245047">
                    <a:tc>
                      <a:txBody>
                        <a:bodyPr/>
                        <a:lstStyle/>
                        <a:p>
                          <a:pPr marL="0" marR="0" algn="ctr">
                            <a:lnSpc>
                              <a:spcPct val="150000"/>
                            </a:lnSpc>
                            <a:spcAft>
                              <a:spcPts val="800"/>
                            </a:spcAft>
                            <a:buNone/>
                          </a:pPr>
                          <a:r>
                            <a:rPr lang="en-US" sz="1200" kern="0">
                              <a:solidFill>
                                <a:sysClr val="windowText" lastClr="000000"/>
                              </a:solidFill>
                              <a:effectLst/>
                            </a:rPr>
                            <a:t>14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O</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315.8464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714571466"/>
                      </a:ext>
                    </a:extLst>
                  </a:tr>
                  <a:tr h="245047">
                    <a:tc>
                      <a:txBody>
                        <a:bodyPr/>
                        <a:lstStyle/>
                        <a:p>
                          <a:pPr marL="0" marR="0" algn="ctr">
                            <a:lnSpc>
                              <a:spcPct val="150000"/>
                            </a:lnSpc>
                            <a:spcAft>
                              <a:spcPts val="800"/>
                            </a:spcAft>
                            <a:buNone/>
                          </a:pPr>
                          <a:r>
                            <a:rPr lang="en-US" sz="1200" kern="0">
                              <a:solidFill>
                                <a:sysClr val="windowText" lastClr="000000"/>
                              </a:solidFill>
                              <a:effectLst/>
                            </a:rPr>
                            <a:t>15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P</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194.583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409673897"/>
                      </a:ext>
                    </a:extLst>
                  </a:tr>
                  <a:tr h="245047">
                    <a:tc>
                      <a:txBody>
                        <a:bodyPr/>
                        <a:lstStyle/>
                        <a:p>
                          <a:pPr marL="0" marR="0" algn="ctr">
                            <a:lnSpc>
                              <a:spcPct val="150000"/>
                            </a:lnSpc>
                            <a:spcAft>
                              <a:spcPts val="800"/>
                            </a:spcAft>
                            <a:buNone/>
                          </a:pPr>
                          <a:r>
                            <a:rPr lang="en-US" sz="1200" kern="0">
                              <a:solidFill>
                                <a:sysClr val="windowText" lastClr="000000"/>
                              </a:solidFill>
                              <a:effectLst/>
                            </a:rPr>
                            <a:t>16</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Q</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2517.791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510169574"/>
                      </a:ext>
                    </a:extLst>
                  </a:tr>
                  <a:tr h="245047">
                    <a:tc>
                      <a:txBody>
                        <a:bodyPr/>
                        <a:lstStyle/>
                        <a:p>
                          <a:pPr marL="0" marR="0" algn="ctr">
                            <a:lnSpc>
                              <a:spcPct val="150000"/>
                            </a:lnSpc>
                            <a:spcAft>
                              <a:spcPts val="800"/>
                            </a:spcAft>
                            <a:buNone/>
                          </a:pPr>
                          <a:r>
                            <a:rPr lang="en-US" sz="1200" kern="0">
                              <a:solidFill>
                                <a:sysClr val="windowText" lastClr="000000"/>
                              </a:solidFill>
                              <a:effectLst/>
                            </a:rPr>
                            <a:t>17</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R</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2188.725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27850623"/>
                      </a:ext>
                    </a:extLst>
                  </a:tr>
                  <a:tr h="245047">
                    <a:tc>
                      <a:txBody>
                        <a:bodyPr/>
                        <a:lstStyle/>
                        <a:p>
                          <a:pPr marL="0" marR="0" algn="ctr">
                            <a:lnSpc>
                              <a:spcPct val="150000"/>
                            </a:lnSpc>
                            <a:spcAft>
                              <a:spcPts val="800"/>
                            </a:spcAft>
                            <a:buNone/>
                          </a:pPr>
                          <a:r>
                            <a:rPr lang="en-US" sz="1200" kern="0">
                              <a:solidFill>
                                <a:sysClr val="windowText" lastClr="000000"/>
                              </a:solidFill>
                              <a:effectLst/>
                            </a:rPr>
                            <a:t>18</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S</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1148.723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451983286"/>
                      </a:ext>
                    </a:extLst>
                  </a:tr>
                  <a:tr h="245047">
                    <a:tc>
                      <a:txBody>
                        <a:bodyPr/>
                        <a:lstStyle/>
                        <a:p>
                          <a:pPr marL="0" marR="0" algn="ctr">
                            <a:lnSpc>
                              <a:spcPct val="150000"/>
                            </a:lnSpc>
                            <a:spcAft>
                              <a:spcPts val="800"/>
                            </a:spcAft>
                            <a:buNone/>
                          </a:pPr>
                          <a:r>
                            <a:rPr lang="en-US" sz="1200" kern="0">
                              <a:solidFill>
                                <a:sysClr val="windowText" lastClr="000000"/>
                              </a:solidFill>
                              <a:effectLst/>
                            </a:rPr>
                            <a:t>19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T</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1200.936</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631365413"/>
                      </a:ext>
                    </a:extLst>
                  </a:tr>
                  <a:tr h="245047">
                    <a:tc>
                      <a:txBody>
                        <a:bodyPr/>
                        <a:lstStyle/>
                        <a:p>
                          <a:pPr marL="0" marR="0" algn="ctr">
                            <a:lnSpc>
                              <a:spcPct val="150000"/>
                            </a:lnSpc>
                            <a:spcAft>
                              <a:spcPts val="800"/>
                            </a:spcAft>
                            <a:buNone/>
                          </a:pPr>
                          <a:r>
                            <a:rPr lang="en-US" sz="1200" kern="0">
                              <a:solidFill>
                                <a:sysClr val="windowText" lastClr="000000"/>
                              </a:solidFill>
                              <a:effectLst/>
                            </a:rPr>
                            <a:t>20</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U</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287.0052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749086329"/>
                      </a:ext>
                    </a:extLst>
                  </a:tr>
                  <a:tr h="245047">
                    <a:tc>
                      <a:txBody>
                        <a:bodyPr/>
                        <a:lstStyle/>
                        <a:p>
                          <a:pPr marL="0" marR="0" algn="ctr">
                            <a:lnSpc>
                              <a:spcPct val="150000"/>
                            </a:lnSpc>
                            <a:spcAft>
                              <a:spcPts val="800"/>
                            </a:spcAft>
                            <a:buNone/>
                          </a:pPr>
                          <a:r>
                            <a:rPr lang="en-US" sz="1200" kern="0">
                              <a:solidFill>
                                <a:sysClr val="windowText" lastClr="000000"/>
                              </a:solidFill>
                              <a:effectLst/>
                            </a:rPr>
                            <a:t>21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V</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255.0844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48671032"/>
                      </a:ext>
                    </a:extLst>
                  </a:tr>
                  <a:tr h="245047">
                    <a:tc>
                      <a:txBody>
                        <a:bodyPr/>
                        <a:lstStyle/>
                        <a:p>
                          <a:pPr marL="0" marR="0" algn="ctr">
                            <a:lnSpc>
                              <a:spcPct val="150000"/>
                            </a:lnSpc>
                            <a:spcAft>
                              <a:spcPts val="800"/>
                            </a:spcAft>
                            <a:buNone/>
                          </a:pPr>
                          <a:r>
                            <a:rPr lang="en-US" sz="1200" kern="0">
                              <a:solidFill>
                                <a:sysClr val="windowText" lastClr="000000"/>
                              </a:solidFill>
                              <a:effectLst/>
                            </a:rPr>
                            <a:t>22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W</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321.125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448858586"/>
                      </a:ext>
                    </a:extLst>
                  </a:tr>
                  <a:tr h="245047">
                    <a:tc>
                      <a:txBody>
                        <a:bodyPr/>
                        <a:lstStyle/>
                        <a:p>
                          <a:pPr marL="0" marR="0" algn="ctr">
                            <a:lnSpc>
                              <a:spcPct val="150000"/>
                            </a:lnSpc>
                            <a:spcAft>
                              <a:spcPts val="800"/>
                            </a:spcAft>
                            <a:buNone/>
                          </a:pPr>
                          <a:r>
                            <a:rPr lang="en-US" sz="1200" kern="0">
                              <a:solidFill>
                                <a:sysClr val="windowText" lastClr="000000"/>
                              </a:solidFill>
                              <a:effectLst/>
                            </a:rPr>
                            <a:t>23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X</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537.8399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765466765"/>
                      </a:ext>
                    </a:extLst>
                  </a:tr>
                  <a:tr h="245047">
                    <a:tc>
                      <a:txBody>
                        <a:bodyPr/>
                        <a:lstStyle/>
                        <a:p>
                          <a:pPr marL="0" marR="0" algn="ctr">
                            <a:lnSpc>
                              <a:spcPct val="150000"/>
                            </a:lnSpc>
                            <a:spcAft>
                              <a:spcPts val="800"/>
                            </a:spcAft>
                            <a:buNone/>
                          </a:pPr>
                          <a:r>
                            <a:rPr lang="en-US" sz="1200" kern="0">
                              <a:solidFill>
                                <a:sysClr val="windowText" lastClr="000000"/>
                              </a:solidFill>
                              <a:effectLst/>
                            </a:rPr>
                            <a:t>24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Y</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368.2263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039450505"/>
                      </a:ext>
                    </a:extLst>
                  </a:tr>
                  <a:tr h="245047">
                    <a:tc>
                      <a:txBody>
                        <a:bodyPr/>
                        <a:lstStyle/>
                        <a:p>
                          <a:pPr marL="0" marR="0" algn="ctr">
                            <a:lnSpc>
                              <a:spcPct val="150000"/>
                            </a:lnSpc>
                            <a:spcAft>
                              <a:spcPts val="800"/>
                            </a:spcAft>
                            <a:buNone/>
                          </a:pPr>
                          <a:r>
                            <a:rPr lang="en-US" sz="1200" kern="0">
                              <a:solidFill>
                                <a:sysClr val="windowText" lastClr="000000"/>
                              </a:solidFill>
                              <a:effectLst/>
                            </a:rPr>
                            <a:t>25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Z</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1620.055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4069953218"/>
                      </a:ext>
                    </a:extLst>
                  </a:tr>
                </a:tbl>
              </a:graphicData>
            </a:graphic>
          </p:graphicFrame>
        </mc:Fallback>
      </mc:AlternateContent>
    </p:spTree>
    <p:extLst>
      <p:ext uri="{BB962C8B-B14F-4D97-AF65-F5344CB8AC3E}">
        <p14:creationId xmlns:p14="http://schemas.microsoft.com/office/powerpoint/2010/main" val="35181530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391A9-2904-BE5B-5C1A-9BF404BB0E9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16F7369-5CF1-A413-ADFD-12B8C321B026}"/>
              </a:ext>
            </a:extLst>
          </p:cNvPr>
          <p:cNvSpPr txBox="1"/>
          <p:nvPr/>
        </p:nvSpPr>
        <p:spPr>
          <a:xfrm>
            <a:off x="2916317" y="104775"/>
            <a:ext cx="6097508" cy="464871"/>
          </a:xfrm>
          <a:prstGeom prst="rect">
            <a:avLst/>
          </a:prstGeom>
          <a:noFill/>
        </p:spPr>
        <p:txBody>
          <a:bodyPr wrap="square">
            <a:spAutoFit/>
          </a:bodyPr>
          <a:lstStyle/>
          <a:p>
            <a:pPr>
              <a:lnSpc>
                <a:spcPct val="150000"/>
              </a:lnSpc>
            </a:pPr>
            <a:r>
              <a:rPr lang="en-US" sz="1800"/>
              <a:t>K</a:t>
            </a:r>
            <a:r>
              <a:rPr lang="en-US" sz="1800" baseline="-25000"/>
              <a:t>1</a:t>
            </a:r>
            <a:r>
              <a:rPr lang="en-US" sz="1800"/>
              <a:t> = “PgqcxqrxipgqqPgqcpqffuvwxipcaePgqcaqagtpvnkpwa”</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8F8071F0-F717-51AC-C081-4F3FC8238AC4}"/>
                  </a:ext>
                </a:extLst>
              </p:cNvPr>
              <p:cNvGraphicFramePr>
                <a:graphicFrameLocks noGrp="1"/>
              </p:cNvGraphicFramePr>
              <p:nvPr>
                <p:extLst>
                  <p:ext uri="{D42A27DB-BD31-4B8C-83A1-F6EECF244321}">
                    <p14:modId xmlns:p14="http://schemas.microsoft.com/office/powerpoint/2010/main" val="2229797039"/>
                  </p:ext>
                </p:extLst>
              </p:nvPr>
            </p:nvGraphicFramePr>
            <p:xfrm>
              <a:off x="250134" y="55428"/>
              <a:ext cx="2373171" cy="6645542"/>
            </p:xfrm>
            <a:graphic>
              <a:graphicData uri="http://schemas.openxmlformats.org/drawingml/2006/table">
                <a:tbl>
                  <a:tblPr firstRow="1" firstCol="1" bandRow="1">
                    <a:tableStyleId>{5940675A-B579-460E-94D1-54222C63F5DA}</a:tableStyleId>
                  </a:tblPr>
                  <a:tblGrid>
                    <a:gridCol w="435951">
                      <a:extLst>
                        <a:ext uri="{9D8B030D-6E8A-4147-A177-3AD203B41FA5}">
                          <a16:colId xmlns:a16="http://schemas.microsoft.com/office/drawing/2014/main" val="2453796704"/>
                        </a:ext>
                      </a:extLst>
                    </a:gridCol>
                    <a:gridCol w="887252">
                      <a:extLst>
                        <a:ext uri="{9D8B030D-6E8A-4147-A177-3AD203B41FA5}">
                          <a16:colId xmlns:a16="http://schemas.microsoft.com/office/drawing/2014/main" val="3229751627"/>
                        </a:ext>
                      </a:extLst>
                    </a:gridCol>
                    <a:gridCol w="1049968">
                      <a:extLst>
                        <a:ext uri="{9D8B030D-6E8A-4147-A177-3AD203B41FA5}">
                          <a16:colId xmlns:a16="http://schemas.microsoft.com/office/drawing/2014/main" val="2852936276"/>
                        </a:ext>
                      </a:extLst>
                    </a:gridCol>
                  </a:tblGrid>
                  <a:tr h="66725">
                    <a:tc>
                      <a:txBody>
                        <a:bodyPr/>
                        <a:lstStyle/>
                        <a:p>
                          <a:pPr marL="0" marR="0" algn="ctr">
                            <a:lnSpc>
                              <a:spcPct val="150000"/>
                            </a:lnSpc>
                            <a:spcAft>
                              <a:spcPts val="800"/>
                            </a:spcAft>
                            <a:buNone/>
                          </a:pPr>
                          <a:r>
                            <a:rPr lang="en-US" sz="1200" kern="0">
                              <a:solidFill>
                                <a:sysClr val="windowText" lastClr="000000"/>
                              </a:solidFill>
                              <a:effectLst/>
                            </a:rPr>
                            <a:t>Shift</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FFC000"/>
                        </a:solidFill>
                      </a:tcPr>
                    </a:tc>
                    <a:tc>
                      <a:txBody>
                        <a:bodyPr/>
                        <a:lstStyle/>
                        <a:p>
                          <a:pPr marL="0" marR="0" algn="ctr">
                            <a:lnSpc>
                              <a:spcPct val="150000"/>
                            </a:lnSpc>
                            <a:spcAft>
                              <a:spcPts val="800"/>
                            </a:spcAft>
                            <a:buNone/>
                          </a:pPr>
                          <a:r>
                            <a:rPr lang="en-US" sz="1200" kern="0">
                              <a:solidFill>
                                <a:sysClr val="windowText" lastClr="000000"/>
                              </a:solidFill>
                              <a:effectLst/>
                            </a:rPr>
                            <a:t>Ký tự</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FFC000"/>
                        </a:solidFill>
                      </a:tcPr>
                    </a:tc>
                    <a:tc>
                      <a:txBody>
                        <a:bodyPr/>
                        <a:lstStyle/>
                        <a:p>
                          <a:pPr marL="0" marR="0" algn="ctr">
                            <a:lnSpc>
                              <a:spcPct val="150000"/>
                            </a:lnSpc>
                            <a:spcAft>
                              <a:spcPts val="0"/>
                            </a:spcAft>
                            <a:buNone/>
                          </a:pPr>
                          <a14:m>
                            <m:oMathPara xmlns:m="http://schemas.openxmlformats.org/officeDocument/2006/math">
                              <m:oMathParaPr>
                                <m:jc m:val="centerGroup"/>
                              </m:oMathParaPr>
                              <m:oMath xmlns:m="http://schemas.openxmlformats.org/officeDocument/2006/math">
                                <m:sSup>
                                  <m:sSupPr>
                                    <m:ctrlPr>
                                      <a:rPr lang="en-US" sz="1200" i="1" kern="100" smtClean="0">
                                        <a:solidFill>
                                          <a:sysClr val="windowText" lastClr="000000"/>
                                        </a:solidFill>
                                        <a:effectLst/>
                                        <a:latin typeface="Cambria Math" panose="02040503050406030204" pitchFamily="18" charset="0"/>
                                      </a:rPr>
                                    </m:ctrlPr>
                                  </m:sSupPr>
                                  <m:e>
                                    <m:r>
                                      <a:rPr lang="en-US" sz="1200" kern="100">
                                        <a:solidFill>
                                          <a:sysClr val="windowText" lastClr="000000"/>
                                        </a:solidFill>
                                        <a:effectLst/>
                                        <a:latin typeface="Cambria Math" panose="02040503050406030204" pitchFamily="18" charset="0"/>
                                      </a:rPr>
                                      <m:t>𝑥</m:t>
                                    </m:r>
                                  </m:e>
                                  <m:sup>
                                    <m:r>
                                      <a:rPr lang="en-US" sz="1200" kern="100">
                                        <a:solidFill>
                                          <a:sysClr val="windowText" lastClr="000000"/>
                                        </a:solidFill>
                                        <a:effectLst/>
                                        <a:latin typeface="Cambria Math" panose="02040503050406030204" pitchFamily="18" charset="0"/>
                                      </a:rPr>
                                      <m:t>2</m:t>
                                    </m:r>
                                  </m:sup>
                                </m:sSup>
                              </m:oMath>
                            </m:oMathPara>
                          </a14:m>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FFC000"/>
                        </a:solidFill>
                      </a:tcPr>
                    </a:tc>
                    <a:extLst>
                      <a:ext uri="{0D108BD9-81ED-4DB2-BD59-A6C34878D82A}">
                        <a16:rowId xmlns:a16="http://schemas.microsoft.com/office/drawing/2014/main" val="1602111150"/>
                      </a:ext>
                    </a:extLst>
                  </a:tr>
                  <a:tr h="157362">
                    <a:tc>
                      <a:txBody>
                        <a:bodyPr/>
                        <a:lstStyle/>
                        <a:p>
                          <a:pPr marL="0" marR="0" algn="ctr">
                            <a:lnSpc>
                              <a:spcPct val="150000"/>
                            </a:lnSpc>
                            <a:spcAft>
                              <a:spcPts val="800"/>
                            </a:spcAft>
                            <a:buNone/>
                          </a:pPr>
                          <a:r>
                            <a:rPr lang="en-US" sz="1200" kern="0">
                              <a:solidFill>
                                <a:sysClr val="windowText" lastClr="000000"/>
                              </a:solidFill>
                              <a:effectLst/>
                            </a:rPr>
                            <a:t>0</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A</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1687.252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468754846"/>
                      </a:ext>
                    </a:extLst>
                  </a:tr>
                  <a:tr h="157362">
                    <a:tc>
                      <a:txBody>
                        <a:bodyPr/>
                        <a:lstStyle/>
                        <a:p>
                          <a:pPr marL="0" marR="0" algn="ctr">
                            <a:lnSpc>
                              <a:spcPct val="150000"/>
                            </a:lnSpc>
                            <a:spcAft>
                              <a:spcPts val="800"/>
                            </a:spcAft>
                            <a:buNone/>
                          </a:pPr>
                          <a:r>
                            <a:rPr lang="en-US" sz="1200" kern="0">
                              <a:solidFill>
                                <a:sysClr val="windowText" lastClr="000000"/>
                              </a:solidFill>
                              <a:effectLst/>
                            </a:rPr>
                            <a:t>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B</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623.9359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506509399"/>
                      </a:ext>
                    </a:extLst>
                  </a:tr>
                  <a:tr h="157362">
                    <a:tc>
                      <a:txBody>
                        <a:bodyPr/>
                        <a:lstStyle/>
                        <a:p>
                          <a:pPr marL="0" marR="0" algn="ctr">
                            <a:lnSpc>
                              <a:spcPct val="150000"/>
                            </a:lnSpc>
                            <a:spcAft>
                              <a:spcPts val="800"/>
                            </a:spcAft>
                            <a:buNone/>
                          </a:pPr>
                          <a:r>
                            <a:rPr lang="en-US" sz="1200" kern="0">
                              <a:solidFill>
                                <a:sysClr val="windowText" lastClr="000000"/>
                              </a:solidFill>
                              <a:effectLst/>
                            </a:rPr>
                            <a:t>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chemeClr val="accent6">
                            <a:lumMod val="40000"/>
                            <a:lumOff val="60000"/>
                          </a:schemeClr>
                        </a:solidFill>
                      </a:tcPr>
                    </a:tc>
                    <a:tc>
                      <a:txBody>
                        <a:bodyPr/>
                        <a:lstStyle/>
                        <a:p>
                          <a:pPr marL="0" marR="0" algn="ctr">
                            <a:lnSpc>
                              <a:spcPct val="150000"/>
                            </a:lnSpc>
                            <a:spcAft>
                              <a:spcPts val="800"/>
                            </a:spcAft>
                            <a:buNone/>
                          </a:pPr>
                          <a:r>
                            <a:rPr lang="en-US" sz="1200" kern="0">
                              <a:solidFill>
                                <a:sysClr val="windowText" lastClr="000000"/>
                              </a:solidFill>
                              <a:effectLst/>
                            </a:rPr>
                            <a:t>C</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chemeClr val="accent6">
                            <a:lumMod val="40000"/>
                            <a:lumOff val="60000"/>
                          </a:schemeClr>
                        </a:solidFill>
                      </a:tcPr>
                    </a:tc>
                    <a:tc>
                      <a:txBody>
                        <a:bodyPr/>
                        <a:lstStyle/>
                        <a:p>
                          <a:pPr marL="0" marR="0" algn="ctr">
                            <a:lnSpc>
                              <a:spcPct val="150000"/>
                            </a:lnSpc>
                            <a:spcAft>
                              <a:spcPts val="800"/>
                            </a:spcAft>
                            <a:buNone/>
                          </a:pPr>
                          <a:r>
                            <a:rPr lang="en-US" sz="1200" kern="0">
                              <a:solidFill>
                                <a:sysClr val="windowText" lastClr="000000"/>
                              </a:solidFill>
                              <a:effectLst/>
                            </a:rPr>
                            <a:t>53.25165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chemeClr val="accent6">
                            <a:lumMod val="40000"/>
                            <a:lumOff val="60000"/>
                          </a:schemeClr>
                        </a:solidFill>
                      </a:tcPr>
                    </a:tc>
                    <a:extLst>
                      <a:ext uri="{0D108BD9-81ED-4DB2-BD59-A6C34878D82A}">
                        <a16:rowId xmlns:a16="http://schemas.microsoft.com/office/drawing/2014/main" val="3260764966"/>
                      </a:ext>
                    </a:extLst>
                  </a:tr>
                  <a:tr h="157362">
                    <a:tc>
                      <a:txBody>
                        <a:bodyPr/>
                        <a:lstStyle/>
                        <a:p>
                          <a:pPr marL="0" marR="0" algn="ctr">
                            <a:lnSpc>
                              <a:spcPct val="150000"/>
                            </a:lnSpc>
                            <a:spcAft>
                              <a:spcPts val="800"/>
                            </a:spcAft>
                            <a:buNone/>
                          </a:pPr>
                          <a:r>
                            <a:rPr lang="en-US" sz="1200" kern="0">
                              <a:solidFill>
                                <a:sysClr val="windowText" lastClr="000000"/>
                              </a:solidFill>
                              <a:effectLst/>
                            </a:rPr>
                            <a:t>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D</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791.7618</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488259505"/>
                      </a:ext>
                    </a:extLst>
                  </a:tr>
                  <a:tr h="157362">
                    <a:tc>
                      <a:txBody>
                        <a:bodyPr/>
                        <a:lstStyle/>
                        <a:p>
                          <a:pPr marL="0" marR="0" algn="ctr">
                            <a:lnSpc>
                              <a:spcPct val="150000"/>
                            </a:lnSpc>
                            <a:spcAft>
                              <a:spcPts val="800"/>
                            </a:spcAft>
                            <a:buNone/>
                          </a:pPr>
                          <a:r>
                            <a:rPr lang="en-US" sz="1200" kern="0">
                              <a:solidFill>
                                <a:sysClr val="windowText" lastClr="000000"/>
                              </a:solidFill>
                              <a:effectLst/>
                            </a:rPr>
                            <a:t>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E</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149.6729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635751290"/>
                      </a:ext>
                    </a:extLst>
                  </a:tr>
                  <a:tr h="157362">
                    <a:tc>
                      <a:txBody>
                        <a:bodyPr/>
                        <a:lstStyle/>
                        <a:p>
                          <a:pPr marL="0" marR="0" algn="ctr">
                            <a:lnSpc>
                              <a:spcPct val="150000"/>
                            </a:lnSpc>
                            <a:spcAft>
                              <a:spcPts val="800"/>
                            </a:spcAft>
                            <a:buNone/>
                          </a:pPr>
                          <a:r>
                            <a:rPr lang="en-US" sz="1200" kern="0">
                              <a:solidFill>
                                <a:sysClr val="windowText" lastClr="000000"/>
                              </a:solidFill>
                              <a:effectLst/>
                            </a:rPr>
                            <a:t>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F</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604.8345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03226818"/>
                      </a:ext>
                    </a:extLst>
                  </a:tr>
                  <a:tr h="157362">
                    <a:tc>
                      <a:txBody>
                        <a:bodyPr/>
                        <a:lstStyle/>
                        <a:p>
                          <a:pPr marL="0" marR="0" algn="ctr">
                            <a:lnSpc>
                              <a:spcPct val="150000"/>
                            </a:lnSpc>
                            <a:spcAft>
                              <a:spcPts val="800"/>
                            </a:spcAft>
                            <a:buNone/>
                          </a:pPr>
                          <a:r>
                            <a:rPr lang="en-US" sz="1200" kern="0">
                              <a:solidFill>
                                <a:sysClr val="windowText" lastClr="000000"/>
                              </a:solidFill>
                              <a:effectLst/>
                            </a:rPr>
                            <a:t>6</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G</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1300.298</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927123811"/>
                      </a:ext>
                    </a:extLst>
                  </a:tr>
                  <a:tr h="157362">
                    <a:tc>
                      <a:txBody>
                        <a:bodyPr/>
                        <a:lstStyle/>
                        <a:p>
                          <a:pPr marL="0" marR="0" algn="ctr">
                            <a:lnSpc>
                              <a:spcPct val="150000"/>
                            </a:lnSpc>
                            <a:spcAft>
                              <a:spcPts val="800"/>
                            </a:spcAft>
                            <a:buNone/>
                          </a:pPr>
                          <a:r>
                            <a:rPr lang="en-US" sz="1200" kern="0">
                              <a:solidFill>
                                <a:sysClr val="windowText" lastClr="000000"/>
                              </a:solidFill>
                              <a:effectLst/>
                            </a:rPr>
                            <a:t>7</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H</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1899.131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229772012"/>
                      </a:ext>
                    </a:extLst>
                  </a:tr>
                  <a:tr h="157362">
                    <a:tc>
                      <a:txBody>
                        <a:bodyPr/>
                        <a:lstStyle/>
                        <a:p>
                          <a:pPr marL="0" marR="0" algn="ctr">
                            <a:lnSpc>
                              <a:spcPct val="150000"/>
                            </a:lnSpc>
                            <a:spcAft>
                              <a:spcPts val="800"/>
                            </a:spcAft>
                            <a:buNone/>
                          </a:pPr>
                          <a:r>
                            <a:rPr lang="en-US" sz="1200" kern="0">
                              <a:solidFill>
                                <a:sysClr val="windowText" lastClr="000000"/>
                              </a:solidFill>
                              <a:effectLst/>
                            </a:rPr>
                            <a:t>8</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I</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132.3996</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155257222"/>
                      </a:ext>
                    </a:extLst>
                  </a:tr>
                  <a:tr h="157362">
                    <a:tc>
                      <a:txBody>
                        <a:bodyPr/>
                        <a:lstStyle/>
                        <a:p>
                          <a:pPr marL="0" marR="0" algn="ctr">
                            <a:lnSpc>
                              <a:spcPct val="150000"/>
                            </a:lnSpc>
                            <a:spcAft>
                              <a:spcPts val="800"/>
                            </a:spcAft>
                            <a:buNone/>
                          </a:pPr>
                          <a:r>
                            <a:rPr lang="en-US" sz="1200" kern="0">
                              <a:solidFill>
                                <a:sysClr val="windowText" lastClr="000000"/>
                              </a:solidFill>
                              <a:effectLst/>
                            </a:rPr>
                            <a:t>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J</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554.0684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937379524"/>
                      </a:ext>
                    </a:extLst>
                  </a:tr>
                  <a:tr h="157362">
                    <a:tc>
                      <a:txBody>
                        <a:bodyPr/>
                        <a:lstStyle/>
                        <a:p>
                          <a:pPr marL="0" marR="0" algn="ctr">
                            <a:lnSpc>
                              <a:spcPct val="150000"/>
                            </a:lnSpc>
                            <a:spcAft>
                              <a:spcPts val="800"/>
                            </a:spcAft>
                            <a:buNone/>
                          </a:pPr>
                          <a:r>
                            <a:rPr lang="en-US" sz="1200" kern="0">
                              <a:solidFill>
                                <a:sysClr val="windowText" lastClr="000000"/>
                              </a:solidFill>
                              <a:effectLst/>
                            </a:rPr>
                            <a:t>10</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K</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521.0689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705776906"/>
                      </a:ext>
                    </a:extLst>
                  </a:tr>
                  <a:tr h="157362">
                    <a:tc>
                      <a:txBody>
                        <a:bodyPr/>
                        <a:lstStyle/>
                        <a:p>
                          <a:pPr marL="0" marR="0" algn="ctr">
                            <a:lnSpc>
                              <a:spcPct val="150000"/>
                            </a:lnSpc>
                            <a:spcAft>
                              <a:spcPts val="800"/>
                            </a:spcAft>
                            <a:buNone/>
                          </a:pPr>
                          <a:r>
                            <a:rPr lang="en-US" sz="1200" kern="0">
                              <a:solidFill>
                                <a:sysClr val="windowText" lastClr="000000"/>
                              </a:solidFill>
                              <a:effectLst/>
                            </a:rPr>
                            <a:t>11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L</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235.4889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585119550"/>
                      </a:ext>
                    </a:extLst>
                  </a:tr>
                  <a:tr h="157362">
                    <a:tc>
                      <a:txBody>
                        <a:bodyPr/>
                        <a:lstStyle/>
                        <a:p>
                          <a:pPr marL="0" marR="0" algn="ctr">
                            <a:lnSpc>
                              <a:spcPct val="150000"/>
                            </a:lnSpc>
                            <a:spcAft>
                              <a:spcPts val="800"/>
                            </a:spcAft>
                            <a:buNone/>
                          </a:pPr>
                          <a:r>
                            <a:rPr lang="en-US" sz="1200" kern="0">
                              <a:solidFill>
                                <a:sysClr val="windowText" lastClr="000000"/>
                              </a:solidFill>
                              <a:effectLst/>
                            </a:rPr>
                            <a:t>12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M</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470.2883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307841277"/>
                      </a:ext>
                    </a:extLst>
                  </a:tr>
                  <a:tr h="157362">
                    <a:tc>
                      <a:txBody>
                        <a:bodyPr/>
                        <a:lstStyle/>
                        <a:p>
                          <a:pPr marL="0" marR="0" algn="ctr">
                            <a:lnSpc>
                              <a:spcPct val="150000"/>
                            </a:lnSpc>
                            <a:spcAft>
                              <a:spcPts val="800"/>
                            </a:spcAft>
                            <a:buNone/>
                          </a:pPr>
                          <a:r>
                            <a:rPr lang="en-US" sz="1200" kern="0">
                              <a:solidFill>
                                <a:sysClr val="windowText" lastClr="000000"/>
                              </a:solidFill>
                              <a:effectLst/>
                            </a:rPr>
                            <a:t>13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N</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176.331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499693063"/>
                      </a:ext>
                    </a:extLst>
                  </a:tr>
                  <a:tr h="157362">
                    <a:tc>
                      <a:txBody>
                        <a:bodyPr/>
                        <a:lstStyle/>
                        <a:p>
                          <a:pPr marL="0" marR="0" algn="ctr">
                            <a:lnSpc>
                              <a:spcPct val="150000"/>
                            </a:lnSpc>
                            <a:spcAft>
                              <a:spcPts val="800"/>
                            </a:spcAft>
                            <a:buNone/>
                          </a:pPr>
                          <a:r>
                            <a:rPr lang="en-US" sz="1200" kern="0">
                              <a:solidFill>
                                <a:sysClr val="windowText" lastClr="000000"/>
                              </a:solidFill>
                              <a:effectLst/>
                            </a:rPr>
                            <a:t>14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O</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315.8464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714571466"/>
                      </a:ext>
                    </a:extLst>
                  </a:tr>
                  <a:tr h="157362">
                    <a:tc>
                      <a:txBody>
                        <a:bodyPr/>
                        <a:lstStyle/>
                        <a:p>
                          <a:pPr marL="0" marR="0" algn="ctr">
                            <a:lnSpc>
                              <a:spcPct val="150000"/>
                            </a:lnSpc>
                            <a:spcAft>
                              <a:spcPts val="800"/>
                            </a:spcAft>
                            <a:buNone/>
                          </a:pPr>
                          <a:r>
                            <a:rPr lang="en-US" sz="1200" kern="0">
                              <a:solidFill>
                                <a:sysClr val="windowText" lastClr="000000"/>
                              </a:solidFill>
                              <a:effectLst/>
                            </a:rPr>
                            <a:t>15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P</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194.583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409673897"/>
                      </a:ext>
                    </a:extLst>
                  </a:tr>
                  <a:tr h="157362">
                    <a:tc>
                      <a:txBody>
                        <a:bodyPr/>
                        <a:lstStyle/>
                        <a:p>
                          <a:pPr marL="0" marR="0" algn="ctr">
                            <a:lnSpc>
                              <a:spcPct val="150000"/>
                            </a:lnSpc>
                            <a:spcAft>
                              <a:spcPts val="800"/>
                            </a:spcAft>
                            <a:buNone/>
                          </a:pPr>
                          <a:r>
                            <a:rPr lang="en-US" sz="1200" kern="0">
                              <a:solidFill>
                                <a:sysClr val="windowText" lastClr="000000"/>
                              </a:solidFill>
                              <a:effectLst/>
                            </a:rPr>
                            <a:t>16</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Q</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2517.791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510169574"/>
                      </a:ext>
                    </a:extLst>
                  </a:tr>
                  <a:tr h="157362">
                    <a:tc>
                      <a:txBody>
                        <a:bodyPr/>
                        <a:lstStyle/>
                        <a:p>
                          <a:pPr marL="0" marR="0" algn="ctr">
                            <a:lnSpc>
                              <a:spcPct val="150000"/>
                            </a:lnSpc>
                            <a:spcAft>
                              <a:spcPts val="800"/>
                            </a:spcAft>
                            <a:buNone/>
                          </a:pPr>
                          <a:r>
                            <a:rPr lang="en-US" sz="1200" kern="0">
                              <a:solidFill>
                                <a:sysClr val="windowText" lastClr="000000"/>
                              </a:solidFill>
                              <a:effectLst/>
                            </a:rPr>
                            <a:t>17</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R</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2188.725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27850623"/>
                      </a:ext>
                    </a:extLst>
                  </a:tr>
                  <a:tr h="157362">
                    <a:tc>
                      <a:txBody>
                        <a:bodyPr/>
                        <a:lstStyle/>
                        <a:p>
                          <a:pPr marL="0" marR="0" algn="ctr">
                            <a:lnSpc>
                              <a:spcPct val="150000"/>
                            </a:lnSpc>
                            <a:spcAft>
                              <a:spcPts val="800"/>
                            </a:spcAft>
                            <a:buNone/>
                          </a:pPr>
                          <a:r>
                            <a:rPr lang="en-US" sz="1200" kern="0">
                              <a:solidFill>
                                <a:sysClr val="windowText" lastClr="000000"/>
                              </a:solidFill>
                              <a:effectLst/>
                            </a:rPr>
                            <a:t>18</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S</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1148.723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451983286"/>
                      </a:ext>
                    </a:extLst>
                  </a:tr>
                  <a:tr h="157362">
                    <a:tc>
                      <a:txBody>
                        <a:bodyPr/>
                        <a:lstStyle/>
                        <a:p>
                          <a:pPr marL="0" marR="0" algn="ctr">
                            <a:lnSpc>
                              <a:spcPct val="150000"/>
                            </a:lnSpc>
                            <a:spcAft>
                              <a:spcPts val="800"/>
                            </a:spcAft>
                            <a:buNone/>
                          </a:pPr>
                          <a:r>
                            <a:rPr lang="en-US" sz="1200" kern="0">
                              <a:solidFill>
                                <a:sysClr val="windowText" lastClr="000000"/>
                              </a:solidFill>
                              <a:effectLst/>
                            </a:rPr>
                            <a:t>19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T</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1200.936</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631365413"/>
                      </a:ext>
                    </a:extLst>
                  </a:tr>
                  <a:tr h="157362">
                    <a:tc>
                      <a:txBody>
                        <a:bodyPr/>
                        <a:lstStyle/>
                        <a:p>
                          <a:pPr marL="0" marR="0" algn="ctr">
                            <a:lnSpc>
                              <a:spcPct val="150000"/>
                            </a:lnSpc>
                            <a:spcAft>
                              <a:spcPts val="800"/>
                            </a:spcAft>
                            <a:buNone/>
                          </a:pPr>
                          <a:r>
                            <a:rPr lang="en-US" sz="1200" kern="0">
                              <a:solidFill>
                                <a:sysClr val="windowText" lastClr="000000"/>
                              </a:solidFill>
                              <a:effectLst/>
                            </a:rPr>
                            <a:t>20</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U</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287.0052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749086329"/>
                      </a:ext>
                    </a:extLst>
                  </a:tr>
                  <a:tr h="157362">
                    <a:tc>
                      <a:txBody>
                        <a:bodyPr/>
                        <a:lstStyle/>
                        <a:p>
                          <a:pPr marL="0" marR="0" algn="ctr">
                            <a:lnSpc>
                              <a:spcPct val="150000"/>
                            </a:lnSpc>
                            <a:spcAft>
                              <a:spcPts val="800"/>
                            </a:spcAft>
                            <a:buNone/>
                          </a:pPr>
                          <a:r>
                            <a:rPr lang="en-US" sz="1200" kern="0">
                              <a:solidFill>
                                <a:sysClr val="windowText" lastClr="000000"/>
                              </a:solidFill>
                              <a:effectLst/>
                            </a:rPr>
                            <a:t>21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V</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255.0844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48671032"/>
                      </a:ext>
                    </a:extLst>
                  </a:tr>
                  <a:tr h="157362">
                    <a:tc>
                      <a:txBody>
                        <a:bodyPr/>
                        <a:lstStyle/>
                        <a:p>
                          <a:pPr marL="0" marR="0" algn="ctr">
                            <a:lnSpc>
                              <a:spcPct val="150000"/>
                            </a:lnSpc>
                            <a:spcAft>
                              <a:spcPts val="800"/>
                            </a:spcAft>
                            <a:buNone/>
                          </a:pPr>
                          <a:r>
                            <a:rPr lang="en-US" sz="1200" kern="0">
                              <a:solidFill>
                                <a:sysClr val="windowText" lastClr="000000"/>
                              </a:solidFill>
                              <a:effectLst/>
                            </a:rPr>
                            <a:t>22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W</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321.125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448858586"/>
                      </a:ext>
                    </a:extLst>
                  </a:tr>
                  <a:tr h="157362">
                    <a:tc>
                      <a:txBody>
                        <a:bodyPr/>
                        <a:lstStyle/>
                        <a:p>
                          <a:pPr marL="0" marR="0" algn="ctr">
                            <a:lnSpc>
                              <a:spcPct val="150000"/>
                            </a:lnSpc>
                            <a:spcAft>
                              <a:spcPts val="800"/>
                            </a:spcAft>
                            <a:buNone/>
                          </a:pPr>
                          <a:r>
                            <a:rPr lang="en-US" sz="1200" kern="0">
                              <a:solidFill>
                                <a:sysClr val="windowText" lastClr="000000"/>
                              </a:solidFill>
                              <a:effectLst/>
                            </a:rPr>
                            <a:t>23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X</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537.8399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765466765"/>
                      </a:ext>
                    </a:extLst>
                  </a:tr>
                  <a:tr h="157362">
                    <a:tc>
                      <a:txBody>
                        <a:bodyPr/>
                        <a:lstStyle/>
                        <a:p>
                          <a:pPr marL="0" marR="0" algn="ctr">
                            <a:lnSpc>
                              <a:spcPct val="150000"/>
                            </a:lnSpc>
                            <a:spcAft>
                              <a:spcPts val="800"/>
                            </a:spcAft>
                            <a:buNone/>
                          </a:pPr>
                          <a:r>
                            <a:rPr lang="en-US" sz="1200" kern="0">
                              <a:solidFill>
                                <a:sysClr val="windowText" lastClr="000000"/>
                              </a:solidFill>
                              <a:effectLst/>
                            </a:rPr>
                            <a:t>24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Y</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368.2263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039450505"/>
                      </a:ext>
                    </a:extLst>
                  </a:tr>
                  <a:tr h="0">
                    <a:tc>
                      <a:txBody>
                        <a:bodyPr/>
                        <a:lstStyle/>
                        <a:p>
                          <a:pPr marL="0" marR="0" algn="ctr">
                            <a:lnSpc>
                              <a:spcPct val="150000"/>
                            </a:lnSpc>
                            <a:spcAft>
                              <a:spcPts val="800"/>
                            </a:spcAft>
                            <a:buNone/>
                          </a:pPr>
                          <a:r>
                            <a:rPr lang="en-US" sz="1200" kern="0">
                              <a:solidFill>
                                <a:sysClr val="windowText" lastClr="000000"/>
                              </a:solidFill>
                              <a:effectLst/>
                            </a:rPr>
                            <a:t>25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Z</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1620.055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4069953218"/>
                      </a:ext>
                    </a:extLst>
                  </a:tr>
                </a:tbl>
              </a:graphicData>
            </a:graphic>
          </p:graphicFrame>
        </mc:Choice>
        <mc:Fallback xmlns="">
          <p:graphicFrame>
            <p:nvGraphicFramePr>
              <p:cNvPr id="2" name="Table 1">
                <a:extLst>
                  <a:ext uri="{FF2B5EF4-FFF2-40B4-BE49-F238E27FC236}">
                    <a16:creationId xmlns:a16="http://schemas.microsoft.com/office/drawing/2014/main" id="{8F8071F0-F717-51AC-C081-4F3FC8238AC4}"/>
                  </a:ext>
                </a:extLst>
              </p:cNvPr>
              <p:cNvGraphicFramePr>
                <a:graphicFrameLocks noGrp="1"/>
              </p:cNvGraphicFramePr>
              <p:nvPr>
                <p:extLst>
                  <p:ext uri="{D42A27DB-BD31-4B8C-83A1-F6EECF244321}">
                    <p14:modId xmlns:p14="http://schemas.microsoft.com/office/powerpoint/2010/main" val="2229797039"/>
                  </p:ext>
                </p:extLst>
              </p:nvPr>
            </p:nvGraphicFramePr>
            <p:xfrm>
              <a:off x="250134" y="55428"/>
              <a:ext cx="2373171" cy="6651765"/>
            </p:xfrm>
            <a:graphic>
              <a:graphicData uri="http://schemas.openxmlformats.org/drawingml/2006/table">
                <a:tbl>
                  <a:tblPr firstRow="1" firstCol="1" bandRow="1">
                    <a:tableStyleId>{5940675A-B579-460E-94D1-54222C63F5DA}</a:tableStyleId>
                  </a:tblPr>
                  <a:tblGrid>
                    <a:gridCol w="435951">
                      <a:extLst>
                        <a:ext uri="{9D8B030D-6E8A-4147-A177-3AD203B41FA5}">
                          <a16:colId xmlns:a16="http://schemas.microsoft.com/office/drawing/2014/main" val="2453796704"/>
                        </a:ext>
                      </a:extLst>
                    </a:gridCol>
                    <a:gridCol w="887252">
                      <a:extLst>
                        <a:ext uri="{9D8B030D-6E8A-4147-A177-3AD203B41FA5}">
                          <a16:colId xmlns:a16="http://schemas.microsoft.com/office/drawing/2014/main" val="3229751627"/>
                        </a:ext>
                      </a:extLst>
                    </a:gridCol>
                    <a:gridCol w="1049968">
                      <a:extLst>
                        <a:ext uri="{9D8B030D-6E8A-4147-A177-3AD203B41FA5}">
                          <a16:colId xmlns:a16="http://schemas.microsoft.com/office/drawing/2014/main" val="2852936276"/>
                        </a:ext>
                      </a:extLst>
                    </a:gridCol>
                  </a:tblGrid>
                  <a:tr h="280543">
                    <a:tc>
                      <a:txBody>
                        <a:bodyPr/>
                        <a:lstStyle/>
                        <a:p>
                          <a:pPr marL="0" marR="0" algn="ctr">
                            <a:lnSpc>
                              <a:spcPct val="150000"/>
                            </a:lnSpc>
                            <a:spcAft>
                              <a:spcPts val="800"/>
                            </a:spcAft>
                            <a:buNone/>
                          </a:pPr>
                          <a:r>
                            <a:rPr lang="en-US" sz="1200" kern="0">
                              <a:solidFill>
                                <a:sysClr val="windowText" lastClr="000000"/>
                              </a:solidFill>
                              <a:effectLst/>
                            </a:rPr>
                            <a:t>Shift</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FFC000"/>
                        </a:solidFill>
                      </a:tcPr>
                    </a:tc>
                    <a:tc>
                      <a:txBody>
                        <a:bodyPr/>
                        <a:lstStyle/>
                        <a:p>
                          <a:pPr marL="0" marR="0" algn="ctr">
                            <a:lnSpc>
                              <a:spcPct val="150000"/>
                            </a:lnSpc>
                            <a:spcAft>
                              <a:spcPts val="800"/>
                            </a:spcAft>
                            <a:buNone/>
                          </a:pPr>
                          <a:r>
                            <a:rPr lang="en-US" sz="1200" kern="0">
                              <a:solidFill>
                                <a:sysClr val="windowText" lastClr="000000"/>
                              </a:solidFill>
                              <a:effectLst/>
                            </a:rPr>
                            <a:t>Ký tự</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FFC000"/>
                        </a:solidFill>
                      </a:tcPr>
                    </a:tc>
                    <a:tc>
                      <a:txBody>
                        <a:bodyPr/>
                        <a:lstStyle/>
                        <a:p>
                          <a:endParaRPr lang="en-US"/>
                        </a:p>
                      </a:txBody>
                      <a:tcPr marL="44700" marR="44700" marT="0" marB="0" anchor="ctr">
                        <a:blipFill>
                          <a:blip r:embed="rId3"/>
                          <a:stretch>
                            <a:fillRect l="-126590" t="-2174" r="-1156" b="-2308696"/>
                          </a:stretch>
                        </a:blipFill>
                      </a:tcPr>
                    </a:tc>
                    <a:extLst>
                      <a:ext uri="{0D108BD9-81ED-4DB2-BD59-A6C34878D82A}">
                        <a16:rowId xmlns:a16="http://schemas.microsoft.com/office/drawing/2014/main" val="1602111150"/>
                      </a:ext>
                    </a:extLst>
                  </a:tr>
                  <a:tr h="245047">
                    <a:tc>
                      <a:txBody>
                        <a:bodyPr/>
                        <a:lstStyle/>
                        <a:p>
                          <a:pPr marL="0" marR="0" algn="ctr">
                            <a:lnSpc>
                              <a:spcPct val="150000"/>
                            </a:lnSpc>
                            <a:spcAft>
                              <a:spcPts val="800"/>
                            </a:spcAft>
                            <a:buNone/>
                          </a:pPr>
                          <a:r>
                            <a:rPr lang="en-US" sz="1200" kern="0">
                              <a:solidFill>
                                <a:sysClr val="windowText" lastClr="000000"/>
                              </a:solidFill>
                              <a:effectLst/>
                            </a:rPr>
                            <a:t>0</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A</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1687.252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468754846"/>
                      </a:ext>
                    </a:extLst>
                  </a:tr>
                  <a:tr h="245047">
                    <a:tc>
                      <a:txBody>
                        <a:bodyPr/>
                        <a:lstStyle/>
                        <a:p>
                          <a:pPr marL="0" marR="0" algn="ctr">
                            <a:lnSpc>
                              <a:spcPct val="150000"/>
                            </a:lnSpc>
                            <a:spcAft>
                              <a:spcPts val="800"/>
                            </a:spcAft>
                            <a:buNone/>
                          </a:pPr>
                          <a:r>
                            <a:rPr lang="en-US" sz="1200" kern="0">
                              <a:solidFill>
                                <a:sysClr val="windowText" lastClr="000000"/>
                              </a:solidFill>
                              <a:effectLst/>
                            </a:rPr>
                            <a:t>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B</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623.9359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506509399"/>
                      </a:ext>
                    </a:extLst>
                  </a:tr>
                  <a:tr h="245047">
                    <a:tc>
                      <a:txBody>
                        <a:bodyPr/>
                        <a:lstStyle/>
                        <a:p>
                          <a:pPr marL="0" marR="0" algn="ctr">
                            <a:lnSpc>
                              <a:spcPct val="150000"/>
                            </a:lnSpc>
                            <a:spcAft>
                              <a:spcPts val="800"/>
                            </a:spcAft>
                            <a:buNone/>
                          </a:pPr>
                          <a:r>
                            <a:rPr lang="en-US" sz="1200" kern="0">
                              <a:solidFill>
                                <a:sysClr val="windowText" lastClr="000000"/>
                              </a:solidFill>
                              <a:effectLst/>
                            </a:rPr>
                            <a:t>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chemeClr val="accent6">
                            <a:lumMod val="40000"/>
                            <a:lumOff val="60000"/>
                          </a:schemeClr>
                        </a:solidFill>
                      </a:tcPr>
                    </a:tc>
                    <a:tc>
                      <a:txBody>
                        <a:bodyPr/>
                        <a:lstStyle/>
                        <a:p>
                          <a:pPr marL="0" marR="0" algn="ctr">
                            <a:lnSpc>
                              <a:spcPct val="150000"/>
                            </a:lnSpc>
                            <a:spcAft>
                              <a:spcPts val="800"/>
                            </a:spcAft>
                            <a:buNone/>
                          </a:pPr>
                          <a:r>
                            <a:rPr lang="en-US" sz="1200" kern="0">
                              <a:solidFill>
                                <a:sysClr val="windowText" lastClr="000000"/>
                              </a:solidFill>
                              <a:effectLst/>
                            </a:rPr>
                            <a:t>C</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chemeClr val="accent6">
                            <a:lumMod val="40000"/>
                            <a:lumOff val="60000"/>
                          </a:schemeClr>
                        </a:solidFill>
                      </a:tcPr>
                    </a:tc>
                    <a:tc>
                      <a:txBody>
                        <a:bodyPr/>
                        <a:lstStyle/>
                        <a:p>
                          <a:pPr marL="0" marR="0" algn="ctr">
                            <a:lnSpc>
                              <a:spcPct val="150000"/>
                            </a:lnSpc>
                            <a:spcAft>
                              <a:spcPts val="800"/>
                            </a:spcAft>
                            <a:buNone/>
                          </a:pPr>
                          <a:r>
                            <a:rPr lang="en-US" sz="1200" kern="0">
                              <a:solidFill>
                                <a:sysClr val="windowText" lastClr="000000"/>
                              </a:solidFill>
                              <a:effectLst/>
                            </a:rPr>
                            <a:t>53.25165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chemeClr val="accent6">
                            <a:lumMod val="40000"/>
                            <a:lumOff val="60000"/>
                          </a:schemeClr>
                        </a:solidFill>
                      </a:tcPr>
                    </a:tc>
                    <a:extLst>
                      <a:ext uri="{0D108BD9-81ED-4DB2-BD59-A6C34878D82A}">
                        <a16:rowId xmlns:a16="http://schemas.microsoft.com/office/drawing/2014/main" val="3260764966"/>
                      </a:ext>
                    </a:extLst>
                  </a:tr>
                  <a:tr h="245047">
                    <a:tc>
                      <a:txBody>
                        <a:bodyPr/>
                        <a:lstStyle/>
                        <a:p>
                          <a:pPr marL="0" marR="0" algn="ctr">
                            <a:lnSpc>
                              <a:spcPct val="150000"/>
                            </a:lnSpc>
                            <a:spcAft>
                              <a:spcPts val="800"/>
                            </a:spcAft>
                            <a:buNone/>
                          </a:pPr>
                          <a:r>
                            <a:rPr lang="en-US" sz="1200" kern="0">
                              <a:solidFill>
                                <a:sysClr val="windowText" lastClr="000000"/>
                              </a:solidFill>
                              <a:effectLst/>
                            </a:rPr>
                            <a:t>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D</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791.7618</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488259505"/>
                      </a:ext>
                    </a:extLst>
                  </a:tr>
                  <a:tr h="245047">
                    <a:tc>
                      <a:txBody>
                        <a:bodyPr/>
                        <a:lstStyle/>
                        <a:p>
                          <a:pPr marL="0" marR="0" algn="ctr">
                            <a:lnSpc>
                              <a:spcPct val="150000"/>
                            </a:lnSpc>
                            <a:spcAft>
                              <a:spcPts val="800"/>
                            </a:spcAft>
                            <a:buNone/>
                          </a:pPr>
                          <a:r>
                            <a:rPr lang="en-US" sz="1200" kern="0">
                              <a:solidFill>
                                <a:sysClr val="windowText" lastClr="000000"/>
                              </a:solidFill>
                              <a:effectLst/>
                            </a:rPr>
                            <a:t>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E</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149.6729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635751290"/>
                      </a:ext>
                    </a:extLst>
                  </a:tr>
                  <a:tr h="245047">
                    <a:tc>
                      <a:txBody>
                        <a:bodyPr/>
                        <a:lstStyle/>
                        <a:p>
                          <a:pPr marL="0" marR="0" algn="ctr">
                            <a:lnSpc>
                              <a:spcPct val="150000"/>
                            </a:lnSpc>
                            <a:spcAft>
                              <a:spcPts val="800"/>
                            </a:spcAft>
                            <a:buNone/>
                          </a:pPr>
                          <a:r>
                            <a:rPr lang="en-US" sz="1200" kern="0">
                              <a:solidFill>
                                <a:sysClr val="windowText" lastClr="000000"/>
                              </a:solidFill>
                              <a:effectLst/>
                            </a:rPr>
                            <a:t>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F</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604.8345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03226818"/>
                      </a:ext>
                    </a:extLst>
                  </a:tr>
                  <a:tr h="245047">
                    <a:tc>
                      <a:txBody>
                        <a:bodyPr/>
                        <a:lstStyle/>
                        <a:p>
                          <a:pPr marL="0" marR="0" algn="ctr">
                            <a:lnSpc>
                              <a:spcPct val="150000"/>
                            </a:lnSpc>
                            <a:spcAft>
                              <a:spcPts val="800"/>
                            </a:spcAft>
                            <a:buNone/>
                          </a:pPr>
                          <a:r>
                            <a:rPr lang="en-US" sz="1200" kern="0">
                              <a:solidFill>
                                <a:sysClr val="windowText" lastClr="000000"/>
                              </a:solidFill>
                              <a:effectLst/>
                            </a:rPr>
                            <a:t>6</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G</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1300.298</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927123811"/>
                      </a:ext>
                    </a:extLst>
                  </a:tr>
                  <a:tr h="245047">
                    <a:tc>
                      <a:txBody>
                        <a:bodyPr/>
                        <a:lstStyle/>
                        <a:p>
                          <a:pPr marL="0" marR="0" algn="ctr">
                            <a:lnSpc>
                              <a:spcPct val="150000"/>
                            </a:lnSpc>
                            <a:spcAft>
                              <a:spcPts val="800"/>
                            </a:spcAft>
                            <a:buNone/>
                          </a:pPr>
                          <a:r>
                            <a:rPr lang="en-US" sz="1200" kern="0">
                              <a:solidFill>
                                <a:sysClr val="windowText" lastClr="000000"/>
                              </a:solidFill>
                              <a:effectLst/>
                            </a:rPr>
                            <a:t>7</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H</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1899.131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229772012"/>
                      </a:ext>
                    </a:extLst>
                  </a:tr>
                  <a:tr h="245047">
                    <a:tc>
                      <a:txBody>
                        <a:bodyPr/>
                        <a:lstStyle/>
                        <a:p>
                          <a:pPr marL="0" marR="0" algn="ctr">
                            <a:lnSpc>
                              <a:spcPct val="150000"/>
                            </a:lnSpc>
                            <a:spcAft>
                              <a:spcPts val="800"/>
                            </a:spcAft>
                            <a:buNone/>
                          </a:pPr>
                          <a:r>
                            <a:rPr lang="en-US" sz="1200" kern="0">
                              <a:solidFill>
                                <a:sysClr val="windowText" lastClr="000000"/>
                              </a:solidFill>
                              <a:effectLst/>
                            </a:rPr>
                            <a:t>8</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I</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132.3996</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155257222"/>
                      </a:ext>
                    </a:extLst>
                  </a:tr>
                  <a:tr h="245047">
                    <a:tc>
                      <a:txBody>
                        <a:bodyPr/>
                        <a:lstStyle/>
                        <a:p>
                          <a:pPr marL="0" marR="0" algn="ctr">
                            <a:lnSpc>
                              <a:spcPct val="150000"/>
                            </a:lnSpc>
                            <a:spcAft>
                              <a:spcPts val="800"/>
                            </a:spcAft>
                            <a:buNone/>
                          </a:pPr>
                          <a:r>
                            <a:rPr lang="en-US" sz="1200" kern="0">
                              <a:solidFill>
                                <a:sysClr val="windowText" lastClr="000000"/>
                              </a:solidFill>
                              <a:effectLst/>
                            </a:rPr>
                            <a:t>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J</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554.0684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937379524"/>
                      </a:ext>
                    </a:extLst>
                  </a:tr>
                  <a:tr h="245047">
                    <a:tc>
                      <a:txBody>
                        <a:bodyPr/>
                        <a:lstStyle/>
                        <a:p>
                          <a:pPr marL="0" marR="0" algn="ctr">
                            <a:lnSpc>
                              <a:spcPct val="150000"/>
                            </a:lnSpc>
                            <a:spcAft>
                              <a:spcPts val="800"/>
                            </a:spcAft>
                            <a:buNone/>
                          </a:pPr>
                          <a:r>
                            <a:rPr lang="en-US" sz="1200" kern="0">
                              <a:solidFill>
                                <a:sysClr val="windowText" lastClr="000000"/>
                              </a:solidFill>
                              <a:effectLst/>
                            </a:rPr>
                            <a:t>10</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K</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521.0689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705776906"/>
                      </a:ext>
                    </a:extLst>
                  </a:tr>
                  <a:tr h="245047">
                    <a:tc>
                      <a:txBody>
                        <a:bodyPr/>
                        <a:lstStyle/>
                        <a:p>
                          <a:pPr marL="0" marR="0" algn="ctr">
                            <a:lnSpc>
                              <a:spcPct val="150000"/>
                            </a:lnSpc>
                            <a:spcAft>
                              <a:spcPts val="800"/>
                            </a:spcAft>
                            <a:buNone/>
                          </a:pPr>
                          <a:r>
                            <a:rPr lang="en-US" sz="1200" kern="0">
                              <a:solidFill>
                                <a:sysClr val="windowText" lastClr="000000"/>
                              </a:solidFill>
                              <a:effectLst/>
                            </a:rPr>
                            <a:t>11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L</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235.4889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585119550"/>
                      </a:ext>
                    </a:extLst>
                  </a:tr>
                  <a:tr h="245047">
                    <a:tc>
                      <a:txBody>
                        <a:bodyPr/>
                        <a:lstStyle/>
                        <a:p>
                          <a:pPr marL="0" marR="0" algn="ctr">
                            <a:lnSpc>
                              <a:spcPct val="150000"/>
                            </a:lnSpc>
                            <a:spcAft>
                              <a:spcPts val="800"/>
                            </a:spcAft>
                            <a:buNone/>
                          </a:pPr>
                          <a:r>
                            <a:rPr lang="en-US" sz="1200" kern="0">
                              <a:solidFill>
                                <a:sysClr val="windowText" lastClr="000000"/>
                              </a:solidFill>
                              <a:effectLst/>
                            </a:rPr>
                            <a:t>12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M</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470.2883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307841277"/>
                      </a:ext>
                    </a:extLst>
                  </a:tr>
                  <a:tr h="245047">
                    <a:tc>
                      <a:txBody>
                        <a:bodyPr/>
                        <a:lstStyle/>
                        <a:p>
                          <a:pPr marL="0" marR="0" algn="ctr">
                            <a:lnSpc>
                              <a:spcPct val="150000"/>
                            </a:lnSpc>
                            <a:spcAft>
                              <a:spcPts val="800"/>
                            </a:spcAft>
                            <a:buNone/>
                          </a:pPr>
                          <a:r>
                            <a:rPr lang="en-US" sz="1200" kern="0">
                              <a:solidFill>
                                <a:sysClr val="windowText" lastClr="000000"/>
                              </a:solidFill>
                              <a:effectLst/>
                            </a:rPr>
                            <a:t>13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N</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176.331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499693063"/>
                      </a:ext>
                    </a:extLst>
                  </a:tr>
                  <a:tr h="245047">
                    <a:tc>
                      <a:txBody>
                        <a:bodyPr/>
                        <a:lstStyle/>
                        <a:p>
                          <a:pPr marL="0" marR="0" algn="ctr">
                            <a:lnSpc>
                              <a:spcPct val="150000"/>
                            </a:lnSpc>
                            <a:spcAft>
                              <a:spcPts val="800"/>
                            </a:spcAft>
                            <a:buNone/>
                          </a:pPr>
                          <a:r>
                            <a:rPr lang="en-US" sz="1200" kern="0">
                              <a:solidFill>
                                <a:sysClr val="windowText" lastClr="000000"/>
                              </a:solidFill>
                              <a:effectLst/>
                            </a:rPr>
                            <a:t>14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O</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315.8464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714571466"/>
                      </a:ext>
                    </a:extLst>
                  </a:tr>
                  <a:tr h="245047">
                    <a:tc>
                      <a:txBody>
                        <a:bodyPr/>
                        <a:lstStyle/>
                        <a:p>
                          <a:pPr marL="0" marR="0" algn="ctr">
                            <a:lnSpc>
                              <a:spcPct val="150000"/>
                            </a:lnSpc>
                            <a:spcAft>
                              <a:spcPts val="800"/>
                            </a:spcAft>
                            <a:buNone/>
                          </a:pPr>
                          <a:r>
                            <a:rPr lang="en-US" sz="1200" kern="0">
                              <a:solidFill>
                                <a:sysClr val="windowText" lastClr="000000"/>
                              </a:solidFill>
                              <a:effectLst/>
                            </a:rPr>
                            <a:t>15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P</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194.583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409673897"/>
                      </a:ext>
                    </a:extLst>
                  </a:tr>
                  <a:tr h="245047">
                    <a:tc>
                      <a:txBody>
                        <a:bodyPr/>
                        <a:lstStyle/>
                        <a:p>
                          <a:pPr marL="0" marR="0" algn="ctr">
                            <a:lnSpc>
                              <a:spcPct val="150000"/>
                            </a:lnSpc>
                            <a:spcAft>
                              <a:spcPts val="800"/>
                            </a:spcAft>
                            <a:buNone/>
                          </a:pPr>
                          <a:r>
                            <a:rPr lang="en-US" sz="1200" kern="0">
                              <a:solidFill>
                                <a:sysClr val="windowText" lastClr="000000"/>
                              </a:solidFill>
                              <a:effectLst/>
                            </a:rPr>
                            <a:t>16</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Q</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2517.791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510169574"/>
                      </a:ext>
                    </a:extLst>
                  </a:tr>
                  <a:tr h="245047">
                    <a:tc>
                      <a:txBody>
                        <a:bodyPr/>
                        <a:lstStyle/>
                        <a:p>
                          <a:pPr marL="0" marR="0" algn="ctr">
                            <a:lnSpc>
                              <a:spcPct val="150000"/>
                            </a:lnSpc>
                            <a:spcAft>
                              <a:spcPts val="800"/>
                            </a:spcAft>
                            <a:buNone/>
                          </a:pPr>
                          <a:r>
                            <a:rPr lang="en-US" sz="1200" kern="0">
                              <a:solidFill>
                                <a:sysClr val="windowText" lastClr="000000"/>
                              </a:solidFill>
                              <a:effectLst/>
                            </a:rPr>
                            <a:t>17</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R</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2188.725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27850623"/>
                      </a:ext>
                    </a:extLst>
                  </a:tr>
                  <a:tr h="245047">
                    <a:tc>
                      <a:txBody>
                        <a:bodyPr/>
                        <a:lstStyle/>
                        <a:p>
                          <a:pPr marL="0" marR="0" algn="ctr">
                            <a:lnSpc>
                              <a:spcPct val="150000"/>
                            </a:lnSpc>
                            <a:spcAft>
                              <a:spcPts val="800"/>
                            </a:spcAft>
                            <a:buNone/>
                          </a:pPr>
                          <a:r>
                            <a:rPr lang="en-US" sz="1200" kern="0">
                              <a:solidFill>
                                <a:sysClr val="windowText" lastClr="000000"/>
                              </a:solidFill>
                              <a:effectLst/>
                            </a:rPr>
                            <a:t>18</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S</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1148.723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1451983286"/>
                      </a:ext>
                    </a:extLst>
                  </a:tr>
                  <a:tr h="245047">
                    <a:tc>
                      <a:txBody>
                        <a:bodyPr/>
                        <a:lstStyle/>
                        <a:p>
                          <a:pPr marL="0" marR="0" algn="ctr">
                            <a:lnSpc>
                              <a:spcPct val="150000"/>
                            </a:lnSpc>
                            <a:spcAft>
                              <a:spcPts val="800"/>
                            </a:spcAft>
                            <a:buNone/>
                          </a:pPr>
                          <a:r>
                            <a:rPr lang="en-US" sz="1200" kern="0">
                              <a:solidFill>
                                <a:sysClr val="windowText" lastClr="000000"/>
                              </a:solidFill>
                              <a:effectLst/>
                            </a:rPr>
                            <a:t>19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T</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1200.936</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631365413"/>
                      </a:ext>
                    </a:extLst>
                  </a:tr>
                  <a:tr h="245047">
                    <a:tc>
                      <a:txBody>
                        <a:bodyPr/>
                        <a:lstStyle/>
                        <a:p>
                          <a:pPr marL="0" marR="0" algn="ctr">
                            <a:lnSpc>
                              <a:spcPct val="150000"/>
                            </a:lnSpc>
                            <a:spcAft>
                              <a:spcPts val="800"/>
                            </a:spcAft>
                            <a:buNone/>
                          </a:pPr>
                          <a:r>
                            <a:rPr lang="en-US" sz="1200" kern="0">
                              <a:solidFill>
                                <a:sysClr val="windowText" lastClr="000000"/>
                              </a:solidFill>
                              <a:effectLst/>
                            </a:rPr>
                            <a:t>20</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U</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287.0052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749086329"/>
                      </a:ext>
                    </a:extLst>
                  </a:tr>
                  <a:tr h="245047">
                    <a:tc>
                      <a:txBody>
                        <a:bodyPr/>
                        <a:lstStyle/>
                        <a:p>
                          <a:pPr marL="0" marR="0" algn="ctr">
                            <a:lnSpc>
                              <a:spcPct val="150000"/>
                            </a:lnSpc>
                            <a:spcAft>
                              <a:spcPts val="800"/>
                            </a:spcAft>
                            <a:buNone/>
                          </a:pPr>
                          <a:r>
                            <a:rPr lang="en-US" sz="1200" kern="0">
                              <a:solidFill>
                                <a:sysClr val="windowText" lastClr="000000"/>
                              </a:solidFill>
                              <a:effectLst/>
                            </a:rPr>
                            <a:t>21</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V</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255.0844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48671032"/>
                      </a:ext>
                    </a:extLst>
                  </a:tr>
                  <a:tr h="245047">
                    <a:tc>
                      <a:txBody>
                        <a:bodyPr/>
                        <a:lstStyle/>
                        <a:p>
                          <a:pPr marL="0" marR="0" algn="ctr">
                            <a:lnSpc>
                              <a:spcPct val="150000"/>
                            </a:lnSpc>
                            <a:spcAft>
                              <a:spcPts val="800"/>
                            </a:spcAft>
                            <a:buNone/>
                          </a:pPr>
                          <a:r>
                            <a:rPr lang="en-US" sz="1200" kern="0">
                              <a:solidFill>
                                <a:sysClr val="windowText" lastClr="000000"/>
                              </a:solidFill>
                              <a:effectLst/>
                            </a:rPr>
                            <a:t>22</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W</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321.125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448858586"/>
                      </a:ext>
                    </a:extLst>
                  </a:tr>
                  <a:tr h="245047">
                    <a:tc>
                      <a:txBody>
                        <a:bodyPr/>
                        <a:lstStyle/>
                        <a:p>
                          <a:pPr marL="0" marR="0" algn="ctr">
                            <a:lnSpc>
                              <a:spcPct val="150000"/>
                            </a:lnSpc>
                            <a:spcAft>
                              <a:spcPts val="800"/>
                            </a:spcAft>
                            <a:buNone/>
                          </a:pPr>
                          <a:r>
                            <a:rPr lang="en-US" sz="1200" kern="0">
                              <a:solidFill>
                                <a:sysClr val="windowText" lastClr="000000"/>
                              </a:solidFill>
                              <a:effectLst/>
                            </a:rPr>
                            <a:t>23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X</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537.8399</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2765466765"/>
                      </a:ext>
                    </a:extLst>
                  </a:tr>
                  <a:tr h="245047">
                    <a:tc>
                      <a:txBody>
                        <a:bodyPr/>
                        <a:lstStyle/>
                        <a:p>
                          <a:pPr marL="0" marR="0" algn="ctr">
                            <a:lnSpc>
                              <a:spcPct val="150000"/>
                            </a:lnSpc>
                            <a:spcAft>
                              <a:spcPts val="800"/>
                            </a:spcAft>
                            <a:buNone/>
                          </a:pPr>
                          <a:r>
                            <a:rPr lang="en-US" sz="1200" kern="0">
                              <a:solidFill>
                                <a:sysClr val="windowText" lastClr="000000"/>
                              </a:solidFill>
                              <a:effectLst/>
                            </a:rPr>
                            <a:t>24</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Y</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368.2263</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3039450505"/>
                      </a:ext>
                    </a:extLst>
                  </a:tr>
                  <a:tr h="245047">
                    <a:tc>
                      <a:txBody>
                        <a:bodyPr/>
                        <a:lstStyle/>
                        <a:p>
                          <a:pPr marL="0" marR="0" algn="ctr">
                            <a:lnSpc>
                              <a:spcPct val="150000"/>
                            </a:lnSpc>
                            <a:spcAft>
                              <a:spcPts val="800"/>
                            </a:spcAft>
                            <a:buNone/>
                          </a:pPr>
                          <a:r>
                            <a:rPr lang="en-US" sz="1200" kern="0">
                              <a:solidFill>
                                <a:sysClr val="windowText" lastClr="000000"/>
                              </a:solidFill>
                              <a:effectLst/>
                            </a:rPr>
                            <a:t>25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Z</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tc>
                      <a:txBody>
                        <a:bodyPr/>
                        <a:lstStyle/>
                        <a:p>
                          <a:pPr marL="0" marR="0" algn="ctr">
                            <a:lnSpc>
                              <a:spcPct val="150000"/>
                            </a:lnSpc>
                            <a:spcAft>
                              <a:spcPts val="800"/>
                            </a:spcAft>
                            <a:buNone/>
                          </a:pPr>
                          <a:r>
                            <a:rPr lang="en-US" sz="1200" kern="0">
                              <a:solidFill>
                                <a:sysClr val="windowText" lastClr="000000"/>
                              </a:solidFill>
                              <a:effectLst/>
                            </a:rPr>
                            <a:t>1620.055</a:t>
                          </a:r>
                          <a:endParaRPr lang="en-US" sz="1200" kern="100">
                            <a:solidFill>
                              <a:sysClr val="windowText" lastClr="0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700" marR="44700" marT="0" marB="0" anchor="ctr">
                        <a:solidFill>
                          <a:srgbClr val="A0B0DC"/>
                        </a:solidFill>
                      </a:tcPr>
                    </a:tc>
                    <a:extLst>
                      <a:ext uri="{0D108BD9-81ED-4DB2-BD59-A6C34878D82A}">
                        <a16:rowId xmlns:a16="http://schemas.microsoft.com/office/drawing/2014/main" val="4069953218"/>
                      </a:ext>
                    </a:extLst>
                  </a:tr>
                </a:tbl>
              </a:graphicData>
            </a:graphic>
          </p:graphicFrame>
        </mc:Fallback>
      </mc:AlternateContent>
      <p:sp>
        <p:nvSpPr>
          <p:cNvPr id="8" name="TextBox 7">
            <a:extLst>
              <a:ext uri="{FF2B5EF4-FFF2-40B4-BE49-F238E27FC236}">
                <a16:creationId xmlns:a16="http://schemas.microsoft.com/office/drawing/2014/main" id="{D0C37992-9385-0D0F-8AC0-DFC2A4B7892C}"/>
              </a:ext>
            </a:extLst>
          </p:cNvPr>
          <p:cNvSpPr txBox="1"/>
          <p:nvPr/>
        </p:nvSpPr>
        <p:spPr>
          <a:xfrm>
            <a:off x="2916317" y="859357"/>
            <a:ext cx="8168489" cy="2019527"/>
          </a:xfrm>
          <a:prstGeom prst="rect">
            <a:avLst/>
          </a:prstGeom>
          <a:noFill/>
        </p:spPr>
        <p:txBody>
          <a:bodyPr wrap="square">
            <a:spAutoFit/>
          </a:bodyPr>
          <a:lstStyle/>
          <a:p>
            <a:pPr>
              <a:lnSpc>
                <a:spcPct val="150000"/>
              </a:lnSpc>
            </a:pPr>
            <a:r>
              <a:rPr lang="vi-VN" sz="2000">
                <a:latin typeface="Calibri" panose="020F0502020204030204" pitchFamily="34" charset="0"/>
                <a:cs typeface="Calibri" panose="020F0502020204030204" pitchFamily="34" charset="0"/>
              </a:rPr>
              <a:t>Có thể nhận thấy rằng shift = 2, tương ứng với ký tự khóa “C”, cho ra giá trị chi bình phương nhỏ nhất là 53.25165 , điều này cho thấy “C” rất có khả năng là ký tự khóa đúng cho vị trí đang xét.</a:t>
            </a:r>
            <a:endParaRPr lang="en-US" sz="2000">
              <a:latin typeface="Calibri" panose="020F0502020204030204" pitchFamily="34" charset="0"/>
              <a:cs typeface="Calibri" panose="020F0502020204030204" pitchFamily="34" charset="0"/>
            </a:endParaRPr>
          </a:p>
          <a:p>
            <a:pPr>
              <a:lnSpc>
                <a:spcPct val="150000"/>
              </a:lnSpc>
              <a:spcBef>
                <a:spcPts val="1000"/>
              </a:spcBef>
            </a:pPr>
            <a:r>
              <a:rPr lang="vi-VN" sz="2000">
                <a:latin typeface="Calibri" panose="020F0502020204030204" pitchFamily="34" charset="0"/>
                <a:cs typeface="Calibri" panose="020F0502020204030204" pitchFamily="34" charset="0"/>
              </a:rPr>
              <a:t>Kết luận: ký tự khóa tiềm năng của K</a:t>
            </a:r>
            <a:r>
              <a:rPr lang="vi-VN" sz="2000" baseline="-25000">
                <a:latin typeface="Calibri" panose="020F0502020204030204" pitchFamily="34" charset="0"/>
                <a:cs typeface="Calibri" panose="020F0502020204030204" pitchFamily="34" charset="0"/>
              </a:rPr>
              <a:t>1</a:t>
            </a:r>
            <a:r>
              <a:rPr lang="vi-VN" sz="2000">
                <a:latin typeface="Calibri" panose="020F0502020204030204" pitchFamily="34" charset="0"/>
                <a:cs typeface="Calibri" panose="020F0502020204030204" pitchFamily="34" charset="0"/>
              </a:rPr>
              <a:t> là “C”</a:t>
            </a:r>
            <a:endParaRPr lang="en-US" sz="20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4847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8262F-B334-7D53-5F14-4D4B9226C0A8}"/>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B3EC3887-67BD-F522-04BD-B6A93FC9C14F}"/>
              </a:ext>
            </a:extLst>
          </p:cNvPr>
          <p:cNvSpPr txBox="1"/>
          <p:nvPr/>
        </p:nvSpPr>
        <p:spPr>
          <a:xfrm>
            <a:off x="219075" y="104775"/>
            <a:ext cx="11356818" cy="609782"/>
          </a:xfrm>
          <a:prstGeom prst="rect">
            <a:avLst/>
          </a:prstGeom>
          <a:noFill/>
        </p:spPr>
        <p:txBody>
          <a:bodyPr wrap="square">
            <a:spAutoFit/>
          </a:bodyPr>
          <a:lstStyle/>
          <a:p>
            <a:pPr algn="just">
              <a:lnSpc>
                <a:spcPct val="150000"/>
              </a:lnSpc>
            </a:pPr>
            <a:r>
              <a:rPr lang="en-US" sz="2500" b="1"/>
              <a:t>Giả mã K</a:t>
            </a:r>
            <a:r>
              <a:rPr lang="en-US" sz="2500" b="1" baseline="-25000"/>
              <a:t>2</a:t>
            </a:r>
            <a:endParaRPr lang="en-US" sz="2500" b="1" kern="100">
              <a:solidFill>
                <a:srgbClr val="00B0F0"/>
              </a:solidFill>
              <a:effectLst/>
              <a:ea typeface="Aptos" panose="020B0004020202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66195767-01B3-AF25-726C-36BE76CE22FA}"/>
              </a:ext>
            </a:extLst>
          </p:cNvPr>
          <p:cNvSpPr txBox="1"/>
          <p:nvPr/>
        </p:nvSpPr>
        <p:spPr>
          <a:xfrm>
            <a:off x="620531" y="714557"/>
            <a:ext cx="7219950" cy="1429622"/>
          </a:xfrm>
          <a:prstGeom prst="rect">
            <a:avLst/>
          </a:prstGeom>
          <a:noFill/>
        </p:spPr>
        <p:txBody>
          <a:bodyPr wrap="square">
            <a:spAutoFit/>
          </a:bodyPr>
          <a:lstStyle/>
          <a:p>
            <a:pPr>
              <a:lnSpc>
                <a:spcPct val="150000"/>
              </a:lnSpc>
            </a:pPr>
            <a:r>
              <a:rPr lang="en-US" sz="2000" dirty="0"/>
              <a:t>K</a:t>
            </a:r>
            <a:r>
              <a:rPr lang="en-US" sz="2000" baseline="-25000" dirty="0"/>
              <a:t>2</a:t>
            </a:r>
            <a:r>
              <a:rPr lang="en-US" sz="2000" dirty="0"/>
              <a:t> = “</a:t>
            </a:r>
            <a:r>
              <a:rPr lang="en-US" sz="2000" dirty="0" err="1"/>
              <a:t>erngeuNeoatuwernrauadeyNeoakorernsgdevgneaedro</a:t>
            </a:r>
            <a:r>
              <a:rPr lang="en-US" sz="2000"/>
              <a:t>”</a:t>
            </a:r>
          </a:p>
          <a:p>
            <a:pPr>
              <a:lnSpc>
                <a:spcPct val="150000"/>
              </a:lnSpc>
            </a:pPr>
            <a:r>
              <a:rPr lang="en-US" sz="2000"/>
              <a:t>Số lượng ký tự của K</a:t>
            </a:r>
            <a:r>
              <a:rPr lang="en-US" sz="2000" baseline="-25000"/>
              <a:t>2</a:t>
            </a:r>
            <a:r>
              <a:rPr lang="en-US" sz="2000"/>
              <a:t>: </a:t>
            </a:r>
          </a:p>
          <a:p>
            <a:pPr>
              <a:lnSpc>
                <a:spcPct val="150000"/>
              </a:lnSpc>
            </a:pPr>
            <a:r>
              <a:rPr lang="en-US" sz="2000"/>
              <a:t>Tính tuần suất kỳ vọng E</a:t>
            </a:r>
            <a:r>
              <a:rPr lang="en-US" sz="2000" baseline="-25000"/>
              <a:t>i</a:t>
            </a:r>
            <a:r>
              <a:rPr lang="en-US" sz="2000"/>
              <a: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B76C937-1E69-5275-8D6D-772229AD57CB}"/>
                  </a:ext>
                </a:extLst>
              </p:cNvPr>
              <p:cNvSpPr txBox="1"/>
              <p:nvPr/>
            </p:nvSpPr>
            <p:spPr>
              <a:xfrm>
                <a:off x="3473450" y="1284607"/>
                <a:ext cx="137795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2</m:t>
                          </m:r>
                        </m:sub>
                      </m:sSub>
                      <m:r>
                        <a:rPr lang="en-US" i="0">
                          <a:latin typeface="Cambria Math" panose="02040503050406030204" pitchFamily="18" charset="0"/>
                        </a:rPr>
                        <m:t>=46</m:t>
                      </m:r>
                    </m:oMath>
                  </m:oMathPara>
                </a14:m>
                <a:endParaRPr lang="en-US"/>
              </a:p>
            </p:txBody>
          </p:sp>
        </mc:Choice>
        <mc:Fallback xmlns="">
          <p:sp>
            <p:nvSpPr>
              <p:cNvPr id="5" name="TextBox 4">
                <a:extLst>
                  <a:ext uri="{FF2B5EF4-FFF2-40B4-BE49-F238E27FC236}">
                    <a16:creationId xmlns:a16="http://schemas.microsoft.com/office/drawing/2014/main" id="{DB76C937-1E69-5275-8D6D-772229AD57CB}"/>
                  </a:ext>
                </a:extLst>
              </p:cNvPr>
              <p:cNvSpPr txBox="1">
                <a:spLocks noRot="1" noChangeAspect="1" noMove="1" noResize="1" noEditPoints="1" noAdjustHandles="1" noChangeArrowheads="1" noChangeShapeType="1" noTextEdit="1"/>
              </p:cNvSpPr>
              <p:nvPr/>
            </p:nvSpPr>
            <p:spPr>
              <a:xfrm>
                <a:off x="3473450" y="1284607"/>
                <a:ext cx="1377950"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80469B6-C3FD-D071-CFC5-B3F3CC8E9D79}"/>
                  </a:ext>
                </a:extLst>
              </p:cNvPr>
              <p:cNvSpPr txBox="1"/>
              <p:nvPr/>
            </p:nvSpPr>
            <p:spPr>
              <a:xfrm>
                <a:off x="3473450" y="1779609"/>
                <a:ext cx="1831063"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𝑖</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𝑖</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𝑁</m:t>
                          </m:r>
                        </m:e>
                        <m:sub>
                          <m:r>
                            <a:rPr lang="en-US" sz="2000" b="0" i="1" smtClean="0">
                              <a:latin typeface="Cambria Math" panose="02040503050406030204" pitchFamily="18" charset="0"/>
                            </a:rPr>
                            <m:t>2</m:t>
                          </m:r>
                        </m:sub>
                      </m:sSub>
                    </m:oMath>
                  </m:oMathPara>
                </a14:m>
                <a:endParaRPr lang="en-US" sz="2000"/>
              </a:p>
            </p:txBody>
          </p:sp>
        </mc:Choice>
        <mc:Fallback xmlns="">
          <p:sp>
            <p:nvSpPr>
              <p:cNvPr id="10" name="TextBox 9">
                <a:extLst>
                  <a:ext uri="{FF2B5EF4-FFF2-40B4-BE49-F238E27FC236}">
                    <a16:creationId xmlns:a16="http://schemas.microsoft.com/office/drawing/2014/main" id="{C80469B6-C3FD-D071-CFC5-B3F3CC8E9D79}"/>
                  </a:ext>
                </a:extLst>
              </p:cNvPr>
              <p:cNvSpPr txBox="1">
                <a:spLocks noRot="1" noChangeAspect="1" noMove="1" noResize="1" noEditPoints="1" noAdjustHandles="1" noChangeArrowheads="1" noChangeShapeType="1" noTextEdit="1"/>
              </p:cNvSpPr>
              <p:nvPr/>
            </p:nvSpPr>
            <p:spPr>
              <a:xfrm>
                <a:off x="3473450" y="1779609"/>
                <a:ext cx="1831063" cy="400110"/>
              </a:xfrm>
              <a:prstGeom prst="rect">
                <a:avLst/>
              </a:prstGeom>
              <a:blipFill>
                <a:blip r:embed="rId4"/>
                <a:stretch>
                  <a:fillRect b="-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Content Placeholder 14">
                <a:extLst>
                  <a:ext uri="{FF2B5EF4-FFF2-40B4-BE49-F238E27FC236}">
                    <a16:creationId xmlns:a16="http://schemas.microsoft.com/office/drawing/2014/main" id="{A9D751BC-9652-1BAF-D991-655E353FC55C}"/>
                  </a:ext>
                </a:extLst>
              </p:cNvPr>
              <p:cNvGraphicFramePr>
                <a:graphicFrameLocks noGrp="1"/>
              </p:cNvGraphicFramePr>
              <p:nvPr>
                <p:ph idx="1"/>
              </p:nvPr>
            </p:nvGraphicFramePr>
            <p:xfrm>
              <a:off x="9239250" y="55428"/>
              <a:ext cx="2818110" cy="6747142"/>
            </p:xfrm>
            <a:graphic>
              <a:graphicData uri="http://schemas.openxmlformats.org/drawingml/2006/table">
                <a:tbl>
                  <a:tblPr firstRow="1" firstCol="1" bandRow="1">
                    <a:tableStyleId>{5940675A-B579-460E-94D1-54222C63F5DA}</a:tableStyleId>
                  </a:tblPr>
                  <a:tblGrid>
                    <a:gridCol w="704527">
                      <a:extLst>
                        <a:ext uri="{9D8B030D-6E8A-4147-A177-3AD203B41FA5}">
                          <a16:colId xmlns:a16="http://schemas.microsoft.com/office/drawing/2014/main" val="3705062519"/>
                        </a:ext>
                      </a:extLst>
                    </a:gridCol>
                    <a:gridCol w="1291634">
                      <a:extLst>
                        <a:ext uri="{9D8B030D-6E8A-4147-A177-3AD203B41FA5}">
                          <a16:colId xmlns:a16="http://schemas.microsoft.com/office/drawing/2014/main" val="2716038338"/>
                        </a:ext>
                      </a:extLst>
                    </a:gridCol>
                    <a:gridCol w="821949">
                      <a:extLst>
                        <a:ext uri="{9D8B030D-6E8A-4147-A177-3AD203B41FA5}">
                          <a16:colId xmlns:a16="http://schemas.microsoft.com/office/drawing/2014/main" val="2053861919"/>
                        </a:ext>
                      </a:extLst>
                    </a:gridCol>
                  </a:tblGrid>
                  <a:tr h="347167">
                    <a:tc>
                      <a:txBody>
                        <a:bodyPr/>
                        <a:lstStyle/>
                        <a:p>
                          <a:pPr marL="0" marR="0" algn="ctr">
                            <a:lnSpc>
                              <a:spcPct val="150000"/>
                            </a:lnSpc>
                            <a:spcAft>
                              <a:spcPts val="800"/>
                            </a:spcAft>
                            <a:buNone/>
                          </a:pPr>
                          <a14:m>
                            <m:oMathPara xmlns:m="http://schemas.openxmlformats.org/officeDocument/2006/math">
                              <m:oMathParaPr>
                                <m:jc m:val="centerGroup"/>
                              </m:oMathParaPr>
                              <m:oMath xmlns:m="http://schemas.openxmlformats.org/officeDocument/2006/math">
                                <m:r>
                                  <m:rPr>
                                    <m:sty m:val="p"/>
                                  </m:rPr>
                                  <a:rPr lang="en-US" sz="1200" b="0" i="0" kern="100" smtClean="0">
                                    <a:solidFill>
                                      <a:schemeClr val="bg1"/>
                                    </a:solidFill>
                                    <a:effectLst/>
                                    <a:latin typeface="Cambria Math" panose="02040503050406030204" pitchFamily="18" charset="0"/>
                                  </a:rPr>
                                  <m:t>K</m:t>
                                </m:r>
                                <m:r>
                                  <a:rPr lang="en-US" sz="1200" b="0" i="0" kern="100" smtClean="0">
                                    <a:solidFill>
                                      <a:schemeClr val="bg1"/>
                                    </a:solidFill>
                                    <a:effectLst/>
                                    <a:latin typeface="Cambria Math" panose="02040503050406030204" pitchFamily="18" charset="0"/>
                                  </a:rPr>
                                  <m:t>ý </m:t>
                                </m:r>
                                <m:r>
                                  <m:rPr>
                                    <m:sty m:val="p"/>
                                  </m:rPr>
                                  <a:rPr lang="en-US" sz="1200" b="0" i="0" kern="100" smtClean="0">
                                    <a:solidFill>
                                      <a:schemeClr val="bg1"/>
                                    </a:solidFill>
                                    <a:effectLst/>
                                    <a:latin typeface="Cambria Math" panose="02040503050406030204" pitchFamily="18" charset="0"/>
                                  </a:rPr>
                                  <m:t>t</m:t>
                                </m:r>
                                <m:r>
                                  <a:rPr lang="en-US" sz="1200" b="0" i="0" kern="100" smtClean="0">
                                    <a:solidFill>
                                      <a:schemeClr val="bg1"/>
                                    </a:solidFill>
                                    <a:effectLst/>
                                    <a:latin typeface="Cambria Math" panose="02040503050406030204" pitchFamily="18" charset="0"/>
                                  </a:rPr>
                                  <m:t>ự</m:t>
                                </m:r>
                              </m:oMath>
                            </m:oMathPara>
                          </a14:m>
                          <a:endParaRPr lang="en-US" sz="1200" i="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solidFill>
                          <a:srgbClr val="FFC000"/>
                        </a:solidFill>
                      </a:tcPr>
                    </a:tc>
                    <a:tc>
                      <a:txBody>
                        <a:bodyPr/>
                        <a:lstStyle/>
                        <a:p>
                          <a:pPr marL="0" marR="0" algn="ctr">
                            <a:lnSpc>
                              <a:spcPct val="150000"/>
                            </a:lnSpc>
                            <a:spcAft>
                              <a:spcPts val="800"/>
                            </a:spcAft>
                            <a:buNone/>
                          </a:pPr>
                          <a14:m>
                            <m:oMathPara xmlns:m="http://schemas.openxmlformats.org/officeDocument/2006/math">
                              <m:oMathParaPr>
                                <m:jc m:val="centerGroup"/>
                              </m:oMathParaPr>
                              <m:oMath xmlns:m="http://schemas.openxmlformats.org/officeDocument/2006/math">
                                <m:sSub>
                                  <m:sSubPr>
                                    <m:ctrlPr>
                                      <a:rPr lang="en-US" sz="1200" i="1" kern="100" smtClean="0">
                                        <a:solidFill>
                                          <a:schemeClr val="bg1"/>
                                        </a:solidFill>
                                        <a:effectLst/>
                                        <a:latin typeface="Cambria Math" panose="02040503050406030204" pitchFamily="18" charset="0"/>
                                      </a:rPr>
                                    </m:ctrlPr>
                                  </m:sSubPr>
                                  <m:e>
                                    <m:r>
                                      <a:rPr lang="en-US" sz="1200" kern="100">
                                        <a:solidFill>
                                          <a:schemeClr val="bg1"/>
                                        </a:solidFill>
                                        <a:effectLst/>
                                        <a:latin typeface="Cambria Math" panose="02040503050406030204" pitchFamily="18" charset="0"/>
                                      </a:rPr>
                                      <m:t>𝑝</m:t>
                                    </m:r>
                                  </m:e>
                                  <m:sub>
                                    <m:r>
                                      <a:rPr lang="en-US" sz="1200" kern="100">
                                        <a:solidFill>
                                          <a:schemeClr val="bg1"/>
                                        </a:solidFill>
                                        <a:effectLst/>
                                        <a:latin typeface="Cambria Math" panose="02040503050406030204" pitchFamily="18" charset="0"/>
                                      </a:rPr>
                                      <m:t>𝑖</m:t>
                                    </m:r>
                                  </m:sub>
                                </m:sSub>
                              </m:oMath>
                            </m:oMathPara>
                          </a14:m>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tc>
                      <a:txBody>
                        <a:bodyPr/>
                        <a:lstStyle/>
                        <a:p>
                          <a:pPr marL="0" marR="0" algn="ctr">
                            <a:lnSpc>
                              <a:spcPct val="150000"/>
                            </a:lnSpc>
                            <a:spcAft>
                              <a:spcPts val="800"/>
                            </a:spcAft>
                            <a:buNone/>
                          </a:pPr>
                          <a14:m>
                            <m:oMathPara xmlns:m="http://schemas.openxmlformats.org/officeDocument/2006/math">
                              <m:oMathParaPr>
                                <m:jc m:val="centerGroup"/>
                              </m:oMathParaPr>
                              <m:oMath xmlns:m="http://schemas.openxmlformats.org/officeDocument/2006/math">
                                <m:sSub>
                                  <m:sSubPr>
                                    <m:ctrlPr>
                                      <a:rPr lang="en-US" sz="1200" i="1" kern="100" smtClean="0">
                                        <a:solidFill>
                                          <a:schemeClr val="bg1"/>
                                        </a:solidFill>
                                        <a:effectLst/>
                                        <a:latin typeface="Cambria Math" panose="02040503050406030204" pitchFamily="18" charset="0"/>
                                      </a:rPr>
                                    </m:ctrlPr>
                                  </m:sSubPr>
                                  <m:e>
                                    <m:r>
                                      <a:rPr lang="en-US" sz="1200" kern="100">
                                        <a:solidFill>
                                          <a:schemeClr val="bg1"/>
                                        </a:solidFill>
                                        <a:effectLst/>
                                        <a:latin typeface="Cambria Math" panose="02040503050406030204" pitchFamily="18" charset="0"/>
                                      </a:rPr>
                                      <m:t>𝐸</m:t>
                                    </m:r>
                                  </m:e>
                                  <m:sub>
                                    <m:r>
                                      <a:rPr lang="en-US" sz="1200" kern="100">
                                        <a:solidFill>
                                          <a:schemeClr val="bg1"/>
                                        </a:solidFill>
                                        <a:effectLst/>
                                        <a:latin typeface="Cambria Math" panose="02040503050406030204" pitchFamily="18" charset="0"/>
                                      </a:rPr>
                                      <m:t>𝑖</m:t>
                                    </m:r>
                                  </m:sub>
                                </m:sSub>
                              </m:oMath>
                            </m:oMathPara>
                          </a14:m>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extLst>
                      <a:ext uri="{0D108BD9-81ED-4DB2-BD59-A6C34878D82A}">
                        <a16:rowId xmlns:a16="http://schemas.microsoft.com/office/drawing/2014/main" val="2273717808"/>
                      </a:ext>
                    </a:extLst>
                  </a:tr>
                  <a:tr h="226304">
                    <a:tc>
                      <a:txBody>
                        <a:bodyPr/>
                        <a:lstStyle/>
                        <a:p>
                          <a:pPr marL="0" marR="0" algn="ctr">
                            <a:lnSpc>
                              <a:spcPct val="15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0.08167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3.75682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51738712"/>
                      </a:ext>
                    </a:extLst>
                  </a:tr>
                  <a:tr h="226304">
                    <a:tc>
                      <a:txBody>
                        <a:bodyPr/>
                        <a:lstStyle/>
                        <a:p>
                          <a:pPr marL="0" marR="0" algn="ctr">
                            <a:lnSpc>
                              <a:spcPct val="15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0.01492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0.68632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528291463"/>
                      </a:ext>
                    </a:extLst>
                  </a:tr>
                  <a:tr h="226304">
                    <a:tc>
                      <a:txBody>
                        <a:bodyPr/>
                        <a:lstStyle/>
                        <a:p>
                          <a:pPr marL="0" marR="0" algn="ctr">
                            <a:lnSpc>
                              <a:spcPct val="15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1.27972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157828896"/>
                      </a:ext>
                    </a:extLst>
                  </a:tr>
                  <a:tr h="226304">
                    <a:tc>
                      <a:txBody>
                        <a:bodyPr/>
                        <a:lstStyle/>
                        <a:p>
                          <a:pPr marL="0" marR="0" algn="ctr">
                            <a:lnSpc>
                              <a:spcPct val="15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0.04253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1.95638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902391"/>
                      </a:ext>
                    </a:extLst>
                  </a:tr>
                  <a:tr h="226304">
                    <a:tc>
                      <a:txBody>
                        <a:bodyPr/>
                        <a:lstStyle/>
                        <a:p>
                          <a:pPr marL="0" marR="0" algn="ctr">
                            <a:lnSpc>
                              <a:spcPct val="15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0.12702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5.84292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860118349"/>
                      </a:ext>
                    </a:extLst>
                  </a:tr>
                  <a:tr h="226304">
                    <a:tc>
                      <a:txBody>
                        <a:bodyPr/>
                        <a:lstStyle/>
                        <a:p>
                          <a:pPr marL="0" marR="0" algn="ctr">
                            <a:lnSpc>
                              <a:spcPct val="15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0.02228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1.02488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139119834"/>
                      </a:ext>
                    </a:extLst>
                  </a:tr>
                  <a:tr h="226304">
                    <a:tc>
                      <a:txBody>
                        <a:bodyPr/>
                        <a:lstStyle/>
                        <a:p>
                          <a:pPr marL="0" marR="0" algn="ctr">
                            <a:lnSpc>
                              <a:spcPct val="15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0.9269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93505350"/>
                      </a:ext>
                    </a:extLst>
                  </a:tr>
                  <a:tr h="226304">
                    <a:tc>
                      <a:txBody>
                        <a:bodyPr/>
                        <a:lstStyle/>
                        <a:p>
                          <a:pPr marL="0" marR="0" algn="ctr">
                            <a:lnSpc>
                              <a:spcPct val="15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0.06094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2.80324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580187908"/>
                      </a:ext>
                    </a:extLst>
                  </a:tr>
                  <a:tr h="226304">
                    <a:tc>
                      <a:txBody>
                        <a:bodyPr/>
                        <a:lstStyle/>
                        <a:p>
                          <a:pPr marL="0" marR="0" algn="ctr">
                            <a:lnSpc>
                              <a:spcPct val="15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0.06966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3.20436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639935506"/>
                      </a:ext>
                    </a:extLst>
                  </a:tr>
                  <a:tr h="226304">
                    <a:tc>
                      <a:txBody>
                        <a:bodyPr/>
                        <a:lstStyle/>
                        <a:p>
                          <a:pPr marL="0" marR="0" algn="ctr">
                            <a:lnSpc>
                              <a:spcPct val="15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0.07038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19437713"/>
                      </a:ext>
                    </a:extLst>
                  </a:tr>
                  <a:tr h="226304">
                    <a:tc>
                      <a:txBody>
                        <a:bodyPr/>
                        <a:lstStyle/>
                        <a:p>
                          <a:pPr marL="0" marR="0" algn="ctr">
                            <a:lnSpc>
                              <a:spcPct val="15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0.00772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0.35512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6173072"/>
                      </a:ext>
                    </a:extLst>
                  </a:tr>
                  <a:tr h="226304">
                    <a:tc>
                      <a:txBody>
                        <a:bodyPr/>
                        <a:lstStyle/>
                        <a:p>
                          <a:pPr marL="0" marR="0" algn="ctr">
                            <a:lnSpc>
                              <a:spcPct val="15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0.04025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1.8515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180079724"/>
                      </a:ext>
                    </a:extLst>
                  </a:tr>
                  <a:tr h="226304">
                    <a:tc>
                      <a:txBody>
                        <a:bodyPr/>
                        <a:lstStyle/>
                        <a:p>
                          <a:pPr marL="0" marR="0" algn="ctr">
                            <a:lnSpc>
                              <a:spcPct val="15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0.02406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1.10676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48808680"/>
                      </a:ext>
                    </a:extLst>
                  </a:tr>
                  <a:tr h="226304">
                    <a:tc>
                      <a:txBody>
                        <a:bodyPr/>
                        <a:lstStyle/>
                        <a:p>
                          <a:pPr marL="0" marR="0" algn="ctr">
                            <a:lnSpc>
                              <a:spcPct val="15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0.06749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3.10454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11398717"/>
                      </a:ext>
                    </a:extLst>
                  </a:tr>
                  <a:tr h="226304">
                    <a:tc>
                      <a:txBody>
                        <a:bodyPr/>
                        <a:lstStyle/>
                        <a:p>
                          <a:pPr marL="0" marR="0" algn="ctr">
                            <a:lnSpc>
                              <a:spcPct val="15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0.07507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3.45322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878432031"/>
                      </a:ext>
                    </a:extLst>
                  </a:tr>
                  <a:tr h="226304">
                    <a:tc>
                      <a:txBody>
                        <a:bodyPr/>
                        <a:lstStyle/>
                        <a:p>
                          <a:pPr marL="0" marR="0" algn="ctr">
                            <a:lnSpc>
                              <a:spcPct val="15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0.01929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0.88734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111192"/>
                      </a:ext>
                    </a:extLst>
                  </a:tr>
                  <a:tr h="226304">
                    <a:tc>
                      <a:txBody>
                        <a:bodyPr/>
                        <a:lstStyle/>
                        <a:p>
                          <a:pPr marL="0" marR="0" algn="ctr">
                            <a:lnSpc>
                              <a:spcPct val="15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0.00095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0.0437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73563382"/>
                      </a:ext>
                    </a:extLst>
                  </a:tr>
                  <a:tr h="226304">
                    <a:tc>
                      <a:txBody>
                        <a:bodyPr/>
                        <a:lstStyle/>
                        <a:p>
                          <a:pPr marL="0" marR="0" algn="ctr">
                            <a:lnSpc>
                              <a:spcPct val="15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0.05987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2.75402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27019612"/>
                      </a:ext>
                    </a:extLst>
                  </a:tr>
                  <a:tr h="226304">
                    <a:tc>
                      <a:txBody>
                        <a:bodyPr/>
                        <a:lstStyle/>
                        <a:p>
                          <a:pPr marL="0" marR="0" algn="ctr">
                            <a:lnSpc>
                              <a:spcPct val="15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0.06327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2.91042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071481530"/>
                      </a:ext>
                    </a:extLst>
                  </a:tr>
                  <a:tr h="226304">
                    <a:tc>
                      <a:txBody>
                        <a:bodyPr/>
                        <a:lstStyle/>
                        <a:p>
                          <a:pPr marL="0" marR="0" algn="ctr">
                            <a:lnSpc>
                              <a:spcPct val="15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0.09056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4.16576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87245901"/>
                      </a:ext>
                    </a:extLst>
                  </a:tr>
                  <a:tr h="226304">
                    <a:tc>
                      <a:txBody>
                        <a:bodyPr/>
                        <a:lstStyle/>
                        <a:p>
                          <a:pPr marL="0" marR="0" algn="ctr">
                            <a:lnSpc>
                              <a:spcPct val="15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0.02758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1.26868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01611784"/>
                      </a:ext>
                    </a:extLst>
                  </a:tr>
                  <a:tr h="226304">
                    <a:tc>
                      <a:txBody>
                        <a:bodyPr/>
                        <a:lstStyle/>
                        <a:p>
                          <a:pPr marL="0" marR="0" algn="ctr">
                            <a:lnSpc>
                              <a:spcPct val="15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0.00978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0.44988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375969827"/>
                      </a:ext>
                    </a:extLst>
                  </a:tr>
                  <a:tr h="226304">
                    <a:tc>
                      <a:txBody>
                        <a:bodyPr/>
                        <a:lstStyle/>
                        <a:p>
                          <a:pPr marL="0" marR="0" algn="ctr">
                            <a:lnSpc>
                              <a:spcPct val="15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1.0856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06089555"/>
                      </a:ext>
                    </a:extLst>
                  </a:tr>
                  <a:tr h="226304">
                    <a:tc>
                      <a:txBody>
                        <a:bodyPr/>
                        <a:lstStyle/>
                        <a:p>
                          <a:pPr marL="0" marR="0" algn="ctr">
                            <a:lnSpc>
                              <a:spcPct val="15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794108946"/>
                      </a:ext>
                    </a:extLst>
                  </a:tr>
                  <a:tr h="226304">
                    <a:tc>
                      <a:txBody>
                        <a:bodyPr/>
                        <a:lstStyle/>
                        <a:p>
                          <a:pPr marL="0" marR="0" algn="ctr">
                            <a:lnSpc>
                              <a:spcPct val="15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0.90804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015600146"/>
                      </a:ext>
                    </a:extLst>
                  </a:tr>
                  <a:tr h="0">
                    <a:tc>
                      <a:txBody>
                        <a:bodyPr/>
                        <a:lstStyle/>
                        <a:p>
                          <a:pPr marL="0" marR="0" algn="ctr">
                            <a:lnSpc>
                              <a:spcPct val="15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0.03404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99105101"/>
                      </a:ext>
                    </a:extLst>
                  </a:tr>
                </a:tbl>
              </a:graphicData>
            </a:graphic>
          </p:graphicFrame>
        </mc:Choice>
        <mc:Fallback xmlns="">
          <p:graphicFrame>
            <p:nvGraphicFramePr>
              <p:cNvPr id="15" name="Content Placeholder 14">
                <a:extLst>
                  <a:ext uri="{FF2B5EF4-FFF2-40B4-BE49-F238E27FC236}">
                    <a16:creationId xmlns:a16="http://schemas.microsoft.com/office/drawing/2014/main" id="{A9D751BC-9652-1BAF-D991-655E353FC55C}"/>
                  </a:ext>
                </a:extLst>
              </p:cNvPr>
              <p:cNvGraphicFramePr>
                <a:graphicFrameLocks noGrp="1"/>
              </p:cNvGraphicFramePr>
              <p:nvPr>
                <p:ph idx="1"/>
              </p:nvPr>
            </p:nvGraphicFramePr>
            <p:xfrm>
              <a:off x="9239250" y="55428"/>
              <a:ext cx="2818110" cy="6747142"/>
            </p:xfrm>
            <a:graphic>
              <a:graphicData uri="http://schemas.openxmlformats.org/drawingml/2006/table">
                <a:tbl>
                  <a:tblPr firstRow="1" firstCol="1" bandRow="1">
                    <a:tableStyleId>{5940675A-B579-460E-94D1-54222C63F5DA}</a:tableStyleId>
                  </a:tblPr>
                  <a:tblGrid>
                    <a:gridCol w="704527">
                      <a:extLst>
                        <a:ext uri="{9D8B030D-6E8A-4147-A177-3AD203B41FA5}">
                          <a16:colId xmlns:a16="http://schemas.microsoft.com/office/drawing/2014/main" val="3705062519"/>
                        </a:ext>
                      </a:extLst>
                    </a:gridCol>
                    <a:gridCol w="1291634">
                      <a:extLst>
                        <a:ext uri="{9D8B030D-6E8A-4147-A177-3AD203B41FA5}">
                          <a16:colId xmlns:a16="http://schemas.microsoft.com/office/drawing/2014/main" val="2716038338"/>
                        </a:ext>
                      </a:extLst>
                    </a:gridCol>
                    <a:gridCol w="821949">
                      <a:extLst>
                        <a:ext uri="{9D8B030D-6E8A-4147-A177-3AD203B41FA5}">
                          <a16:colId xmlns:a16="http://schemas.microsoft.com/office/drawing/2014/main" val="2053861919"/>
                        </a:ext>
                      </a:extLst>
                    </a:gridCol>
                  </a:tblGrid>
                  <a:tr h="375920">
                    <a:tc>
                      <a:txBody>
                        <a:bodyPr/>
                        <a:lstStyle/>
                        <a:p>
                          <a:endParaRPr lang="en-US"/>
                        </a:p>
                      </a:txBody>
                      <a:tcPr marL="44854" marR="44854" marT="0" marB="0">
                        <a:blipFill>
                          <a:blip r:embed="rId5"/>
                          <a:stretch>
                            <a:fillRect l="-862" t="-1613" r="-300862" b="-1711290"/>
                          </a:stretch>
                        </a:blipFill>
                      </a:tcPr>
                    </a:tc>
                    <a:tc>
                      <a:txBody>
                        <a:bodyPr/>
                        <a:lstStyle/>
                        <a:p>
                          <a:endParaRPr lang="en-US"/>
                        </a:p>
                      </a:txBody>
                      <a:tcPr marL="44854" marR="44854" marT="0" marB="0" anchor="ctr">
                        <a:blipFill>
                          <a:blip r:embed="rId5"/>
                          <a:stretch>
                            <a:fillRect l="-55189" t="-1613" r="-64623" b="-1711290"/>
                          </a:stretch>
                        </a:blipFill>
                      </a:tcPr>
                    </a:tc>
                    <a:tc>
                      <a:txBody>
                        <a:bodyPr/>
                        <a:lstStyle/>
                        <a:p>
                          <a:endParaRPr lang="en-US"/>
                        </a:p>
                      </a:txBody>
                      <a:tcPr marL="44854" marR="44854" marT="0" marB="0" anchor="ctr">
                        <a:blipFill>
                          <a:blip r:embed="rId5"/>
                          <a:stretch>
                            <a:fillRect l="-243704" t="-1613" r="-1481" b="-1711290"/>
                          </a:stretch>
                        </a:blipFill>
                      </a:tcPr>
                    </a:tc>
                    <a:extLst>
                      <a:ext uri="{0D108BD9-81ED-4DB2-BD59-A6C34878D82A}">
                        <a16:rowId xmlns:a16="http://schemas.microsoft.com/office/drawing/2014/main" val="2273717808"/>
                      </a:ext>
                    </a:extLst>
                  </a:tr>
                  <a:tr h="245047">
                    <a:tc>
                      <a:txBody>
                        <a:bodyPr/>
                        <a:lstStyle/>
                        <a:p>
                          <a:pPr marL="0" marR="0" algn="ctr">
                            <a:lnSpc>
                              <a:spcPct val="15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0.08167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3.75682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51738712"/>
                      </a:ext>
                    </a:extLst>
                  </a:tr>
                  <a:tr h="245047">
                    <a:tc>
                      <a:txBody>
                        <a:bodyPr/>
                        <a:lstStyle/>
                        <a:p>
                          <a:pPr marL="0" marR="0" algn="ctr">
                            <a:lnSpc>
                              <a:spcPct val="15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0.01492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0.68632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528291463"/>
                      </a:ext>
                    </a:extLst>
                  </a:tr>
                  <a:tr h="245047">
                    <a:tc>
                      <a:txBody>
                        <a:bodyPr/>
                        <a:lstStyle/>
                        <a:p>
                          <a:pPr marL="0" marR="0" algn="ctr">
                            <a:lnSpc>
                              <a:spcPct val="15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1.27972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157828896"/>
                      </a:ext>
                    </a:extLst>
                  </a:tr>
                  <a:tr h="245047">
                    <a:tc>
                      <a:txBody>
                        <a:bodyPr/>
                        <a:lstStyle/>
                        <a:p>
                          <a:pPr marL="0" marR="0" algn="ctr">
                            <a:lnSpc>
                              <a:spcPct val="15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0.04253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1.95638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902391"/>
                      </a:ext>
                    </a:extLst>
                  </a:tr>
                  <a:tr h="245047">
                    <a:tc>
                      <a:txBody>
                        <a:bodyPr/>
                        <a:lstStyle/>
                        <a:p>
                          <a:pPr marL="0" marR="0" algn="ctr">
                            <a:lnSpc>
                              <a:spcPct val="15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0.12702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5.84292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860118349"/>
                      </a:ext>
                    </a:extLst>
                  </a:tr>
                  <a:tr h="245047">
                    <a:tc>
                      <a:txBody>
                        <a:bodyPr/>
                        <a:lstStyle/>
                        <a:p>
                          <a:pPr marL="0" marR="0" algn="ctr">
                            <a:lnSpc>
                              <a:spcPct val="15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0.02228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1.02488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139119834"/>
                      </a:ext>
                    </a:extLst>
                  </a:tr>
                  <a:tr h="245047">
                    <a:tc>
                      <a:txBody>
                        <a:bodyPr/>
                        <a:lstStyle/>
                        <a:p>
                          <a:pPr marL="0" marR="0" algn="ctr">
                            <a:lnSpc>
                              <a:spcPct val="15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0.9269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93505350"/>
                      </a:ext>
                    </a:extLst>
                  </a:tr>
                  <a:tr h="245047">
                    <a:tc>
                      <a:txBody>
                        <a:bodyPr/>
                        <a:lstStyle/>
                        <a:p>
                          <a:pPr marL="0" marR="0" algn="ctr">
                            <a:lnSpc>
                              <a:spcPct val="15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0.06094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2.80324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580187908"/>
                      </a:ext>
                    </a:extLst>
                  </a:tr>
                  <a:tr h="245047">
                    <a:tc>
                      <a:txBody>
                        <a:bodyPr/>
                        <a:lstStyle/>
                        <a:p>
                          <a:pPr marL="0" marR="0" algn="ctr">
                            <a:lnSpc>
                              <a:spcPct val="15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0.06966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3.20436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639935506"/>
                      </a:ext>
                    </a:extLst>
                  </a:tr>
                  <a:tr h="245047">
                    <a:tc>
                      <a:txBody>
                        <a:bodyPr/>
                        <a:lstStyle/>
                        <a:p>
                          <a:pPr marL="0" marR="0" algn="ctr">
                            <a:lnSpc>
                              <a:spcPct val="15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0.07038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19437713"/>
                      </a:ext>
                    </a:extLst>
                  </a:tr>
                  <a:tr h="245047">
                    <a:tc>
                      <a:txBody>
                        <a:bodyPr/>
                        <a:lstStyle/>
                        <a:p>
                          <a:pPr marL="0" marR="0" algn="ctr">
                            <a:lnSpc>
                              <a:spcPct val="15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0.00772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0.35512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6173072"/>
                      </a:ext>
                    </a:extLst>
                  </a:tr>
                  <a:tr h="245047">
                    <a:tc>
                      <a:txBody>
                        <a:bodyPr/>
                        <a:lstStyle/>
                        <a:p>
                          <a:pPr marL="0" marR="0" algn="ctr">
                            <a:lnSpc>
                              <a:spcPct val="15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0.04025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1.8515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180079724"/>
                      </a:ext>
                    </a:extLst>
                  </a:tr>
                  <a:tr h="245047">
                    <a:tc>
                      <a:txBody>
                        <a:bodyPr/>
                        <a:lstStyle/>
                        <a:p>
                          <a:pPr marL="0" marR="0" algn="ctr">
                            <a:lnSpc>
                              <a:spcPct val="15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0.02406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1.10676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48808680"/>
                      </a:ext>
                    </a:extLst>
                  </a:tr>
                  <a:tr h="245047">
                    <a:tc>
                      <a:txBody>
                        <a:bodyPr/>
                        <a:lstStyle/>
                        <a:p>
                          <a:pPr marL="0" marR="0" algn="ctr">
                            <a:lnSpc>
                              <a:spcPct val="15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0.06749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3.10454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11398717"/>
                      </a:ext>
                    </a:extLst>
                  </a:tr>
                  <a:tr h="245047">
                    <a:tc>
                      <a:txBody>
                        <a:bodyPr/>
                        <a:lstStyle/>
                        <a:p>
                          <a:pPr marL="0" marR="0" algn="ctr">
                            <a:lnSpc>
                              <a:spcPct val="15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0.07507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3.45322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878432031"/>
                      </a:ext>
                    </a:extLst>
                  </a:tr>
                  <a:tr h="245047">
                    <a:tc>
                      <a:txBody>
                        <a:bodyPr/>
                        <a:lstStyle/>
                        <a:p>
                          <a:pPr marL="0" marR="0" algn="ctr">
                            <a:lnSpc>
                              <a:spcPct val="15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0.01929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0.88734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111192"/>
                      </a:ext>
                    </a:extLst>
                  </a:tr>
                  <a:tr h="245047">
                    <a:tc>
                      <a:txBody>
                        <a:bodyPr/>
                        <a:lstStyle/>
                        <a:p>
                          <a:pPr marL="0" marR="0" algn="ctr">
                            <a:lnSpc>
                              <a:spcPct val="15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0.00095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0.0437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73563382"/>
                      </a:ext>
                    </a:extLst>
                  </a:tr>
                  <a:tr h="245047">
                    <a:tc>
                      <a:txBody>
                        <a:bodyPr/>
                        <a:lstStyle/>
                        <a:p>
                          <a:pPr marL="0" marR="0" algn="ctr">
                            <a:lnSpc>
                              <a:spcPct val="15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0.05987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2.75402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27019612"/>
                      </a:ext>
                    </a:extLst>
                  </a:tr>
                  <a:tr h="245047">
                    <a:tc>
                      <a:txBody>
                        <a:bodyPr/>
                        <a:lstStyle/>
                        <a:p>
                          <a:pPr marL="0" marR="0" algn="ctr">
                            <a:lnSpc>
                              <a:spcPct val="15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0.06327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2.91042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071481530"/>
                      </a:ext>
                    </a:extLst>
                  </a:tr>
                  <a:tr h="245047">
                    <a:tc>
                      <a:txBody>
                        <a:bodyPr/>
                        <a:lstStyle/>
                        <a:p>
                          <a:pPr marL="0" marR="0" algn="ctr">
                            <a:lnSpc>
                              <a:spcPct val="15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0.09056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4.16576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87245901"/>
                      </a:ext>
                    </a:extLst>
                  </a:tr>
                  <a:tr h="245047">
                    <a:tc>
                      <a:txBody>
                        <a:bodyPr/>
                        <a:lstStyle/>
                        <a:p>
                          <a:pPr marL="0" marR="0" algn="ctr">
                            <a:lnSpc>
                              <a:spcPct val="15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0.02758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1.26868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01611784"/>
                      </a:ext>
                    </a:extLst>
                  </a:tr>
                  <a:tr h="245047">
                    <a:tc>
                      <a:txBody>
                        <a:bodyPr/>
                        <a:lstStyle/>
                        <a:p>
                          <a:pPr marL="0" marR="0" algn="ctr">
                            <a:lnSpc>
                              <a:spcPct val="15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0.00978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0.44988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375969827"/>
                      </a:ext>
                    </a:extLst>
                  </a:tr>
                  <a:tr h="245047">
                    <a:tc>
                      <a:txBody>
                        <a:bodyPr/>
                        <a:lstStyle/>
                        <a:p>
                          <a:pPr marL="0" marR="0" algn="ctr">
                            <a:lnSpc>
                              <a:spcPct val="15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1.0856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06089555"/>
                      </a:ext>
                    </a:extLst>
                  </a:tr>
                  <a:tr h="245047">
                    <a:tc>
                      <a:txBody>
                        <a:bodyPr/>
                        <a:lstStyle/>
                        <a:p>
                          <a:pPr marL="0" marR="0" algn="ctr">
                            <a:lnSpc>
                              <a:spcPct val="15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794108946"/>
                      </a:ext>
                    </a:extLst>
                  </a:tr>
                  <a:tr h="245047">
                    <a:tc>
                      <a:txBody>
                        <a:bodyPr/>
                        <a:lstStyle/>
                        <a:p>
                          <a:pPr marL="0" marR="0" algn="ctr">
                            <a:lnSpc>
                              <a:spcPct val="15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0.90804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015600146"/>
                      </a:ext>
                    </a:extLst>
                  </a:tr>
                  <a:tr h="245047">
                    <a:tc>
                      <a:txBody>
                        <a:bodyPr/>
                        <a:lstStyle/>
                        <a:p>
                          <a:pPr marL="0" marR="0" algn="ctr">
                            <a:lnSpc>
                              <a:spcPct val="15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0.03404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99105101"/>
                      </a:ext>
                    </a:extLst>
                  </a:tr>
                </a:tbl>
              </a:graphicData>
            </a:graphic>
          </p:graphicFrame>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488DC83-4147-1AC5-35C0-60EC922E44CC}"/>
                  </a:ext>
                </a:extLst>
              </p:cNvPr>
              <p:cNvSpPr txBox="1"/>
              <p:nvPr/>
            </p:nvSpPr>
            <p:spPr>
              <a:xfrm>
                <a:off x="620531" y="2495413"/>
                <a:ext cx="8028169" cy="1428853"/>
              </a:xfrm>
              <a:prstGeom prst="rect">
                <a:avLst/>
              </a:prstGeom>
              <a:noFill/>
            </p:spPr>
            <p:txBody>
              <a:bodyPr wrap="square">
                <a:spAutoFit/>
              </a:bodyPr>
              <a:lstStyle/>
              <a:p>
                <a:pPr>
                  <a:lnSpc>
                    <a:spcPct val="150000"/>
                  </a:lnSpc>
                </a:pPr>
                <a:r>
                  <a:rPr lang="en-US" sz="2000"/>
                  <a:t>Các bước thực hiện tương tự với giải mã ký tự khóa K</a:t>
                </a:r>
                <a:r>
                  <a:rPr lang="en-US" sz="2000" baseline="-25000"/>
                  <a:t>1</a:t>
                </a:r>
                <a:r>
                  <a:rPr lang="en-US" sz="2000"/>
                  <a:t>, do là độ dài nhóm K</a:t>
                </a:r>
                <a:r>
                  <a:rPr lang="en-US" sz="2000" baseline="-25000"/>
                  <a:t>2</a:t>
                </a:r>
                <a:r>
                  <a:rPr lang="en-US" sz="2000"/>
                  <a:t> bằng với K</a:t>
                </a:r>
                <a:r>
                  <a:rPr lang="en-US" sz="2000" baseline="-25000"/>
                  <a:t>1</a:t>
                </a:r>
                <a:r>
                  <a:rPr lang="en-US" sz="2000"/>
                  <a:t> </a:t>
                </a:r>
                <a14:m>
                  <m:oMath xmlns:m="http://schemas.openxmlformats.org/officeDocument/2006/math">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𝑁</m:t>
                        </m:r>
                      </m:e>
                      <m:sub>
                        <m:r>
                          <a:rPr lang="en-US" sz="2000" i="1">
                            <a:latin typeface="Cambria Math" panose="02040503050406030204" pitchFamily="18" charset="0"/>
                          </a:rPr>
                          <m:t>2</m:t>
                        </m:r>
                      </m:sub>
                    </m:sSub>
                    <m:r>
                      <a:rPr lang="en-US" sz="2000" i="1">
                        <a:latin typeface="Cambria Math" panose="02040503050406030204" pitchFamily="18" charset="0"/>
                      </a:rPr>
                      <m:t>=46)</m:t>
                    </m:r>
                  </m:oMath>
                </a14:m>
                <a:r>
                  <a:rPr lang="en-US" sz="2000"/>
                  <a:t> vì thế ta sử dụng lại Bảng E</a:t>
                </a:r>
                <a:r>
                  <a:rPr lang="en-US" sz="2000" baseline="-25000"/>
                  <a:t>i</a:t>
                </a:r>
                <a:r>
                  <a:rPr lang="en-US" sz="2000"/>
                  <a:t> đã tính trước đó. Bước tiếp theo là thực hiện phép giải mã dịch trái với K</a:t>
                </a:r>
                <a:r>
                  <a:rPr lang="en-US" sz="2000" baseline="-25000"/>
                  <a:t>2</a:t>
                </a:r>
                <a:r>
                  <a:rPr lang="en-US" sz="2000"/>
                  <a:t> và tính các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𝑂</m:t>
                        </m:r>
                      </m:e>
                      <m:sub>
                        <m:r>
                          <a:rPr lang="en-US" sz="2000" i="1">
                            <a:latin typeface="Cambria Math" panose="02040503050406030204" pitchFamily="18" charset="0"/>
                          </a:rPr>
                          <m:t>𝑖</m:t>
                        </m:r>
                      </m:sub>
                    </m:sSub>
                  </m:oMath>
                </a14:m>
                <a:endParaRPr lang="en-US" sz="2000"/>
              </a:p>
            </p:txBody>
          </p:sp>
        </mc:Choice>
        <mc:Fallback xmlns="">
          <p:sp>
            <p:nvSpPr>
              <p:cNvPr id="16" name="TextBox 15">
                <a:extLst>
                  <a:ext uri="{FF2B5EF4-FFF2-40B4-BE49-F238E27FC236}">
                    <a16:creationId xmlns:a16="http://schemas.microsoft.com/office/drawing/2014/main" id="{4488DC83-4147-1AC5-35C0-60EC922E44CC}"/>
                  </a:ext>
                </a:extLst>
              </p:cNvPr>
              <p:cNvSpPr txBox="1">
                <a:spLocks noRot="1" noChangeAspect="1" noMove="1" noResize="1" noEditPoints="1" noAdjustHandles="1" noChangeArrowheads="1" noChangeShapeType="1" noTextEdit="1"/>
              </p:cNvSpPr>
              <p:nvPr/>
            </p:nvSpPr>
            <p:spPr>
              <a:xfrm>
                <a:off x="620531" y="2495413"/>
                <a:ext cx="8028169" cy="1428853"/>
              </a:xfrm>
              <a:prstGeom prst="rect">
                <a:avLst/>
              </a:prstGeom>
              <a:blipFill>
                <a:blip r:embed="rId6"/>
                <a:stretch>
                  <a:fillRect l="-835" b="-6383"/>
                </a:stretch>
              </a:blipFill>
            </p:spPr>
            <p:txBody>
              <a:bodyPr/>
              <a:lstStyle/>
              <a:p>
                <a:r>
                  <a:rPr lang="en-US">
                    <a:noFill/>
                  </a:rPr>
                  <a:t> </a:t>
                </a:r>
              </a:p>
            </p:txBody>
          </p:sp>
        </mc:Fallback>
      </mc:AlternateContent>
    </p:spTree>
    <p:extLst>
      <p:ext uri="{BB962C8B-B14F-4D97-AF65-F5344CB8AC3E}">
        <p14:creationId xmlns:p14="http://schemas.microsoft.com/office/powerpoint/2010/main" val="14212510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53D63-B73A-4413-1306-392E976EDFDA}"/>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2E0CA11A-D379-4751-5651-1B82442CFD2E}"/>
              </a:ext>
            </a:extLst>
          </p:cNvPr>
          <p:cNvSpPr txBox="1"/>
          <p:nvPr/>
        </p:nvSpPr>
        <p:spPr>
          <a:xfrm>
            <a:off x="219075" y="104775"/>
            <a:ext cx="11356818" cy="609782"/>
          </a:xfrm>
          <a:prstGeom prst="rect">
            <a:avLst/>
          </a:prstGeom>
          <a:noFill/>
        </p:spPr>
        <p:txBody>
          <a:bodyPr wrap="square">
            <a:spAutoFit/>
          </a:bodyPr>
          <a:lstStyle/>
          <a:p>
            <a:pPr algn="just">
              <a:lnSpc>
                <a:spcPct val="150000"/>
              </a:lnSpc>
            </a:pPr>
            <a:r>
              <a:rPr lang="en-US" sz="2500" b="1"/>
              <a:t>Giả mã K</a:t>
            </a:r>
            <a:r>
              <a:rPr lang="en-US" sz="2500" b="1" baseline="-25000"/>
              <a:t>2</a:t>
            </a:r>
            <a:endParaRPr lang="en-US" sz="2500" b="1" kern="100">
              <a:solidFill>
                <a:srgbClr val="00B0F0"/>
              </a:solidFill>
              <a:effectLst/>
              <a:ea typeface="Aptos" panose="020B0004020202020204" pitchFamily="34" charset="0"/>
              <a:cs typeface="Times New Roman" panose="02020603050405020304" pitchFamily="18" charset="0"/>
            </a:endParaRPr>
          </a:p>
        </p:txBody>
      </p:sp>
      <p:graphicFrame>
        <p:nvGraphicFramePr>
          <p:cNvPr id="15" name="Content Placeholder 14">
            <a:extLst>
              <a:ext uri="{FF2B5EF4-FFF2-40B4-BE49-F238E27FC236}">
                <a16:creationId xmlns:a16="http://schemas.microsoft.com/office/drawing/2014/main" id="{5DBCBF2F-DE00-DC38-5DAB-07B09E161692}"/>
              </a:ext>
            </a:extLst>
          </p:cNvPr>
          <p:cNvGraphicFramePr>
            <a:graphicFrameLocks noGrp="1"/>
          </p:cNvGraphicFramePr>
          <p:nvPr>
            <p:ph idx="1"/>
          </p:nvPr>
        </p:nvGraphicFramePr>
        <p:xfrm>
          <a:off x="9239250" y="55428"/>
          <a:ext cx="2818110" cy="6617419"/>
        </p:xfrm>
        <a:graphic>
          <a:graphicData uri="http://schemas.openxmlformats.org/drawingml/2006/table">
            <a:tbl>
              <a:tblPr firstRow="1" firstCol="1" bandRow="1">
                <a:tableStyleId>{5940675A-B579-460E-94D1-54222C63F5DA}</a:tableStyleId>
              </a:tblPr>
              <a:tblGrid>
                <a:gridCol w="704527">
                  <a:extLst>
                    <a:ext uri="{9D8B030D-6E8A-4147-A177-3AD203B41FA5}">
                      <a16:colId xmlns:a16="http://schemas.microsoft.com/office/drawing/2014/main" val="3705062519"/>
                    </a:ext>
                  </a:extLst>
                </a:gridCol>
                <a:gridCol w="1291634">
                  <a:extLst>
                    <a:ext uri="{9D8B030D-6E8A-4147-A177-3AD203B41FA5}">
                      <a16:colId xmlns:a16="http://schemas.microsoft.com/office/drawing/2014/main" val="2716038338"/>
                    </a:ext>
                  </a:extLst>
                </a:gridCol>
                <a:gridCol w="821949">
                  <a:extLst>
                    <a:ext uri="{9D8B030D-6E8A-4147-A177-3AD203B41FA5}">
                      <a16:colId xmlns:a16="http://schemas.microsoft.com/office/drawing/2014/main" val="2053861919"/>
                    </a:ext>
                  </a:extLst>
                </a:gridCol>
              </a:tblGrid>
              <a:tr h="246197">
                <a:tc>
                  <a:txBody>
                    <a:bodyPr/>
                    <a:lstStyle/>
                    <a:p>
                      <a:pPr marL="0" marR="0" algn="ctr">
                        <a:lnSpc>
                          <a:spcPct val="100000"/>
                        </a:lnSpc>
                        <a:spcAft>
                          <a:spcPts val="800"/>
                        </a:spcAft>
                        <a:buNone/>
                      </a:pPr>
                      <a:r>
                        <a:rPr lang="en-US" sz="1200" kern="0">
                          <a:solidFill>
                            <a:schemeClr val="bg1"/>
                          </a:solidFill>
                          <a:effectLst/>
                        </a:rPr>
                        <a:t>Ký tự</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tc>
                  <a:txBody>
                    <a:bodyPr/>
                    <a:lstStyle/>
                    <a:p>
                      <a:pPr marL="0" marR="0" algn="ctr">
                        <a:lnSpc>
                          <a:spcPct val="100000"/>
                        </a:lnSpc>
                        <a:spcAft>
                          <a:spcPts val="800"/>
                        </a:spcAft>
                        <a:buNone/>
                      </a:pPr>
                      <a:r>
                        <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a:t>
                      </a:r>
                      <a:r>
                        <a:rPr lang="en-US" sz="1200" kern="100" baseline="-250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tc>
                  <a:txBody>
                    <a:bodyPr/>
                    <a:lstStyle/>
                    <a:p>
                      <a:pPr marL="0" marR="0" algn="ctr">
                        <a:lnSpc>
                          <a:spcPct val="100000"/>
                        </a:lnSpc>
                        <a:spcAft>
                          <a:spcPts val="800"/>
                        </a:spcAft>
                        <a:buNone/>
                      </a:pPr>
                      <a:r>
                        <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a:t>
                      </a:r>
                      <a:r>
                        <a:rPr lang="en-US" sz="1200" kern="100" baseline="-250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extLst>
                  <a:ext uri="{0D108BD9-81ED-4DB2-BD59-A6C34878D82A}">
                    <a16:rowId xmlns:a16="http://schemas.microsoft.com/office/drawing/2014/main" val="2273717808"/>
                  </a:ext>
                </a:extLst>
              </a:tr>
              <a:tr h="226304">
                <a:tc>
                  <a:txBody>
                    <a:bodyPr/>
                    <a:lstStyle/>
                    <a:p>
                      <a:pPr marL="0" marR="0" algn="ctr">
                        <a:lnSpc>
                          <a:spcPct val="15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0.08167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3.75682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51738712"/>
                  </a:ext>
                </a:extLst>
              </a:tr>
              <a:tr h="226304">
                <a:tc>
                  <a:txBody>
                    <a:bodyPr/>
                    <a:lstStyle/>
                    <a:p>
                      <a:pPr marL="0" marR="0" algn="ctr">
                        <a:lnSpc>
                          <a:spcPct val="15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0.01492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0.68632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528291463"/>
                  </a:ext>
                </a:extLst>
              </a:tr>
              <a:tr h="226304">
                <a:tc>
                  <a:txBody>
                    <a:bodyPr/>
                    <a:lstStyle/>
                    <a:p>
                      <a:pPr marL="0" marR="0" algn="ctr">
                        <a:lnSpc>
                          <a:spcPct val="15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1.27972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157828896"/>
                  </a:ext>
                </a:extLst>
              </a:tr>
              <a:tr h="226304">
                <a:tc>
                  <a:txBody>
                    <a:bodyPr/>
                    <a:lstStyle/>
                    <a:p>
                      <a:pPr marL="0" marR="0" algn="ctr">
                        <a:lnSpc>
                          <a:spcPct val="15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0.04253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1.95638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902391"/>
                  </a:ext>
                </a:extLst>
              </a:tr>
              <a:tr h="226304">
                <a:tc>
                  <a:txBody>
                    <a:bodyPr/>
                    <a:lstStyle/>
                    <a:p>
                      <a:pPr marL="0" marR="0" algn="ctr">
                        <a:lnSpc>
                          <a:spcPct val="15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0.12702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5.84292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860118349"/>
                  </a:ext>
                </a:extLst>
              </a:tr>
              <a:tr h="226304">
                <a:tc>
                  <a:txBody>
                    <a:bodyPr/>
                    <a:lstStyle/>
                    <a:p>
                      <a:pPr marL="0" marR="0" algn="ctr">
                        <a:lnSpc>
                          <a:spcPct val="15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0.02228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1.02488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139119834"/>
                  </a:ext>
                </a:extLst>
              </a:tr>
              <a:tr h="226304">
                <a:tc>
                  <a:txBody>
                    <a:bodyPr/>
                    <a:lstStyle/>
                    <a:p>
                      <a:pPr marL="0" marR="0" algn="ctr">
                        <a:lnSpc>
                          <a:spcPct val="15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0.9269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93505350"/>
                  </a:ext>
                </a:extLst>
              </a:tr>
              <a:tr h="226304">
                <a:tc>
                  <a:txBody>
                    <a:bodyPr/>
                    <a:lstStyle/>
                    <a:p>
                      <a:pPr marL="0" marR="0" algn="ctr">
                        <a:lnSpc>
                          <a:spcPct val="15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0.06094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2.80324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580187908"/>
                  </a:ext>
                </a:extLst>
              </a:tr>
              <a:tr h="226304">
                <a:tc>
                  <a:txBody>
                    <a:bodyPr/>
                    <a:lstStyle/>
                    <a:p>
                      <a:pPr marL="0" marR="0" algn="ctr">
                        <a:lnSpc>
                          <a:spcPct val="15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0.06966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3.20436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639935506"/>
                  </a:ext>
                </a:extLst>
              </a:tr>
              <a:tr h="226304">
                <a:tc>
                  <a:txBody>
                    <a:bodyPr/>
                    <a:lstStyle/>
                    <a:p>
                      <a:pPr marL="0" marR="0" algn="ctr">
                        <a:lnSpc>
                          <a:spcPct val="15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0.07038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19437713"/>
                  </a:ext>
                </a:extLst>
              </a:tr>
              <a:tr h="226304">
                <a:tc>
                  <a:txBody>
                    <a:bodyPr/>
                    <a:lstStyle/>
                    <a:p>
                      <a:pPr marL="0" marR="0" algn="ctr">
                        <a:lnSpc>
                          <a:spcPct val="15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0.00772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0.35512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6173072"/>
                  </a:ext>
                </a:extLst>
              </a:tr>
              <a:tr h="226304">
                <a:tc>
                  <a:txBody>
                    <a:bodyPr/>
                    <a:lstStyle/>
                    <a:p>
                      <a:pPr marL="0" marR="0" algn="ctr">
                        <a:lnSpc>
                          <a:spcPct val="15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0.04025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1.8515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180079724"/>
                  </a:ext>
                </a:extLst>
              </a:tr>
              <a:tr h="226304">
                <a:tc>
                  <a:txBody>
                    <a:bodyPr/>
                    <a:lstStyle/>
                    <a:p>
                      <a:pPr marL="0" marR="0" algn="ctr">
                        <a:lnSpc>
                          <a:spcPct val="15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0.02406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1.10676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48808680"/>
                  </a:ext>
                </a:extLst>
              </a:tr>
              <a:tr h="226304">
                <a:tc>
                  <a:txBody>
                    <a:bodyPr/>
                    <a:lstStyle/>
                    <a:p>
                      <a:pPr marL="0" marR="0" algn="ctr">
                        <a:lnSpc>
                          <a:spcPct val="15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0.06749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3.10454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11398717"/>
                  </a:ext>
                </a:extLst>
              </a:tr>
              <a:tr h="226304">
                <a:tc>
                  <a:txBody>
                    <a:bodyPr/>
                    <a:lstStyle/>
                    <a:p>
                      <a:pPr marL="0" marR="0" algn="ctr">
                        <a:lnSpc>
                          <a:spcPct val="15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0.07507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3.45322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878432031"/>
                  </a:ext>
                </a:extLst>
              </a:tr>
              <a:tr h="226304">
                <a:tc>
                  <a:txBody>
                    <a:bodyPr/>
                    <a:lstStyle/>
                    <a:p>
                      <a:pPr marL="0" marR="0" algn="ctr">
                        <a:lnSpc>
                          <a:spcPct val="15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0.01929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0.88734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111192"/>
                  </a:ext>
                </a:extLst>
              </a:tr>
              <a:tr h="226304">
                <a:tc>
                  <a:txBody>
                    <a:bodyPr/>
                    <a:lstStyle/>
                    <a:p>
                      <a:pPr marL="0" marR="0" algn="ctr">
                        <a:lnSpc>
                          <a:spcPct val="15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0.00095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0.0437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73563382"/>
                  </a:ext>
                </a:extLst>
              </a:tr>
              <a:tr h="226304">
                <a:tc>
                  <a:txBody>
                    <a:bodyPr/>
                    <a:lstStyle/>
                    <a:p>
                      <a:pPr marL="0" marR="0" algn="ctr">
                        <a:lnSpc>
                          <a:spcPct val="15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0.05987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2.75402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27019612"/>
                  </a:ext>
                </a:extLst>
              </a:tr>
              <a:tr h="226304">
                <a:tc>
                  <a:txBody>
                    <a:bodyPr/>
                    <a:lstStyle/>
                    <a:p>
                      <a:pPr marL="0" marR="0" algn="ctr">
                        <a:lnSpc>
                          <a:spcPct val="15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0.06327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2.91042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071481530"/>
                  </a:ext>
                </a:extLst>
              </a:tr>
              <a:tr h="226304">
                <a:tc>
                  <a:txBody>
                    <a:bodyPr/>
                    <a:lstStyle/>
                    <a:p>
                      <a:pPr marL="0" marR="0" algn="ctr">
                        <a:lnSpc>
                          <a:spcPct val="15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0.09056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4.16576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87245901"/>
                  </a:ext>
                </a:extLst>
              </a:tr>
              <a:tr h="226304">
                <a:tc>
                  <a:txBody>
                    <a:bodyPr/>
                    <a:lstStyle/>
                    <a:p>
                      <a:pPr marL="0" marR="0" algn="ctr">
                        <a:lnSpc>
                          <a:spcPct val="15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0.02758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1.26868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01611784"/>
                  </a:ext>
                </a:extLst>
              </a:tr>
              <a:tr h="226304">
                <a:tc>
                  <a:txBody>
                    <a:bodyPr/>
                    <a:lstStyle/>
                    <a:p>
                      <a:pPr marL="0" marR="0" algn="ctr">
                        <a:lnSpc>
                          <a:spcPct val="15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0.00978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0.44988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375969827"/>
                  </a:ext>
                </a:extLst>
              </a:tr>
              <a:tr h="226304">
                <a:tc>
                  <a:txBody>
                    <a:bodyPr/>
                    <a:lstStyle/>
                    <a:p>
                      <a:pPr marL="0" marR="0" algn="ctr">
                        <a:lnSpc>
                          <a:spcPct val="15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1.0856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06089555"/>
                  </a:ext>
                </a:extLst>
              </a:tr>
              <a:tr h="226304">
                <a:tc>
                  <a:txBody>
                    <a:bodyPr/>
                    <a:lstStyle/>
                    <a:p>
                      <a:pPr marL="0" marR="0" algn="ctr">
                        <a:lnSpc>
                          <a:spcPct val="15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794108946"/>
                  </a:ext>
                </a:extLst>
              </a:tr>
              <a:tr h="226304">
                <a:tc>
                  <a:txBody>
                    <a:bodyPr/>
                    <a:lstStyle/>
                    <a:p>
                      <a:pPr marL="0" marR="0" algn="ctr">
                        <a:lnSpc>
                          <a:spcPct val="15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0.90804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015600146"/>
                  </a:ext>
                </a:extLst>
              </a:tr>
              <a:tr h="0">
                <a:tc>
                  <a:txBody>
                    <a:bodyPr/>
                    <a:lstStyle/>
                    <a:p>
                      <a:pPr marL="0" marR="0" algn="ctr">
                        <a:lnSpc>
                          <a:spcPct val="15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0.03404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99105101"/>
                  </a:ext>
                </a:extLst>
              </a:tr>
            </a:tbl>
          </a:graphicData>
        </a:graphic>
      </p:graphicFrame>
      <p:sp>
        <p:nvSpPr>
          <p:cNvPr id="6" name="TextBox 5">
            <a:extLst>
              <a:ext uri="{FF2B5EF4-FFF2-40B4-BE49-F238E27FC236}">
                <a16:creationId xmlns:a16="http://schemas.microsoft.com/office/drawing/2014/main" id="{A79A0692-0C93-3E0B-E285-F296E35B0459}"/>
              </a:ext>
            </a:extLst>
          </p:cNvPr>
          <p:cNvSpPr txBox="1"/>
          <p:nvPr/>
        </p:nvSpPr>
        <p:spPr>
          <a:xfrm>
            <a:off x="2916317" y="104775"/>
            <a:ext cx="6097508" cy="464871"/>
          </a:xfrm>
          <a:prstGeom prst="rect">
            <a:avLst/>
          </a:prstGeom>
          <a:noFill/>
        </p:spPr>
        <p:txBody>
          <a:bodyPr wrap="square">
            <a:spAutoFit/>
          </a:bodyPr>
          <a:lstStyle/>
          <a:p>
            <a:pPr>
              <a:lnSpc>
                <a:spcPct val="150000"/>
              </a:lnSpc>
            </a:pPr>
            <a:r>
              <a:rPr lang="en-US"/>
              <a:t>K</a:t>
            </a:r>
            <a:r>
              <a:rPr lang="en-US" baseline="-25000"/>
              <a:t>2</a:t>
            </a:r>
            <a:r>
              <a:rPr lang="en-US"/>
              <a:t> = “erngeuNeoatuwernrauadeyNeoakorernsgdevgneaedro”</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F8D847B-4918-287F-F1C4-106E2885AEEB}"/>
                  </a:ext>
                </a:extLst>
              </p:cNvPr>
              <p:cNvSpPr txBox="1"/>
              <p:nvPr/>
            </p:nvSpPr>
            <p:spPr>
              <a:xfrm>
                <a:off x="0" y="905464"/>
                <a:ext cx="2705100" cy="870751"/>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𝑥</m:t>
                          </m:r>
                        </m:e>
                        <m:sup>
                          <m:r>
                            <a:rPr lang="en-US" i="0">
                              <a:latin typeface="Cambria Math" panose="02040503050406030204" pitchFamily="18" charset="0"/>
                            </a:rPr>
                            <m:t>2</m:t>
                          </m:r>
                        </m:sup>
                      </m:sSup>
                      <m:r>
                        <a:rPr lang="en-US" i="0">
                          <a:latin typeface="Cambria Math" panose="02040503050406030204" pitchFamily="18" charset="0"/>
                        </a:rPr>
                        <m:t>=</m:t>
                      </m:r>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𝑖</m:t>
                          </m:r>
                          <m:r>
                            <a:rPr lang="en-US" i="0">
                              <a:latin typeface="Cambria Math" panose="02040503050406030204" pitchFamily="18" charset="0"/>
                            </a:rPr>
                            <m:t>=</m:t>
                          </m:r>
                          <m:r>
                            <a:rPr lang="en-US" b="0" i="0" smtClean="0">
                              <a:latin typeface="Cambria Math" panose="02040503050406030204" pitchFamily="18" charset="0"/>
                            </a:rPr>
                            <m:t>0</m:t>
                          </m:r>
                        </m:sub>
                        <m:sup>
                          <m:r>
                            <a:rPr lang="en-US" i="1">
                              <a:latin typeface="Cambria Math" panose="02040503050406030204" pitchFamily="18" charset="0"/>
                            </a:rPr>
                            <m:t>𝑛</m:t>
                          </m:r>
                          <m:r>
                            <a:rPr lang="en-US" b="0" i="1" smtClean="0">
                              <a:latin typeface="Cambria Math" panose="02040503050406030204" pitchFamily="18" charset="0"/>
                            </a:rPr>
                            <m:t>−1</m:t>
                          </m:r>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𝑖</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𝑖</m:t>
                                          </m:r>
                                        </m:sub>
                                      </m:sSub>
                                    </m:e>
                                  </m:d>
                                </m:e>
                                <m:sup>
                                  <m:r>
                                    <a:rPr lang="en-US" i="0">
                                      <a:latin typeface="Cambria Math" panose="02040503050406030204" pitchFamily="18" charset="0"/>
                                    </a:rPr>
                                    <m:t>2</m:t>
                                  </m:r>
                                </m:sup>
                              </m:sSup>
                            </m:num>
                            <m:den>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𝑖</m:t>
                                  </m:r>
                                </m:sub>
                              </m:sSub>
                            </m:den>
                          </m:f>
                        </m:e>
                      </m:nary>
                    </m:oMath>
                  </m:oMathPara>
                </a14:m>
                <a:endParaRPr lang="en-US"/>
              </a:p>
            </p:txBody>
          </p:sp>
        </mc:Choice>
        <mc:Fallback xmlns="">
          <p:sp>
            <p:nvSpPr>
              <p:cNvPr id="7" name="TextBox 6">
                <a:extLst>
                  <a:ext uri="{FF2B5EF4-FFF2-40B4-BE49-F238E27FC236}">
                    <a16:creationId xmlns:a16="http://schemas.microsoft.com/office/drawing/2014/main" id="{EF8D847B-4918-287F-F1C4-106E2885AEEB}"/>
                  </a:ext>
                </a:extLst>
              </p:cNvPr>
              <p:cNvSpPr txBox="1">
                <a:spLocks noRot="1" noChangeAspect="1" noMove="1" noResize="1" noEditPoints="1" noAdjustHandles="1" noChangeArrowheads="1" noChangeShapeType="1" noTextEdit="1"/>
              </p:cNvSpPr>
              <p:nvPr/>
            </p:nvSpPr>
            <p:spPr>
              <a:xfrm>
                <a:off x="0" y="905464"/>
                <a:ext cx="2705100" cy="870751"/>
              </a:xfrm>
              <a:prstGeom prst="rect">
                <a:avLst/>
              </a:prstGeom>
              <a:blipFill>
                <a:blip r:embed="rId3"/>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9B13BDF9-6D70-912E-5942-04998010282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31626" y="763904"/>
            <a:ext cx="6331715" cy="5886450"/>
          </a:xfrm>
          <a:prstGeom prst="rect">
            <a:avLst/>
          </a:prstGeom>
          <a:noFill/>
          <a:ln w="19050">
            <a:solidFill>
              <a:schemeClr val="bg1"/>
            </a:solidFill>
          </a:ln>
        </p:spPr>
      </p:pic>
    </p:spTree>
    <p:extLst>
      <p:ext uri="{BB962C8B-B14F-4D97-AF65-F5344CB8AC3E}">
        <p14:creationId xmlns:p14="http://schemas.microsoft.com/office/powerpoint/2010/main" val="8026101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8C7FC-22B7-D6A0-872F-DE71A71A2099}"/>
            </a:ext>
          </a:extLst>
        </p:cNvPr>
        <p:cNvGrpSpPr/>
        <p:nvPr/>
      </p:nvGrpSpPr>
      <p:grpSpPr>
        <a:xfrm>
          <a:off x="0" y="0"/>
          <a:ext cx="0" cy="0"/>
          <a:chOff x="0" y="0"/>
          <a:chExt cx="0" cy="0"/>
        </a:xfrm>
      </p:grpSpPr>
      <p:graphicFrame>
        <p:nvGraphicFramePr>
          <p:cNvPr id="15" name="Content Placeholder 14">
            <a:extLst>
              <a:ext uri="{FF2B5EF4-FFF2-40B4-BE49-F238E27FC236}">
                <a16:creationId xmlns:a16="http://schemas.microsoft.com/office/drawing/2014/main" id="{F17A644C-A168-DDC1-7ACB-7C594D9042B9}"/>
              </a:ext>
            </a:extLst>
          </p:cNvPr>
          <p:cNvGraphicFramePr>
            <a:graphicFrameLocks noGrp="1"/>
          </p:cNvGraphicFramePr>
          <p:nvPr>
            <p:ph idx="1"/>
          </p:nvPr>
        </p:nvGraphicFramePr>
        <p:xfrm>
          <a:off x="9239250" y="55428"/>
          <a:ext cx="2818110" cy="6617419"/>
        </p:xfrm>
        <a:graphic>
          <a:graphicData uri="http://schemas.openxmlformats.org/drawingml/2006/table">
            <a:tbl>
              <a:tblPr firstRow="1" firstCol="1" bandRow="1">
                <a:tableStyleId>{5940675A-B579-460E-94D1-54222C63F5DA}</a:tableStyleId>
              </a:tblPr>
              <a:tblGrid>
                <a:gridCol w="704527">
                  <a:extLst>
                    <a:ext uri="{9D8B030D-6E8A-4147-A177-3AD203B41FA5}">
                      <a16:colId xmlns:a16="http://schemas.microsoft.com/office/drawing/2014/main" val="3705062519"/>
                    </a:ext>
                  </a:extLst>
                </a:gridCol>
                <a:gridCol w="1291634">
                  <a:extLst>
                    <a:ext uri="{9D8B030D-6E8A-4147-A177-3AD203B41FA5}">
                      <a16:colId xmlns:a16="http://schemas.microsoft.com/office/drawing/2014/main" val="2716038338"/>
                    </a:ext>
                  </a:extLst>
                </a:gridCol>
                <a:gridCol w="821949">
                  <a:extLst>
                    <a:ext uri="{9D8B030D-6E8A-4147-A177-3AD203B41FA5}">
                      <a16:colId xmlns:a16="http://schemas.microsoft.com/office/drawing/2014/main" val="2053861919"/>
                    </a:ext>
                  </a:extLst>
                </a:gridCol>
              </a:tblGrid>
              <a:tr h="246197">
                <a:tc>
                  <a:txBody>
                    <a:bodyPr/>
                    <a:lstStyle/>
                    <a:p>
                      <a:pPr marL="0" marR="0" algn="ctr">
                        <a:lnSpc>
                          <a:spcPct val="100000"/>
                        </a:lnSpc>
                        <a:spcAft>
                          <a:spcPts val="800"/>
                        </a:spcAft>
                        <a:buNone/>
                      </a:pPr>
                      <a:r>
                        <a:rPr lang="en-US" sz="1200" kern="0">
                          <a:solidFill>
                            <a:schemeClr val="bg1"/>
                          </a:solidFill>
                          <a:effectLst/>
                        </a:rPr>
                        <a:t>Ký tự</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tc>
                  <a:txBody>
                    <a:bodyPr/>
                    <a:lstStyle/>
                    <a:p>
                      <a:pPr marL="0" marR="0" algn="ctr">
                        <a:lnSpc>
                          <a:spcPct val="100000"/>
                        </a:lnSpc>
                        <a:spcAft>
                          <a:spcPts val="800"/>
                        </a:spcAft>
                        <a:buNone/>
                      </a:pPr>
                      <a:r>
                        <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a:t>
                      </a:r>
                      <a:r>
                        <a:rPr lang="en-US" sz="1200" kern="100" baseline="-250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tc>
                  <a:txBody>
                    <a:bodyPr/>
                    <a:lstStyle/>
                    <a:p>
                      <a:pPr marL="0" marR="0" algn="ctr">
                        <a:lnSpc>
                          <a:spcPct val="100000"/>
                        </a:lnSpc>
                        <a:spcAft>
                          <a:spcPts val="800"/>
                        </a:spcAft>
                        <a:buNone/>
                      </a:pPr>
                      <a:r>
                        <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a:t>
                      </a:r>
                      <a:r>
                        <a:rPr lang="en-US" sz="1200" kern="100" baseline="-250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extLst>
                  <a:ext uri="{0D108BD9-81ED-4DB2-BD59-A6C34878D82A}">
                    <a16:rowId xmlns:a16="http://schemas.microsoft.com/office/drawing/2014/main" val="2273717808"/>
                  </a:ext>
                </a:extLst>
              </a:tr>
              <a:tr h="226304">
                <a:tc>
                  <a:txBody>
                    <a:bodyPr/>
                    <a:lstStyle/>
                    <a:p>
                      <a:pPr marL="0" marR="0" algn="ctr">
                        <a:lnSpc>
                          <a:spcPct val="15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0.08167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3.75682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51738712"/>
                  </a:ext>
                </a:extLst>
              </a:tr>
              <a:tr h="226304">
                <a:tc>
                  <a:txBody>
                    <a:bodyPr/>
                    <a:lstStyle/>
                    <a:p>
                      <a:pPr marL="0" marR="0" algn="ctr">
                        <a:lnSpc>
                          <a:spcPct val="15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0.01492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0.68632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528291463"/>
                  </a:ext>
                </a:extLst>
              </a:tr>
              <a:tr h="226304">
                <a:tc>
                  <a:txBody>
                    <a:bodyPr/>
                    <a:lstStyle/>
                    <a:p>
                      <a:pPr marL="0" marR="0" algn="ctr">
                        <a:lnSpc>
                          <a:spcPct val="15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1.27972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157828896"/>
                  </a:ext>
                </a:extLst>
              </a:tr>
              <a:tr h="226304">
                <a:tc>
                  <a:txBody>
                    <a:bodyPr/>
                    <a:lstStyle/>
                    <a:p>
                      <a:pPr marL="0" marR="0" algn="ctr">
                        <a:lnSpc>
                          <a:spcPct val="15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0.04253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1.95638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902391"/>
                  </a:ext>
                </a:extLst>
              </a:tr>
              <a:tr h="226304">
                <a:tc>
                  <a:txBody>
                    <a:bodyPr/>
                    <a:lstStyle/>
                    <a:p>
                      <a:pPr marL="0" marR="0" algn="ctr">
                        <a:lnSpc>
                          <a:spcPct val="15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0.12702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5.84292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860118349"/>
                  </a:ext>
                </a:extLst>
              </a:tr>
              <a:tr h="226304">
                <a:tc>
                  <a:txBody>
                    <a:bodyPr/>
                    <a:lstStyle/>
                    <a:p>
                      <a:pPr marL="0" marR="0" algn="ctr">
                        <a:lnSpc>
                          <a:spcPct val="15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0.02228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1.02488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139119834"/>
                  </a:ext>
                </a:extLst>
              </a:tr>
              <a:tr h="226304">
                <a:tc>
                  <a:txBody>
                    <a:bodyPr/>
                    <a:lstStyle/>
                    <a:p>
                      <a:pPr marL="0" marR="0" algn="ctr">
                        <a:lnSpc>
                          <a:spcPct val="15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0.9269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93505350"/>
                  </a:ext>
                </a:extLst>
              </a:tr>
              <a:tr h="226304">
                <a:tc>
                  <a:txBody>
                    <a:bodyPr/>
                    <a:lstStyle/>
                    <a:p>
                      <a:pPr marL="0" marR="0" algn="ctr">
                        <a:lnSpc>
                          <a:spcPct val="15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0.06094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2.80324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580187908"/>
                  </a:ext>
                </a:extLst>
              </a:tr>
              <a:tr h="226304">
                <a:tc>
                  <a:txBody>
                    <a:bodyPr/>
                    <a:lstStyle/>
                    <a:p>
                      <a:pPr marL="0" marR="0" algn="ctr">
                        <a:lnSpc>
                          <a:spcPct val="15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0.06966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3.20436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639935506"/>
                  </a:ext>
                </a:extLst>
              </a:tr>
              <a:tr h="226304">
                <a:tc>
                  <a:txBody>
                    <a:bodyPr/>
                    <a:lstStyle/>
                    <a:p>
                      <a:pPr marL="0" marR="0" algn="ctr">
                        <a:lnSpc>
                          <a:spcPct val="15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0.07038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19437713"/>
                  </a:ext>
                </a:extLst>
              </a:tr>
              <a:tr h="226304">
                <a:tc>
                  <a:txBody>
                    <a:bodyPr/>
                    <a:lstStyle/>
                    <a:p>
                      <a:pPr marL="0" marR="0" algn="ctr">
                        <a:lnSpc>
                          <a:spcPct val="15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0.00772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0.35512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6173072"/>
                  </a:ext>
                </a:extLst>
              </a:tr>
              <a:tr h="226304">
                <a:tc>
                  <a:txBody>
                    <a:bodyPr/>
                    <a:lstStyle/>
                    <a:p>
                      <a:pPr marL="0" marR="0" algn="ctr">
                        <a:lnSpc>
                          <a:spcPct val="15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0.04025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1.8515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180079724"/>
                  </a:ext>
                </a:extLst>
              </a:tr>
              <a:tr h="226304">
                <a:tc>
                  <a:txBody>
                    <a:bodyPr/>
                    <a:lstStyle/>
                    <a:p>
                      <a:pPr marL="0" marR="0" algn="ctr">
                        <a:lnSpc>
                          <a:spcPct val="15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0.02406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1.10676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48808680"/>
                  </a:ext>
                </a:extLst>
              </a:tr>
              <a:tr h="226304">
                <a:tc>
                  <a:txBody>
                    <a:bodyPr/>
                    <a:lstStyle/>
                    <a:p>
                      <a:pPr marL="0" marR="0" algn="ctr">
                        <a:lnSpc>
                          <a:spcPct val="15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0.06749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3.10454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11398717"/>
                  </a:ext>
                </a:extLst>
              </a:tr>
              <a:tr h="226304">
                <a:tc>
                  <a:txBody>
                    <a:bodyPr/>
                    <a:lstStyle/>
                    <a:p>
                      <a:pPr marL="0" marR="0" algn="ctr">
                        <a:lnSpc>
                          <a:spcPct val="15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0.07507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3.45322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878432031"/>
                  </a:ext>
                </a:extLst>
              </a:tr>
              <a:tr h="226304">
                <a:tc>
                  <a:txBody>
                    <a:bodyPr/>
                    <a:lstStyle/>
                    <a:p>
                      <a:pPr marL="0" marR="0" algn="ctr">
                        <a:lnSpc>
                          <a:spcPct val="15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0.01929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0.88734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111192"/>
                  </a:ext>
                </a:extLst>
              </a:tr>
              <a:tr h="226304">
                <a:tc>
                  <a:txBody>
                    <a:bodyPr/>
                    <a:lstStyle/>
                    <a:p>
                      <a:pPr marL="0" marR="0" algn="ctr">
                        <a:lnSpc>
                          <a:spcPct val="15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0.00095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0.0437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73563382"/>
                  </a:ext>
                </a:extLst>
              </a:tr>
              <a:tr h="226304">
                <a:tc>
                  <a:txBody>
                    <a:bodyPr/>
                    <a:lstStyle/>
                    <a:p>
                      <a:pPr marL="0" marR="0" algn="ctr">
                        <a:lnSpc>
                          <a:spcPct val="15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0.05987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2.75402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27019612"/>
                  </a:ext>
                </a:extLst>
              </a:tr>
              <a:tr h="226304">
                <a:tc>
                  <a:txBody>
                    <a:bodyPr/>
                    <a:lstStyle/>
                    <a:p>
                      <a:pPr marL="0" marR="0" algn="ctr">
                        <a:lnSpc>
                          <a:spcPct val="15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0.06327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2.91042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071481530"/>
                  </a:ext>
                </a:extLst>
              </a:tr>
              <a:tr h="226304">
                <a:tc>
                  <a:txBody>
                    <a:bodyPr/>
                    <a:lstStyle/>
                    <a:p>
                      <a:pPr marL="0" marR="0" algn="ctr">
                        <a:lnSpc>
                          <a:spcPct val="15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0.09056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4.16576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87245901"/>
                  </a:ext>
                </a:extLst>
              </a:tr>
              <a:tr h="226304">
                <a:tc>
                  <a:txBody>
                    <a:bodyPr/>
                    <a:lstStyle/>
                    <a:p>
                      <a:pPr marL="0" marR="0" algn="ctr">
                        <a:lnSpc>
                          <a:spcPct val="15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0.02758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1.26868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01611784"/>
                  </a:ext>
                </a:extLst>
              </a:tr>
              <a:tr h="226304">
                <a:tc>
                  <a:txBody>
                    <a:bodyPr/>
                    <a:lstStyle/>
                    <a:p>
                      <a:pPr marL="0" marR="0" algn="ctr">
                        <a:lnSpc>
                          <a:spcPct val="15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0.00978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0.44988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375969827"/>
                  </a:ext>
                </a:extLst>
              </a:tr>
              <a:tr h="226304">
                <a:tc>
                  <a:txBody>
                    <a:bodyPr/>
                    <a:lstStyle/>
                    <a:p>
                      <a:pPr marL="0" marR="0" algn="ctr">
                        <a:lnSpc>
                          <a:spcPct val="15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1.0856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06089555"/>
                  </a:ext>
                </a:extLst>
              </a:tr>
              <a:tr h="226304">
                <a:tc>
                  <a:txBody>
                    <a:bodyPr/>
                    <a:lstStyle/>
                    <a:p>
                      <a:pPr marL="0" marR="0" algn="ctr">
                        <a:lnSpc>
                          <a:spcPct val="15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794108946"/>
                  </a:ext>
                </a:extLst>
              </a:tr>
              <a:tr h="226304">
                <a:tc>
                  <a:txBody>
                    <a:bodyPr/>
                    <a:lstStyle/>
                    <a:p>
                      <a:pPr marL="0" marR="0" algn="ctr">
                        <a:lnSpc>
                          <a:spcPct val="15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0.90804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015600146"/>
                  </a:ext>
                </a:extLst>
              </a:tr>
              <a:tr h="0">
                <a:tc>
                  <a:txBody>
                    <a:bodyPr/>
                    <a:lstStyle/>
                    <a:p>
                      <a:pPr marL="0" marR="0" algn="ctr">
                        <a:lnSpc>
                          <a:spcPct val="15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0.03404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99105101"/>
                  </a:ext>
                </a:extLst>
              </a:tr>
            </a:tbl>
          </a:graphicData>
        </a:graphic>
      </p:graphicFrame>
      <p:sp>
        <p:nvSpPr>
          <p:cNvPr id="6" name="TextBox 5">
            <a:extLst>
              <a:ext uri="{FF2B5EF4-FFF2-40B4-BE49-F238E27FC236}">
                <a16:creationId xmlns:a16="http://schemas.microsoft.com/office/drawing/2014/main" id="{97FEA31E-2FEE-1F96-4501-BFDCD958CFB6}"/>
              </a:ext>
            </a:extLst>
          </p:cNvPr>
          <p:cNvSpPr txBox="1"/>
          <p:nvPr/>
        </p:nvSpPr>
        <p:spPr>
          <a:xfrm>
            <a:off x="2916317" y="104775"/>
            <a:ext cx="6097508" cy="464871"/>
          </a:xfrm>
          <a:prstGeom prst="rect">
            <a:avLst/>
          </a:prstGeom>
          <a:noFill/>
        </p:spPr>
        <p:txBody>
          <a:bodyPr wrap="square">
            <a:spAutoFit/>
          </a:bodyPr>
          <a:lstStyle/>
          <a:p>
            <a:pPr>
              <a:lnSpc>
                <a:spcPct val="150000"/>
              </a:lnSpc>
            </a:pPr>
            <a:r>
              <a:rPr lang="en-US"/>
              <a:t>K</a:t>
            </a:r>
            <a:r>
              <a:rPr lang="en-US" baseline="-25000"/>
              <a:t>2</a:t>
            </a:r>
            <a:r>
              <a:rPr lang="en-US"/>
              <a:t> = “erngeuNeoatuwernrauadeyNeoakorernsgdevgneaedro”</a:t>
            </a:r>
          </a:p>
        </p:txBody>
      </p:sp>
      <p:pic>
        <p:nvPicPr>
          <p:cNvPr id="4" name="Picture 3">
            <a:extLst>
              <a:ext uri="{FF2B5EF4-FFF2-40B4-BE49-F238E27FC236}">
                <a16:creationId xmlns:a16="http://schemas.microsoft.com/office/drawing/2014/main" id="{C5B9B8F0-064C-321C-9432-DBFB10FA588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31626" y="763904"/>
            <a:ext cx="6331715" cy="5886450"/>
          </a:xfrm>
          <a:prstGeom prst="rect">
            <a:avLst/>
          </a:prstGeom>
          <a:noFill/>
          <a:ln w="19050">
            <a:solidFill>
              <a:schemeClr val="bg1"/>
            </a:solidFill>
          </a:ln>
        </p:spPr>
      </p:pic>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7037CC87-43FF-9490-8F3D-7312EFDF98F3}"/>
                  </a:ext>
                </a:extLst>
              </p:cNvPr>
              <p:cNvGraphicFramePr>
                <a:graphicFrameLocks noGrp="1"/>
              </p:cNvGraphicFramePr>
              <p:nvPr>
                <p:extLst>
                  <p:ext uri="{D42A27DB-BD31-4B8C-83A1-F6EECF244321}">
                    <p14:modId xmlns:p14="http://schemas.microsoft.com/office/powerpoint/2010/main" val="1456154593"/>
                  </p:ext>
                </p:extLst>
              </p:nvPr>
            </p:nvGraphicFramePr>
            <p:xfrm>
              <a:off x="98207" y="104775"/>
              <a:ext cx="2457511" cy="6617431"/>
            </p:xfrm>
            <a:graphic>
              <a:graphicData uri="http://schemas.openxmlformats.org/drawingml/2006/table">
                <a:tbl>
                  <a:tblPr firstRow="1" firstCol="1" bandRow="1">
                    <a:tableStyleId>{5940675A-B579-460E-94D1-54222C63F5DA}</a:tableStyleId>
                  </a:tblPr>
                  <a:tblGrid>
                    <a:gridCol w="535400">
                      <a:extLst>
                        <a:ext uri="{9D8B030D-6E8A-4147-A177-3AD203B41FA5}">
                          <a16:colId xmlns:a16="http://schemas.microsoft.com/office/drawing/2014/main" val="2371433027"/>
                        </a:ext>
                      </a:extLst>
                    </a:gridCol>
                    <a:gridCol w="863852">
                      <a:extLst>
                        <a:ext uri="{9D8B030D-6E8A-4147-A177-3AD203B41FA5}">
                          <a16:colId xmlns:a16="http://schemas.microsoft.com/office/drawing/2014/main" val="1918336367"/>
                        </a:ext>
                      </a:extLst>
                    </a:gridCol>
                    <a:gridCol w="1058259">
                      <a:extLst>
                        <a:ext uri="{9D8B030D-6E8A-4147-A177-3AD203B41FA5}">
                          <a16:colId xmlns:a16="http://schemas.microsoft.com/office/drawing/2014/main" val="4170156621"/>
                        </a:ext>
                      </a:extLst>
                    </a:gridCol>
                  </a:tblGrid>
                  <a:tr h="317267">
                    <a:tc>
                      <a:txBody>
                        <a:bodyPr/>
                        <a:lstStyle/>
                        <a:p>
                          <a:pPr marL="0" marR="0" algn="ctr">
                            <a:lnSpc>
                              <a:spcPct val="100000"/>
                            </a:lnSpc>
                            <a:spcAft>
                              <a:spcPts val="800"/>
                            </a:spcAft>
                            <a:buNone/>
                          </a:pPr>
                          <a:r>
                            <a:rPr lang="en-US" sz="1200" kern="0">
                              <a:solidFill>
                                <a:schemeClr val="bg1"/>
                              </a:solidFill>
                              <a:effectLst/>
                            </a:rPr>
                            <a:t>Shift</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tc>
                      <a:txBody>
                        <a:bodyPr/>
                        <a:lstStyle/>
                        <a:p>
                          <a:pPr marL="0" marR="0" algn="ctr">
                            <a:lnSpc>
                              <a:spcPct val="100000"/>
                            </a:lnSpc>
                            <a:spcAft>
                              <a:spcPts val="800"/>
                            </a:spcAft>
                            <a:buNone/>
                          </a:pPr>
                          <a:r>
                            <a:rPr lang="en-US" sz="1200" kern="0">
                              <a:solidFill>
                                <a:schemeClr val="bg1"/>
                              </a:solidFill>
                              <a:effectLst/>
                            </a:rPr>
                            <a:t>Ký tự</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tc>
                      <a:txBody>
                        <a:bodyPr/>
                        <a:lstStyle/>
                        <a:p>
                          <a:pPr marL="0" marR="0" algn="ctr">
                            <a:lnSpc>
                              <a:spcPct val="100000"/>
                            </a:lnSpc>
                            <a:spcAft>
                              <a:spcPts val="0"/>
                            </a:spcAft>
                            <a:buNone/>
                          </a:pPr>
                          <a14:m>
                            <m:oMathPara xmlns:m="http://schemas.openxmlformats.org/officeDocument/2006/math">
                              <m:oMathParaPr>
                                <m:jc m:val="centerGroup"/>
                              </m:oMathParaPr>
                              <m:oMath xmlns:m="http://schemas.openxmlformats.org/officeDocument/2006/math">
                                <m:sSup>
                                  <m:sSupPr>
                                    <m:ctrlPr>
                                      <a:rPr lang="en-US" sz="1200" i="1" kern="100" smtClean="0">
                                        <a:solidFill>
                                          <a:schemeClr val="bg1"/>
                                        </a:solidFill>
                                        <a:effectLst/>
                                        <a:latin typeface="Cambria Math" panose="02040503050406030204" pitchFamily="18" charset="0"/>
                                      </a:rPr>
                                    </m:ctrlPr>
                                  </m:sSupPr>
                                  <m:e>
                                    <m:r>
                                      <a:rPr lang="en-US" sz="1200" kern="100">
                                        <a:solidFill>
                                          <a:schemeClr val="bg1"/>
                                        </a:solidFill>
                                        <a:effectLst/>
                                        <a:latin typeface="Cambria Math" panose="02040503050406030204" pitchFamily="18" charset="0"/>
                                      </a:rPr>
                                      <m:t>𝑥</m:t>
                                    </m:r>
                                  </m:e>
                                  <m:sup>
                                    <m:r>
                                      <a:rPr lang="en-US" sz="1200" kern="100">
                                        <a:solidFill>
                                          <a:schemeClr val="bg1"/>
                                        </a:solidFill>
                                        <a:effectLst/>
                                        <a:latin typeface="Cambria Math" panose="02040503050406030204" pitchFamily="18" charset="0"/>
                                      </a:rPr>
                                      <m:t>2</m:t>
                                    </m:r>
                                  </m:sup>
                                </m:sSup>
                              </m:oMath>
                            </m:oMathPara>
                          </a14:m>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extLst>
                      <a:ext uri="{0D108BD9-81ED-4DB2-BD59-A6C34878D82A}">
                        <a16:rowId xmlns:a16="http://schemas.microsoft.com/office/drawing/2014/main" val="3196020702"/>
                      </a:ext>
                    </a:extLst>
                  </a:tr>
                  <a:tr h="242314">
                    <a:tc>
                      <a:txBody>
                        <a:bodyPr/>
                        <a:lstStyle/>
                        <a:p>
                          <a:pPr marL="0" marR="0" algn="ctr">
                            <a:lnSpc>
                              <a:spcPct val="100000"/>
                            </a:lnSpc>
                            <a:spcAft>
                              <a:spcPts val="800"/>
                            </a:spcAft>
                            <a:buNone/>
                          </a:pPr>
                          <a:r>
                            <a:rPr lang="en-US" sz="1200" kern="0">
                              <a:solidFill>
                                <a:schemeClr val="bg1"/>
                              </a:solidFill>
                              <a:effectLst/>
                            </a:rPr>
                            <a:t>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36.11885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270130923"/>
                      </a:ext>
                    </a:extLst>
                  </a:tr>
                  <a:tr h="242314">
                    <a:tc>
                      <a:txBody>
                        <a:bodyPr/>
                        <a:lstStyle/>
                        <a:p>
                          <a:pPr marL="0" marR="0" algn="ctr">
                            <a:lnSpc>
                              <a:spcPct val="100000"/>
                            </a:lnSpc>
                            <a:spcAft>
                              <a:spcPts val="800"/>
                            </a:spcAft>
                            <a:buNone/>
                          </a:pPr>
                          <a:r>
                            <a:rPr lang="en-US" sz="1200" kern="0">
                              <a:solidFill>
                                <a:schemeClr val="bg1"/>
                              </a:solidFill>
                              <a:effectLst/>
                            </a:rPr>
                            <a:t>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1651.418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047633870"/>
                      </a:ext>
                    </a:extLst>
                  </a:tr>
                  <a:tr h="242314">
                    <a:tc>
                      <a:txBody>
                        <a:bodyPr/>
                        <a:lstStyle/>
                        <a:p>
                          <a:pPr marL="0" marR="0" algn="ctr">
                            <a:lnSpc>
                              <a:spcPct val="100000"/>
                            </a:lnSpc>
                            <a:spcAft>
                              <a:spcPts val="800"/>
                            </a:spcAft>
                            <a:buNone/>
                          </a:pPr>
                          <a:r>
                            <a:rPr lang="en-US" sz="1200" kern="0">
                              <a:solidFill>
                                <a:schemeClr val="bg1"/>
                              </a:solidFill>
                              <a:effectLst/>
                            </a:rPr>
                            <a:t>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177.3984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512496527"/>
                      </a:ext>
                    </a:extLst>
                  </a:tr>
                  <a:tr h="242314">
                    <a:tc>
                      <a:txBody>
                        <a:bodyPr/>
                        <a:lstStyle/>
                        <a:p>
                          <a:pPr marL="0" marR="0" algn="ctr">
                            <a:lnSpc>
                              <a:spcPct val="100000"/>
                            </a:lnSpc>
                            <a:spcAft>
                              <a:spcPts val="800"/>
                            </a:spcAft>
                            <a:buNone/>
                          </a:pPr>
                          <a:r>
                            <a:rPr lang="en-US" sz="1200" kern="0">
                              <a:solidFill>
                                <a:schemeClr val="bg1"/>
                              </a:solidFill>
                              <a:effectLst/>
                            </a:rPr>
                            <a:t>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619.9013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356863685"/>
                      </a:ext>
                    </a:extLst>
                  </a:tr>
                  <a:tr h="242314">
                    <a:tc>
                      <a:txBody>
                        <a:bodyPr/>
                        <a:lstStyle/>
                        <a:p>
                          <a:pPr marL="0" marR="0" algn="ctr">
                            <a:lnSpc>
                              <a:spcPct val="100000"/>
                            </a:lnSpc>
                            <a:spcAft>
                              <a:spcPts val="800"/>
                            </a:spcAft>
                            <a:buNone/>
                          </a:pPr>
                          <a:r>
                            <a:rPr lang="en-US" sz="1200" kern="0">
                              <a:solidFill>
                                <a:schemeClr val="bg1"/>
                              </a:solidFill>
                              <a:effectLst/>
                            </a:rPr>
                            <a:t>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1053.174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370950372"/>
                      </a:ext>
                    </a:extLst>
                  </a:tr>
                  <a:tr h="242314">
                    <a:tc>
                      <a:txBody>
                        <a:bodyPr/>
                        <a:lstStyle/>
                        <a:p>
                          <a:pPr marL="0" marR="0" algn="ctr">
                            <a:lnSpc>
                              <a:spcPct val="100000"/>
                            </a:lnSpc>
                            <a:spcAft>
                              <a:spcPts val="800"/>
                            </a:spcAft>
                            <a:buNone/>
                          </a:pPr>
                          <a:r>
                            <a:rPr lang="en-US" sz="1200" kern="0">
                              <a:solidFill>
                                <a:schemeClr val="bg1"/>
                              </a:solidFill>
                              <a:effectLst/>
                            </a:rPr>
                            <a:t>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3276.631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231533888"/>
                      </a:ext>
                    </a:extLst>
                  </a:tr>
                  <a:tr h="242314">
                    <a:tc>
                      <a:txBody>
                        <a:bodyPr/>
                        <a:lstStyle/>
                        <a:p>
                          <a:pPr marL="0" marR="0" algn="ctr">
                            <a:lnSpc>
                              <a:spcPct val="100000"/>
                            </a:lnSpc>
                            <a:spcAft>
                              <a:spcPts val="800"/>
                            </a:spcAft>
                            <a:buNone/>
                          </a:pPr>
                          <a:r>
                            <a:rPr lang="en-US" sz="1200" kern="0">
                              <a:solidFill>
                                <a:schemeClr val="bg1"/>
                              </a:solidFill>
                              <a:effectLst/>
                            </a:rPr>
                            <a:t>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282.2989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621612125"/>
                      </a:ext>
                    </a:extLst>
                  </a:tr>
                  <a:tr h="242314">
                    <a:tc>
                      <a:txBody>
                        <a:bodyPr/>
                        <a:lstStyle/>
                        <a:p>
                          <a:pPr marL="0" marR="0" algn="ctr">
                            <a:lnSpc>
                              <a:spcPct val="100000"/>
                            </a:lnSpc>
                            <a:spcAft>
                              <a:spcPts val="800"/>
                            </a:spcAft>
                            <a:buNone/>
                          </a:pPr>
                          <a:r>
                            <a:rPr lang="en-US" sz="1200" kern="0">
                              <a:solidFill>
                                <a:schemeClr val="bg1"/>
                              </a:solidFill>
                              <a:effectLst/>
                            </a:rPr>
                            <a:t>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1834.516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106935971"/>
                      </a:ext>
                    </a:extLst>
                  </a:tr>
                  <a:tr h="242314">
                    <a:tc>
                      <a:txBody>
                        <a:bodyPr/>
                        <a:lstStyle/>
                        <a:p>
                          <a:pPr marL="0" marR="0" algn="ctr">
                            <a:lnSpc>
                              <a:spcPct val="100000"/>
                            </a:lnSpc>
                            <a:spcAft>
                              <a:spcPts val="800"/>
                            </a:spcAft>
                            <a:buNone/>
                          </a:pPr>
                          <a:r>
                            <a:rPr lang="en-US" sz="1200" kern="0">
                              <a:solidFill>
                                <a:schemeClr val="bg1"/>
                              </a:solidFill>
                              <a:effectLst/>
                            </a:rPr>
                            <a:t>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684.2823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810680101"/>
                      </a:ext>
                    </a:extLst>
                  </a:tr>
                  <a:tr h="242314">
                    <a:tc>
                      <a:txBody>
                        <a:bodyPr/>
                        <a:lstStyle/>
                        <a:p>
                          <a:pPr marL="0" marR="0" algn="ctr">
                            <a:lnSpc>
                              <a:spcPct val="100000"/>
                            </a:lnSpc>
                            <a:spcAft>
                              <a:spcPts val="800"/>
                            </a:spcAft>
                            <a:buNone/>
                          </a:pPr>
                          <a:r>
                            <a:rPr lang="en-US" sz="1200" kern="0">
                              <a:solidFill>
                                <a:schemeClr val="bg1"/>
                              </a:solidFill>
                              <a:effectLst/>
                            </a:rPr>
                            <a:t>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381.5901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449910641"/>
                      </a:ext>
                    </a:extLst>
                  </a:tr>
                  <a:tr h="242314">
                    <a:tc>
                      <a:txBody>
                        <a:bodyPr/>
                        <a:lstStyle/>
                        <a:p>
                          <a:pPr marL="0" marR="0" algn="ctr">
                            <a:lnSpc>
                              <a:spcPct val="100000"/>
                            </a:lnSpc>
                            <a:spcAft>
                              <a:spcPts val="800"/>
                            </a:spcAft>
                            <a:buNone/>
                          </a:pPr>
                          <a:r>
                            <a:rPr lang="en-US" sz="1200" kern="0">
                              <a:solidFill>
                                <a:schemeClr val="bg1"/>
                              </a:solidFill>
                              <a:effectLst/>
                            </a:rPr>
                            <a:t>10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691.2004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000584285"/>
                      </a:ext>
                    </a:extLst>
                  </a:tr>
                  <a:tr h="242314">
                    <a:tc>
                      <a:txBody>
                        <a:bodyPr/>
                        <a:lstStyle/>
                        <a:p>
                          <a:pPr marL="0" marR="0" algn="ctr">
                            <a:lnSpc>
                              <a:spcPct val="100000"/>
                            </a:lnSpc>
                            <a:spcAft>
                              <a:spcPts val="800"/>
                            </a:spcAft>
                            <a:buNone/>
                          </a:pPr>
                          <a:r>
                            <a:rPr lang="en-US" sz="1200" kern="0">
                              <a:solidFill>
                                <a:schemeClr val="bg1"/>
                              </a:solidFill>
                              <a:effectLst/>
                            </a:rPr>
                            <a:t>11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266.0266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817798804"/>
                      </a:ext>
                    </a:extLst>
                  </a:tr>
                  <a:tr h="242314">
                    <a:tc>
                      <a:txBody>
                        <a:bodyPr/>
                        <a:lstStyle/>
                        <a:p>
                          <a:pPr marL="0" marR="0" algn="ctr">
                            <a:lnSpc>
                              <a:spcPct val="100000"/>
                            </a:lnSpc>
                            <a:spcAft>
                              <a:spcPts val="800"/>
                            </a:spcAft>
                            <a:buNone/>
                          </a:pPr>
                          <a:r>
                            <a:rPr lang="en-US" sz="1200" kern="0">
                              <a:solidFill>
                                <a:schemeClr val="bg1"/>
                              </a:solidFill>
                              <a:effectLst/>
                            </a:rPr>
                            <a:t>12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129.3165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002459367"/>
                      </a:ext>
                    </a:extLst>
                  </a:tr>
                  <a:tr h="242314">
                    <a:tc>
                      <a:txBody>
                        <a:bodyPr/>
                        <a:lstStyle/>
                        <a:p>
                          <a:pPr marL="0" marR="0" algn="ctr">
                            <a:lnSpc>
                              <a:spcPct val="100000"/>
                            </a:lnSpc>
                            <a:spcAft>
                              <a:spcPts val="800"/>
                            </a:spcAft>
                            <a:buNone/>
                          </a:pPr>
                          <a:r>
                            <a:rPr lang="en-US" sz="1200" kern="0">
                              <a:solidFill>
                                <a:schemeClr val="bg1"/>
                              </a:solidFill>
                              <a:effectLst/>
                            </a:rPr>
                            <a:t>13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280.3482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594795130"/>
                      </a:ext>
                    </a:extLst>
                  </a:tr>
                  <a:tr h="242314">
                    <a:tc>
                      <a:txBody>
                        <a:bodyPr/>
                        <a:lstStyle/>
                        <a:p>
                          <a:pPr marL="0" marR="0" algn="ctr">
                            <a:lnSpc>
                              <a:spcPct val="100000"/>
                            </a:lnSpc>
                            <a:spcAft>
                              <a:spcPts val="800"/>
                            </a:spcAft>
                            <a:buNone/>
                          </a:pPr>
                          <a:r>
                            <a:rPr lang="en-US" sz="1200" kern="0">
                              <a:solidFill>
                                <a:schemeClr val="bg1"/>
                              </a:solidFill>
                              <a:effectLst/>
                            </a:rPr>
                            <a:t>14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3373.655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867560439"/>
                      </a:ext>
                    </a:extLst>
                  </a:tr>
                  <a:tr h="242314">
                    <a:tc>
                      <a:txBody>
                        <a:bodyPr/>
                        <a:lstStyle/>
                        <a:p>
                          <a:pPr marL="0" marR="0" algn="ctr">
                            <a:lnSpc>
                              <a:spcPct val="100000"/>
                            </a:lnSpc>
                            <a:spcAft>
                              <a:spcPts val="800"/>
                            </a:spcAft>
                            <a:buNone/>
                          </a:pPr>
                          <a:r>
                            <a:rPr lang="en-US" sz="1200" kern="0">
                              <a:solidFill>
                                <a:schemeClr val="bg1"/>
                              </a:solidFill>
                              <a:effectLst/>
                            </a:rPr>
                            <a:t>15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651.2157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494982718"/>
                      </a:ext>
                    </a:extLst>
                  </a:tr>
                  <a:tr h="242314">
                    <a:tc>
                      <a:txBody>
                        <a:bodyPr/>
                        <a:lstStyle/>
                        <a:p>
                          <a:pPr marL="0" marR="0" algn="ctr">
                            <a:lnSpc>
                              <a:spcPct val="100000"/>
                            </a:lnSpc>
                            <a:spcAft>
                              <a:spcPts val="800"/>
                            </a:spcAft>
                            <a:buNone/>
                          </a:pPr>
                          <a:r>
                            <a:rPr lang="en-US" sz="1200" kern="0">
                              <a:solidFill>
                                <a:schemeClr val="bg1"/>
                              </a:solidFill>
                              <a:effectLst/>
                            </a:rPr>
                            <a:t>16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860.0063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577906578"/>
                      </a:ext>
                    </a:extLst>
                  </a:tr>
                  <a:tr h="242314">
                    <a:tc>
                      <a:txBody>
                        <a:bodyPr/>
                        <a:lstStyle/>
                        <a:p>
                          <a:pPr marL="0" marR="0" algn="ctr">
                            <a:lnSpc>
                              <a:spcPct val="100000"/>
                            </a:lnSpc>
                            <a:spcAft>
                              <a:spcPts val="800"/>
                            </a:spcAft>
                            <a:buNone/>
                          </a:pPr>
                          <a:r>
                            <a:rPr lang="en-US" sz="1200" kern="0">
                              <a:solidFill>
                                <a:schemeClr val="bg1"/>
                              </a:solidFill>
                              <a:effectLst/>
                            </a:rPr>
                            <a:t>17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642.91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320515558"/>
                      </a:ext>
                    </a:extLst>
                  </a:tr>
                  <a:tr h="242314">
                    <a:tc>
                      <a:txBody>
                        <a:bodyPr/>
                        <a:lstStyle/>
                        <a:p>
                          <a:pPr marL="0" marR="0" algn="ctr">
                            <a:lnSpc>
                              <a:spcPct val="100000"/>
                            </a:lnSpc>
                            <a:spcAft>
                              <a:spcPts val="800"/>
                            </a:spcAft>
                            <a:buNone/>
                          </a:pPr>
                          <a:r>
                            <a:rPr lang="en-US" sz="1200" kern="0">
                              <a:solidFill>
                                <a:schemeClr val="bg1"/>
                              </a:solidFill>
                              <a:effectLst/>
                            </a:rPr>
                            <a:t>18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1222.822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37590360"/>
                      </a:ext>
                    </a:extLst>
                  </a:tr>
                  <a:tr h="242314">
                    <a:tc>
                      <a:txBody>
                        <a:bodyPr/>
                        <a:lstStyle/>
                        <a:p>
                          <a:pPr marL="0" marR="0" algn="ctr">
                            <a:lnSpc>
                              <a:spcPct val="100000"/>
                            </a:lnSpc>
                            <a:spcAft>
                              <a:spcPts val="800"/>
                            </a:spcAft>
                            <a:buNone/>
                          </a:pPr>
                          <a:r>
                            <a:rPr lang="en-US" sz="1200" kern="0">
                              <a:solidFill>
                                <a:schemeClr val="bg1"/>
                              </a:solidFill>
                              <a:effectLst/>
                            </a:rPr>
                            <a:t>19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194.1456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676401013"/>
                      </a:ext>
                    </a:extLst>
                  </a:tr>
                  <a:tr h="242314">
                    <a:tc>
                      <a:txBody>
                        <a:bodyPr/>
                        <a:lstStyle/>
                        <a:p>
                          <a:pPr marL="0" marR="0" algn="ctr">
                            <a:lnSpc>
                              <a:spcPct val="100000"/>
                            </a:lnSpc>
                            <a:spcAft>
                              <a:spcPts val="800"/>
                            </a:spcAft>
                            <a:buNone/>
                          </a:pPr>
                          <a:r>
                            <a:rPr lang="en-US" sz="1200" kern="0">
                              <a:solidFill>
                                <a:schemeClr val="bg1"/>
                              </a:solidFill>
                              <a:effectLst/>
                            </a:rPr>
                            <a:t>20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999.7348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892111708"/>
                      </a:ext>
                    </a:extLst>
                  </a:tr>
                  <a:tr h="242314">
                    <a:tc>
                      <a:txBody>
                        <a:bodyPr/>
                        <a:lstStyle/>
                        <a:p>
                          <a:pPr marL="0" marR="0" algn="ctr">
                            <a:lnSpc>
                              <a:spcPct val="100000"/>
                            </a:lnSpc>
                            <a:spcAft>
                              <a:spcPts val="800"/>
                            </a:spcAft>
                            <a:buNone/>
                          </a:pPr>
                          <a:r>
                            <a:rPr lang="en-US" sz="1200" kern="0">
                              <a:solidFill>
                                <a:schemeClr val="bg1"/>
                              </a:solidFill>
                              <a:effectLst/>
                            </a:rPr>
                            <a:t>21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1739.642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499379786"/>
                      </a:ext>
                    </a:extLst>
                  </a:tr>
                  <a:tr h="242314">
                    <a:tc>
                      <a:txBody>
                        <a:bodyPr/>
                        <a:lstStyle/>
                        <a:p>
                          <a:pPr marL="0" marR="0" algn="ctr">
                            <a:lnSpc>
                              <a:spcPct val="100000"/>
                            </a:lnSpc>
                            <a:spcAft>
                              <a:spcPts val="800"/>
                            </a:spcAft>
                            <a:buNone/>
                          </a:pPr>
                          <a:r>
                            <a:rPr lang="en-US" sz="1200" kern="0">
                              <a:solidFill>
                                <a:schemeClr val="bg1"/>
                              </a:solidFill>
                              <a:effectLst/>
                            </a:rPr>
                            <a:t>22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172.6702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702592749"/>
                      </a:ext>
                    </a:extLst>
                  </a:tr>
                  <a:tr h="242314">
                    <a:tc>
                      <a:txBody>
                        <a:bodyPr/>
                        <a:lstStyle/>
                        <a:p>
                          <a:pPr marL="0" marR="0" algn="ctr">
                            <a:lnSpc>
                              <a:spcPct val="100000"/>
                            </a:lnSpc>
                            <a:spcAft>
                              <a:spcPts val="800"/>
                            </a:spcAft>
                            <a:buNone/>
                          </a:pPr>
                          <a:r>
                            <a:rPr lang="en-US" sz="1200" kern="0">
                              <a:solidFill>
                                <a:schemeClr val="bg1"/>
                              </a:solidFill>
                              <a:effectLst/>
                            </a:rPr>
                            <a:t>23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1163.859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906951458"/>
                      </a:ext>
                    </a:extLst>
                  </a:tr>
                  <a:tr h="242314">
                    <a:tc>
                      <a:txBody>
                        <a:bodyPr/>
                        <a:lstStyle/>
                        <a:p>
                          <a:pPr marL="0" marR="0" algn="ctr">
                            <a:lnSpc>
                              <a:spcPct val="100000"/>
                            </a:lnSpc>
                            <a:spcAft>
                              <a:spcPts val="800"/>
                            </a:spcAft>
                            <a:buNone/>
                          </a:pPr>
                          <a:r>
                            <a:rPr lang="en-US" sz="1200" kern="0">
                              <a:solidFill>
                                <a:schemeClr val="bg1"/>
                              </a:solidFill>
                              <a:effectLst/>
                            </a:rPr>
                            <a:t>24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536.4222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097024627"/>
                      </a:ext>
                    </a:extLst>
                  </a:tr>
                  <a:tr h="242314">
                    <a:tc>
                      <a:txBody>
                        <a:bodyPr/>
                        <a:lstStyle/>
                        <a:p>
                          <a:pPr marL="0" marR="0" algn="ctr">
                            <a:lnSpc>
                              <a:spcPct val="100000"/>
                            </a:lnSpc>
                            <a:spcAft>
                              <a:spcPts val="800"/>
                            </a:spcAft>
                            <a:buNone/>
                          </a:pPr>
                          <a:r>
                            <a:rPr lang="en-US" sz="1200" kern="0">
                              <a:solidFill>
                                <a:schemeClr val="bg1"/>
                              </a:solidFill>
                              <a:effectLst/>
                            </a:rPr>
                            <a:t>25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199.9396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825533037"/>
                      </a:ext>
                    </a:extLst>
                  </a:tr>
                </a:tbl>
              </a:graphicData>
            </a:graphic>
          </p:graphicFrame>
        </mc:Choice>
        <mc:Fallback xmlns="">
          <p:graphicFrame>
            <p:nvGraphicFramePr>
              <p:cNvPr id="5" name="Table 4">
                <a:extLst>
                  <a:ext uri="{FF2B5EF4-FFF2-40B4-BE49-F238E27FC236}">
                    <a16:creationId xmlns:a16="http://schemas.microsoft.com/office/drawing/2014/main" id="{7037CC87-43FF-9490-8F3D-7312EFDF98F3}"/>
                  </a:ext>
                </a:extLst>
              </p:cNvPr>
              <p:cNvGraphicFramePr>
                <a:graphicFrameLocks noGrp="1"/>
              </p:cNvGraphicFramePr>
              <p:nvPr>
                <p:extLst>
                  <p:ext uri="{D42A27DB-BD31-4B8C-83A1-F6EECF244321}">
                    <p14:modId xmlns:p14="http://schemas.microsoft.com/office/powerpoint/2010/main" val="1456154593"/>
                  </p:ext>
                </p:extLst>
              </p:nvPr>
            </p:nvGraphicFramePr>
            <p:xfrm>
              <a:off x="98207" y="104775"/>
              <a:ext cx="2457511" cy="6617431"/>
            </p:xfrm>
            <a:graphic>
              <a:graphicData uri="http://schemas.openxmlformats.org/drawingml/2006/table">
                <a:tbl>
                  <a:tblPr firstRow="1" firstCol="1" bandRow="1">
                    <a:tableStyleId>{5940675A-B579-460E-94D1-54222C63F5DA}</a:tableStyleId>
                  </a:tblPr>
                  <a:tblGrid>
                    <a:gridCol w="535400">
                      <a:extLst>
                        <a:ext uri="{9D8B030D-6E8A-4147-A177-3AD203B41FA5}">
                          <a16:colId xmlns:a16="http://schemas.microsoft.com/office/drawing/2014/main" val="2371433027"/>
                        </a:ext>
                      </a:extLst>
                    </a:gridCol>
                    <a:gridCol w="863852">
                      <a:extLst>
                        <a:ext uri="{9D8B030D-6E8A-4147-A177-3AD203B41FA5}">
                          <a16:colId xmlns:a16="http://schemas.microsoft.com/office/drawing/2014/main" val="1918336367"/>
                        </a:ext>
                      </a:extLst>
                    </a:gridCol>
                    <a:gridCol w="1058259">
                      <a:extLst>
                        <a:ext uri="{9D8B030D-6E8A-4147-A177-3AD203B41FA5}">
                          <a16:colId xmlns:a16="http://schemas.microsoft.com/office/drawing/2014/main" val="4170156621"/>
                        </a:ext>
                      </a:extLst>
                    </a:gridCol>
                  </a:tblGrid>
                  <a:tr h="317267">
                    <a:tc>
                      <a:txBody>
                        <a:bodyPr/>
                        <a:lstStyle/>
                        <a:p>
                          <a:pPr marL="0" marR="0" algn="ctr">
                            <a:lnSpc>
                              <a:spcPct val="100000"/>
                            </a:lnSpc>
                            <a:spcAft>
                              <a:spcPts val="800"/>
                            </a:spcAft>
                            <a:buNone/>
                          </a:pPr>
                          <a:r>
                            <a:rPr lang="en-US" sz="1200" kern="0">
                              <a:solidFill>
                                <a:schemeClr val="bg1"/>
                              </a:solidFill>
                              <a:effectLst/>
                            </a:rPr>
                            <a:t>Shift</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tc>
                      <a:txBody>
                        <a:bodyPr/>
                        <a:lstStyle/>
                        <a:p>
                          <a:pPr marL="0" marR="0" algn="ctr">
                            <a:lnSpc>
                              <a:spcPct val="100000"/>
                            </a:lnSpc>
                            <a:spcAft>
                              <a:spcPts val="800"/>
                            </a:spcAft>
                            <a:buNone/>
                          </a:pPr>
                          <a:r>
                            <a:rPr lang="en-US" sz="1200" kern="0">
                              <a:solidFill>
                                <a:schemeClr val="bg1"/>
                              </a:solidFill>
                              <a:effectLst/>
                            </a:rPr>
                            <a:t>Ký tự</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tc>
                      <a:txBody>
                        <a:bodyPr/>
                        <a:lstStyle/>
                        <a:p>
                          <a:endParaRPr lang="en-US"/>
                        </a:p>
                      </a:txBody>
                      <a:tcPr marL="43931" marR="43931" marT="0" marB="0" anchor="ctr">
                        <a:blipFill>
                          <a:blip r:embed="rId4"/>
                          <a:stretch>
                            <a:fillRect l="-132759" t="-1923" r="-1149" b="-2009615"/>
                          </a:stretch>
                        </a:blipFill>
                      </a:tcPr>
                    </a:tc>
                    <a:extLst>
                      <a:ext uri="{0D108BD9-81ED-4DB2-BD59-A6C34878D82A}">
                        <a16:rowId xmlns:a16="http://schemas.microsoft.com/office/drawing/2014/main" val="3196020702"/>
                      </a:ext>
                    </a:extLst>
                  </a:tr>
                  <a:tr h="242314">
                    <a:tc>
                      <a:txBody>
                        <a:bodyPr/>
                        <a:lstStyle/>
                        <a:p>
                          <a:pPr marL="0" marR="0" algn="ctr">
                            <a:lnSpc>
                              <a:spcPct val="100000"/>
                            </a:lnSpc>
                            <a:spcAft>
                              <a:spcPts val="800"/>
                            </a:spcAft>
                            <a:buNone/>
                          </a:pPr>
                          <a:r>
                            <a:rPr lang="en-US" sz="1200" kern="0">
                              <a:solidFill>
                                <a:schemeClr val="bg1"/>
                              </a:solidFill>
                              <a:effectLst/>
                            </a:rPr>
                            <a:t>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36.11885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270130923"/>
                      </a:ext>
                    </a:extLst>
                  </a:tr>
                  <a:tr h="242314">
                    <a:tc>
                      <a:txBody>
                        <a:bodyPr/>
                        <a:lstStyle/>
                        <a:p>
                          <a:pPr marL="0" marR="0" algn="ctr">
                            <a:lnSpc>
                              <a:spcPct val="100000"/>
                            </a:lnSpc>
                            <a:spcAft>
                              <a:spcPts val="800"/>
                            </a:spcAft>
                            <a:buNone/>
                          </a:pPr>
                          <a:r>
                            <a:rPr lang="en-US" sz="1200" kern="0">
                              <a:solidFill>
                                <a:schemeClr val="bg1"/>
                              </a:solidFill>
                              <a:effectLst/>
                            </a:rPr>
                            <a:t>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1651.418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047633870"/>
                      </a:ext>
                    </a:extLst>
                  </a:tr>
                  <a:tr h="242314">
                    <a:tc>
                      <a:txBody>
                        <a:bodyPr/>
                        <a:lstStyle/>
                        <a:p>
                          <a:pPr marL="0" marR="0" algn="ctr">
                            <a:lnSpc>
                              <a:spcPct val="100000"/>
                            </a:lnSpc>
                            <a:spcAft>
                              <a:spcPts val="800"/>
                            </a:spcAft>
                            <a:buNone/>
                          </a:pPr>
                          <a:r>
                            <a:rPr lang="en-US" sz="1200" kern="0">
                              <a:solidFill>
                                <a:schemeClr val="bg1"/>
                              </a:solidFill>
                              <a:effectLst/>
                            </a:rPr>
                            <a:t>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177.3984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512496527"/>
                      </a:ext>
                    </a:extLst>
                  </a:tr>
                  <a:tr h="242314">
                    <a:tc>
                      <a:txBody>
                        <a:bodyPr/>
                        <a:lstStyle/>
                        <a:p>
                          <a:pPr marL="0" marR="0" algn="ctr">
                            <a:lnSpc>
                              <a:spcPct val="100000"/>
                            </a:lnSpc>
                            <a:spcAft>
                              <a:spcPts val="800"/>
                            </a:spcAft>
                            <a:buNone/>
                          </a:pPr>
                          <a:r>
                            <a:rPr lang="en-US" sz="1200" kern="0">
                              <a:solidFill>
                                <a:schemeClr val="bg1"/>
                              </a:solidFill>
                              <a:effectLst/>
                            </a:rPr>
                            <a:t>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619.9013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356863685"/>
                      </a:ext>
                    </a:extLst>
                  </a:tr>
                  <a:tr h="242314">
                    <a:tc>
                      <a:txBody>
                        <a:bodyPr/>
                        <a:lstStyle/>
                        <a:p>
                          <a:pPr marL="0" marR="0" algn="ctr">
                            <a:lnSpc>
                              <a:spcPct val="100000"/>
                            </a:lnSpc>
                            <a:spcAft>
                              <a:spcPts val="800"/>
                            </a:spcAft>
                            <a:buNone/>
                          </a:pPr>
                          <a:r>
                            <a:rPr lang="en-US" sz="1200" kern="0">
                              <a:solidFill>
                                <a:schemeClr val="bg1"/>
                              </a:solidFill>
                              <a:effectLst/>
                            </a:rPr>
                            <a:t>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1053.174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370950372"/>
                      </a:ext>
                    </a:extLst>
                  </a:tr>
                  <a:tr h="242314">
                    <a:tc>
                      <a:txBody>
                        <a:bodyPr/>
                        <a:lstStyle/>
                        <a:p>
                          <a:pPr marL="0" marR="0" algn="ctr">
                            <a:lnSpc>
                              <a:spcPct val="100000"/>
                            </a:lnSpc>
                            <a:spcAft>
                              <a:spcPts val="800"/>
                            </a:spcAft>
                            <a:buNone/>
                          </a:pPr>
                          <a:r>
                            <a:rPr lang="en-US" sz="1200" kern="0">
                              <a:solidFill>
                                <a:schemeClr val="bg1"/>
                              </a:solidFill>
                              <a:effectLst/>
                            </a:rPr>
                            <a:t>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3276.631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231533888"/>
                      </a:ext>
                    </a:extLst>
                  </a:tr>
                  <a:tr h="242314">
                    <a:tc>
                      <a:txBody>
                        <a:bodyPr/>
                        <a:lstStyle/>
                        <a:p>
                          <a:pPr marL="0" marR="0" algn="ctr">
                            <a:lnSpc>
                              <a:spcPct val="100000"/>
                            </a:lnSpc>
                            <a:spcAft>
                              <a:spcPts val="800"/>
                            </a:spcAft>
                            <a:buNone/>
                          </a:pPr>
                          <a:r>
                            <a:rPr lang="en-US" sz="1200" kern="0">
                              <a:solidFill>
                                <a:schemeClr val="bg1"/>
                              </a:solidFill>
                              <a:effectLst/>
                            </a:rPr>
                            <a:t>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282.2989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621612125"/>
                      </a:ext>
                    </a:extLst>
                  </a:tr>
                  <a:tr h="242314">
                    <a:tc>
                      <a:txBody>
                        <a:bodyPr/>
                        <a:lstStyle/>
                        <a:p>
                          <a:pPr marL="0" marR="0" algn="ctr">
                            <a:lnSpc>
                              <a:spcPct val="100000"/>
                            </a:lnSpc>
                            <a:spcAft>
                              <a:spcPts val="800"/>
                            </a:spcAft>
                            <a:buNone/>
                          </a:pPr>
                          <a:r>
                            <a:rPr lang="en-US" sz="1200" kern="0">
                              <a:solidFill>
                                <a:schemeClr val="bg1"/>
                              </a:solidFill>
                              <a:effectLst/>
                            </a:rPr>
                            <a:t>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1834.516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106935971"/>
                      </a:ext>
                    </a:extLst>
                  </a:tr>
                  <a:tr h="242314">
                    <a:tc>
                      <a:txBody>
                        <a:bodyPr/>
                        <a:lstStyle/>
                        <a:p>
                          <a:pPr marL="0" marR="0" algn="ctr">
                            <a:lnSpc>
                              <a:spcPct val="100000"/>
                            </a:lnSpc>
                            <a:spcAft>
                              <a:spcPts val="800"/>
                            </a:spcAft>
                            <a:buNone/>
                          </a:pPr>
                          <a:r>
                            <a:rPr lang="en-US" sz="1200" kern="0">
                              <a:solidFill>
                                <a:schemeClr val="bg1"/>
                              </a:solidFill>
                              <a:effectLst/>
                            </a:rPr>
                            <a:t>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684.2823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810680101"/>
                      </a:ext>
                    </a:extLst>
                  </a:tr>
                  <a:tr h="242314">
                    <a:tc>
                      <a:txBody>
                        <a:bodyPr/>
                        <a:lstStyle/>
                        <a:p>
                          <a:pPr marL="0" marR="0" algn="ctr">
                            <a:lnSpc>
                              <a:spcPct val="100000"/>
                            </a:lnSpc>
                            <a:spcAft>
                              <a:spcPts val="800"/>
                            </a:spcAft>
                            <a:buNone/>
                          </a:pPr>
                          <a:r>
                            <a:rPr lang="en-US" sz="1200" kern="0">
                              <a:solidFill>
                                <a:schemeClr val="bg1"/>
                              </a:solidFill>
                              <a:effectLst/>
                            </a:rPr>
                            <a:t>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381.5901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449910641"/>
                      </a:ext>
                    </a:extLst>
                  </a:tr>
                  <a:tr h="242314">
                    <a:tc>
                      <a:txBody>
                        <a:bodyPr/>
                        <a:lstStyle/>
                        <a:p>
                          <a:pPr marL="0" marR="0" algn="ctr">
                            <a:lnSpc>
                              <a:spcPct val="100000"/>
                            </a:lnSpc>
                            <a:spcAft>
                              <a:spcPts val="800"/>
                            </a:spcAft>
                            <a:buNone/>
                          </a:pPr>
                          <a:r>
                            <a:rPr lang="en-US" sz="1200" kern="0">
                              <a:solidFill>
                                <a:schemeClr val="bg1"/>
                              </a:solidFill>
                              <a:effectLst/>
                            </a:rPr>
                            <a:t>10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691.2004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000584285"/>
                      </a:ext>
                    </a:extLst>
                  </a:tr>
                  <a:tr h="242314">
                    <a:tc>
                      <a:txBody>
                        <a:bodyPr/>
                        <a:lstStyle/>
                        <a:p>
                          <a:pPr marL="0" marR="0" algn="ctr">
                            <a:lnSpc>
                              <a:spcPct val="100000"/>
                            </a:lnSpc>
                            <a:spcAft>
                              <a:spcPts val="800"/>
                            </a:spcAft>
                            <a:buNone/>
                          </a:pPr>
                          <a:r>
                            <a:rPr lang="en-US" sz="1200" kern="0">
                              <a:solidFill>
                                <a:schemeClr val="bg1"/>
                              </a:solidFill>
                              <a:effectLst/>
                            </a:rPr>
                            <a:t>11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266.0266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817798804"/>
                      </a:ext>
                    </a:extLst>
                  </a:tr>
                  <a:tr h="242314">
                    <a:tc>
                      <a:txBody>
                        <a:bodyPr/>
                        <a:lstStyle/>
                        <a:p>
                          <a:pPr marL="0" marR="0" algn="ctr">
                            <a:lnSpc>
                              <a:spcPct val="100000"/>
                            </a:lnSpc>
                            <a:spcAft>
                              <a:spcPts val="800"/>
                            </a:spcAft>
                            <a:buNone/>
                          </a:pPr>
                          <a:r>
                            <a:rPr lang="en-US" sz="1200" kern="0">
                              <a:solidFill>
                                <a:schemeClr val="bg1"/>
                              </a:solidFill>
                              <a:effectLst/>
                            </a:rPr>
                            <a:t>12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129.3165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002459367"/>
                      </a:ext>
                    </a:extLst>
                  </a:tr>
                  <a:tr h="242314">
                    <a:tc>
                      <a:txBody>
                        <a:bodyPr/>
                        <a:lstStyle/>
                        <a:p>
                          <a:pPr marL="0" marR="0" algn="ctr">
                            <a:lnSpc>
                              <a:spcPct val="100000"/>
                            </a:lnSpc>
                            <a:spcAft>
                              <a:spcPts val="800"/>
                            </a:spcAft>
                            <a:buNone/>
                          </a:pPr>
                          <a:r>
                            <a:rPr lang="en-US" sz="1200" kern="0">
                              <a:solidFill>
                                <a:schemeClr val="bg1"/>
                              </a:solidFill>
                              <a:effectLst/>
                            </a:rPr>
                            <a:t>13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280.3482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594795130"/>
                      </a:ext>
                    </a:extLst>
                  </a:tr>
                  <a:tr h="242314">
                    <a:tc>
                      <a:txBody>
                        <a:bodyPr/>
                        <a:lstStyle/>
                        <a:p>
                          <a:pPr marL="0" marR="0" algn="ctr">
                            <a:lnSpc>
                              <a:spcPct val="100000"/>
                            </a:lnSpc>
                            <a:spcAft>
                              <a:spcPts val="800"/>
                            </a:spcAft>
                            <a:buNone/>
                          </a:pPr>
                          <a:r>
                            <a:rPr lang="en-US" sz="1200" kern="0">
                              <a:solidFill>
                                <a:schemeClr val="bg1"/>
                              </a:solidFill>
                              <a:effectLst/>
                            </a:rPr>
                            <a:t>14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3373.655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867560439"/>
                      </a:ext>
                    </a:extLst>
                  </a:tr>
                  <a:tr h="242314">
                    <a:tc>
                      <a:txBody>
                        <a:bodyPr/>
                        <a:lstStyle/>
                        <a:p>
                          <a:pPr marL="0" marR="0" algn="ctr">
                            <a:lnSpc>
                              <a:spcPct val="100000"/>
                            </a:lnSpc>
                            <a:spcAft>
                              <a:spcPts val="800"/>
                            </a:spcAft>
                            <a:buNone/>
                          </a:pPr>
                          <a:r>
                            <a:rPr lang="en-US" sz="1200" kern="0">
                              <a:solidFill>
                                <a:schemeClr val="bg1"/>
                              </a:solidFill>
                              <a:effectLst/>
                            </a:rPr>
                            <a:t>15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651.2157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494982718"/>
                      </a:ext>
                    </a:extLst>
                  </a:tr>
                  <a:tr h="242314">
                    <a:tc>
                      <a:txBody>
                        <a:bodyPr/>
                        <a:lstStyle/>
                        <a:p>
                          <a:pPr marL="0" marR="0" algn="ctr">
                            <a:lnSpc>
                              <a:spcPct val="100000"/>
                            </a:lnSpc>
                            <a:spcAft>
                              <a:spcPts val="800"/>
                            </a:spcAft>
                            <a:buNone/>
                          </a:pPr>
                          <a:r>
                            <a:rPr lang="en-US" sz="1200" kern="0">
                              <a:solidFill>
                                <a:schemeClr val="bg1"/>
                              </a:solidFill>
                              <a:effectLst/>
                            </a:rPr>
                            <a:t>16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860.0063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577906578"/>
                      </a:ext>
                    </a:extLst>
                  </a:tr>
                  <a:tr h="242314">
                    <a:tc>
                      <a:txBody>
                        <a:bodyPr/>
                        <a:lstStyle/>
                        <a:p>
                          <a:pPr marL="0" marR="0" algn="ctr">
                            <a:lnSpc>
                              <a:spcPct val="100000"/>
                            </a:lnSpc>
                            <a:spcAft>
                              <a:spcPts val="800"/>
                            </a:spcAft>
                            <a:buNone/>
                          </a:pPr>
                          <a:r>
                            <a:rPr lang="en-US" sz="1200" kern="0">
                              <a:solidFill>
                                <a:schemeClr val="bg1"/>
                              </a:solidFill>
                              <a:effectLst/>
                            </a:rPr>
                            <a:t>17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642.91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320515558"/>
                      </a:ext>
                    </a:extLst>
                  </a:tr>
                  <a:tr h="242314">
                    <a:tc>
                      <a:txBody>
                        <a:bodyPr/>
                        <a:lstStyle/>
                        <a:p>
                          <a:pPr marL="0" marR="0" algn="ctr">
                            <a:lnSpc>
                              <a:spcPct val="100000"/>
                            </a:lnSpc>
                            <a:spcAft>
                              <a:spcPts val="800"/>
                            </a:spcAft>
                            <a:buNone/>
                          </a:pPr>
                          <a:r>
                            <a:rPr lang="en-US" sz="1200" kern="0">
                              <a:solidFill>
                                <a:schemeClr val="bg1"/>
                              </a:solidFill>
                              <a:effectLst/>
                            </a:rPr>
                            <a:t>18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1222.822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37590360"/>
                      </a:ext>
                    </a:extLst>
                  </a:tr>
                  <a:tr h="242314">
                    <a:tc>
                      <a:txBody>
                        <a:bodyPr/>
                        <a:lstStyle/>
                        <a:p>
                          <a:pPr marL="0" marR="0" algn="ctr">
                            <a:lnSpc>
                              <a:spcPct val="100000"/>
                            </a:lnSpc>
                            <a:spcAft>
                              <a:spcPts val="800"/>
                            </a:spcAft>
                            <a:buNone/>
                          </a:pPr>
                          <a:r>
                            <a:rPr lang="en-US" sz="1200" kern="0">
                              <a:solidFill>
                                <a:schemeClr val="bg1"/>
                              </a:solidFill>
                              <a:effectLst/>
                            </a:rPr>
                            <a:t>19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194.1456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676401013"/>
                      </a:ext>
                    </a:extLst>
                  </a:tr>
                  <a:tr h="242314">
                    <a:tc>
                      <a:txBody>
                        <a:bodyPr/>
                        <a:lstStyle/>
                        <a:p>
                          <a:pPr marL="0" marR="0" algn="ctr">
                            <a:lnSpc>
                              <a:spcPct val="100000"/>
                            </a:lnSpc>
                            <a:spcAft>
                              <a:spcPts val="800"/>
                            </a:spcAft>
                            <a:buNone/>
                          </a:pPr>
                          <a:r>
                            <a:rPr lang="en-US" sz="1200" kern="0">
                              <a:solidFill>
                                <a:schemeClr val="bg1"/>
                              </a:solidFill>
                              <a:effectLst/>
                            </a:rPr>
                            <a:t>20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999.7348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892111708"/>
                      </a:ext>
                    </a:extLst>
                  </a:tr>
                  <a:tr h="242314">
                    <a:tc>
                      <a:txBody>
                        <a:bodyPr/>
                        <a:lstStyle/>
                        <a:p>
                          <a:pPr marL="0" marR="0" algn="ctr">
                            <a:lnSpc>
                              <a:spcPct val="100000"/>
                            </a:lnSpc>
                            <a:spcAft>
                              <a:spcPts val="800"/>
                            </a:spcAft>
                            <a:buNone/>
                          </a:pPr>
                          <a:r>
                            <a:rPr lang="en-US" sz="1200" kern="0">
                              <a:solidFill>
                                <a:schemeClr val="bg1"/>
                              </a:solidFill>
                              <a:effectLst/>
                            </a:rPr>
                            <a:t>21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1739.642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499379786"/>
                      </a:ext>
                    </a:extLst>
                  </a:tr>
                  <a:tr h="242314">
                    <a:tc>
                      <a:txBody>
                        <a:bodyPr/>
                        <a:lstStyle/>
                        <a:p>
                          <a:pPr marL="0" marR="0" algn="ctr">
                            <a:lnSpc>
                              <a:spcPct val="100000"/>
                            </a:lnSpc>
                            <a:spcAft>
                              <a:spcPts val="800"/>
                            </a:spcAft>
                            <a:buNone/>
                          </a:pPr>
                          <a:r>
                            <a:rPr lang="en-US" sz="1200" kern="0">
                              <a:solidFill>
                                <a:schemeClr val="bg1"/>
                              </a:solidFill>
                              <a:effectLst/>
                            </a:rPr>
                            <a:t>22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172.6702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702592749"/>
                      </a:ext>
                    </a:extLst>
                  </a:tr>
                  <a:tr h="242314">
                    <a:tc>
                      <a:txBody>
                        <a:bodyPr/>
                        <a:lstStyle/>
                        <a:p>
                          <a:pPr marL="0" marR="0" algn="ctr">
                            <a:lnSpc>
                              <a:spcPct val="100000"/>
                            </a:lnSpc>
                            <a:spcAft>
                              <a:spcPts val="800"/>
                            </a:spcAft>
                            <a:buNone/>
                          </a:pPr>
                          <a:r>
                            <a:rPr lang="en-US" sz="1200" kern="0">
                              <a:solidFill>
                                <a:schemeClr val="bg1"/>
                              </a:solidFill>
                              <a:effectLst/>
                            </a:rPr>
                            <a:t>23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1163.859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906951458"/>
                      </a:ext>
                    </a:extLst>
                  </a:tr>
                  <a:tr h="242314">
                    <a:tc>
                      <a:txBody>
                        <a:bodyPr/>
                        <a:lstStyle/>
                        <a:p>
                          <a:pPr marL="0" marR="0" algn="ctr">
                            <a:lnSpc>
                              <a:spcPct val="100000"/>
                            </a:lnSpc>
                            <a:spcAft>
                              <a:spcPts val="800"/>
                            </a:spcAft>
                            <a:buNone/>
                          </a:pPr>
                          <a:r>
                            <a:rPr lang="en-US" sz="1200" kern="0">
                              <a:solidFill>
                                <a:schemeClr val="bg1"/>
                              </a:solidFill>
                              <a:effectLst/>
                            </a:rPr>
                            <a:t>24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536.4222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097024627"/>
                      </a:ext>
                    </a:extLst>
                  </a:tr>
                  <a:tr h="242314">
                    <a:tc>
                      <a:txBody>
                        <a:bodyPr/>
                        <a:lstStyle/>
                        <a:p>
                          <a:pPr marL="0" marR="0" algn="ctr">
                            <a:lnSpc>
                              <a:spcPct val="100000"/>
                            </a:lnSpc>
                            <a:spcAft>
                              <a:spcPts val="800"/>
                            </a:spcAft>
                            <a:buNone/>
                          </a:pPr>
                          <a:r>
                            <a:rPr lang="en-US" sz="1200" kern="0">
                              <a:solidFill>
                                <a:schemeClr val="bg1"/>
                              </a:solidFill>
                              <a:effectLst/>
                            </a:rPr>
                            <a:t>25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199.9396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825533037"/>
                      </a:ext>
                    </a:extLst>
                  </a:tr>
                </a:tbl>
              </a:graphicData>
            </a:graphic>
          </p:graphicFrame>
        </mc:Fallback>
      </mc:AlternateContent>
    </p:spTree>
    <p:extLst>
      <p:ext uri="{BB962C8B-B14F-4D97-AF65-F5344CB8AC3E}">
        <p14:creationId xmlns:p14="http://schemas.microsoft.com/office/powerpoint/2010/main" val="1557457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58271-DBE3-22D2-CB02-BB2971C24B6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614F45B-AB60-3BCB-504F-B1E053A3DD81}"/>
              </a:ext>
            </a:extLst>
          </p:cNvPr>
          <p:cNvSpPr txBox="1"/>
          <p:nvPr/>
        </p:nvSpPr>
        <p:spPr>
          <a:xfrm>
            <a:off x="2916317" y="104775"/>
            <a:ext cx="6097508" cy="464871"/>
          </a:xfrm>
          <a:prstGeom prst="rect">
            <a:avLst/>
          </a:prstGeom>
          <a:noFill/>
        </p:spPr>
        <p:txBody>
          <a:bodyPr wrap="square">
            <a:spAutoFit/>
          </a:bodyPr>
          <a:lstStyle/>
          <a:p>
            <a:pPr>
              <a:lnSpc>
                <a:spcPct val="150000"/>
              </a:lnSpc>
            </a:pPr>
            <a:r>
              <a:rPr lang="en-US"/>
              <a:t>K</a:t>
            </a:r>
            <a:r>
              <a:rPr lang="en-US" baseline="-25000"/>
              <a:t>2</a:t>
            </a:r>
            <a:r>
              <a:rPr lang="en-US"/>
              <a:t> = “erngeuNeoatuwernrauadeyNeoakorernsgdevgneaedro”</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7DDAE7ED-0699-7015-080B-4ECFDEC29ACF}"/>
                  </a:ext>
                </a:extLst>
              </p:cNvPr>
              <p:cNvGraphicFramePr>
                <a:graphicFrameLocks noGrp="1"/>
              </p:cNvGraphicFramePr>
              <p:nvPr>
                <p:extLst>
                  <p:ext uri="{D42A27DB-BD31-4B8C-83A1-F6EECF244321}">
                    <p14:modId xmlns:p14="http://schemas.microsoft.com/office/powerpoint/2010/main" val="4250839811"/>
                  </p:ext>
                </p:extLst>
              </p:nvPr>
            </p:nvGraphicFramePr>
            <p:xfrm>
              <a:off x="98207" y="104775"/>
              <a:ext cx="2457511" cy="6617431"/>
            </p:xfrm>
            <a:graphic>
              <a:graphicData uri="http://schemas.openxmlformats.org/drawingml/2006/table">
                <a:tbl>
                  <a:tblPr firstRow="1" firstCol="1" bandRow="1">
                    <a:tableStyleId>{5940675A-B579-460E-94D1-54222C63F5DA}</a:tableStyleId>
                  </a:tblPr>
                  <a:tblGrid>
                    <a:gridCol w="535400">
                      <a:extLst>
                        <a:ext uri="{9D8B030D-6E8A-4147-A177-3AD203B41FA5}">
                          <a16:colId xmlns:a16="http://schemas.microsoft.com/office/drawing/2014/main" val="2371433027"/>
                        </a:ext>
                      </a:extLst>
                    </a:gridCol>
                    <a:gridCol w="863852">
                      <a:extLst>
                        <a:ext uri="{9D8B030D-6E8A-4147-A177-3AD203B41FA5}">
                          <a16:colId xmlns:a16="http://schemas.microsoft.com/office/drawing/2014/main" val="1918336367"/>
                        </a:ext>
                      </a:extLst>
                    </a:gridCol>
                    <a:gridCol w="1058259">
                      <a:extLst>
                        <a:ext uri="{9D8B030D-6E8A-4147-A177-3AD203B41FA5}">
                          <a16:colId xmlns:a16="http://schemas.microsoft.com/office/drawing/2014/main" val="4170156621"/>
                        </a:ext>
                      </a:extLst>
                    </a:gridCol>
                  </a:tblGrid>
                  <a:tr h="317267">
                    <a:tc>
                      <a:txBody>
                        <a:bodyPr/>
                        <a:lstStyle/>
                        <a:p>
                          <a:pPr marL="0" marR="0" algn="ctr">
                            <a:lnSpc>
                              <a:spcPct val="100000"/>
                            </a:lnSpc>
                            <a:spcAft>
                              <a:spcPts val="800"/>
                            </a:spcAft>
                            <a:buNone/>
                          </a:pPr>
                          <a:r>
                            <a:rPr lang="en-US" sz="1200" kern="0">
                              <a:solidFill>
                                <a:schemeClr val="bg1"/>
                              </a:solidFill>
                              <a:effectLst/>
                            </a:rPr>
                            <a:t>Shift</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tc>
                      <a:txBody>
                        <a:bodyPr/>
                        <a:lstStyle/>
                        <a:p>
                          <a:pPr marL="0" marR="0" algn="ctr">
                            <a:lnSpc>
                              <a:spcPct val="100000"/>
                            </a:lnSpc>
                            <a:spcAft>
                              <a:spcPts val="800"/>
                            </a:spcAft>
                            <a:buNone/>
                          </a:pPr>
                          <a:r>
                            <a:rPr lang="en-US" sz="1200" kern="0">
                              <a:solidFill>
                                <a:schemeClr val="bg1"/>
                              </a:solidFill>
                              <a:effectLst/>
                            </a:rPr>
                            <a:t>Ký tự</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tc>
                      <a:txBody>
                        <a:bodyPr/>
                        <a:lstStyle/>
                        <a:p>
                          <a:pPr marL="0" marR="0" algn="ctr">
                            <a:lnSpc>
                              <a:spcPct val="100000"/>
                            </a:lnSpc>
                            <a:spcAft>
                              <a:spcPts val="0"/>
                            </a:spcAft>
                            <a:buNone/>
                          </a:pPr>
                          <a14:m>
                            <m:oMathPara xmlns:m="http://schemas.openxmlformats.org/officeDocument/2006/math">
                              <m:oMathParaPr>
                                <m:jc m:val="centerGroup"/>
                              </m:oMathParaPr>
                              <m:oMath xmlns:m="http://schemas.openxmlformats.org/officeDocument/2006/math">
                                <m:sSup>
                                  <m:sSupPr>
                                    <m:ctrlPr>
                                      <a:rPr lang="en-US" sz="1200" i="1" kern="100" smtClean="0">
                                        <a:solidFill>
                                          <a:schemeClr val="bg1"/>
                                        </a:solidFill>
                                        <a:effectLst/>
                                        <a:latin typeface="Cambria Math" panose="02040503050406030204" pitchFamily="18" charset="0"/>
                                      </a:rPr>
                                    </m:ctrlPr>
                                  </m:sSupPr>
                                  <m:e>
                                    <m:r>
                                      <a:rPr lang="en-US" sz="1200" kern="100">
                                        <a:solidFill>
                                          <a:schemeClr val="bg1"/>
                                        </a:solidFill>
                                        <a:effectLst/>
                                        <a:latin typeface="Cambria Math" panose="02040503050406030204" pitchFamily="18" charset="0"/>
                                      </a:rPr>
                                      <m:t>𝑥</m:t>
                                    </m:r>
                                  </m:e>
                                  <m:sup>
                                    <m:r>
                                      <a:rPr lang="en-US" sz="1200" kern="100">
                                        <a:solidFill>
                                          <a:schemeClr val="bg1"/>
                                        </a:solidFill>
                                        <a:effectLst/>
                                        <a:latin typeface="Cambria Math" panose="02040503050406030204" pitchFamily="18" charset="0"/>
                                      </a:rPr>
                                      <m:t>2</m:t>
                                    </m:r>
                                  </m:sup>
                                </m:sSup>
                              </m:oMath>
                            </m:oMathPara>
                          </a14:m>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extLst>
                      <a:ext uri="{0D108BD9-81ED-4DB2-BD59-A6C34878D82A}">
                        <a16:rowId xmlns:a16="http://schemas.microsoft.com/office/drawing/2014/main" val="3196020702"/>
                      </a:ext>
                    </a:extLst>
                  </a:tr>
                  <a:tr h="242314">
                    <a:tc>
                      <a:txBody>
                        <a:bodyPr/>
                        <a:lstStyle/>
                        <a:p>
                          <a:pPr marL="0" marR="0" algn="ctr">
                            <a:lnSpc>
                              <a:spcPct val="100000"/>
                            </a:lnSpc>
                            <a:spcAft>
                              <a:spcPts val="800"/>
                            </a:spcAft>
                            <a:buNone/>
                          </a:pPr>
                          <a:r>
                            <a:rPr lang="en-US" sz="1200" kern="0">
                              <a:solidFill>
                                <a:schemeClr val="bg1"/>
                              </a:solidFill>
                              <a:effectLst/>
                            </a:rPr>
                            <a:t>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chemeClr val="accent6">
                            <a:lumMod val="40000"/>
                            <a:lumOff val="60000"/>
                          </a:schemeClr>
                        </a:solidFill>
                      </a:tcPr>
                    </a:tc>
                    <a:tc>
                      <a:txBody>
                        <a:bodyPr/>
                        <a:lstStyle/>
                        <a:p>
                          <a:pPr marL="0" marR="0" algn="ctr">
                            <a:lnSpc>
                              <a:spcPct val="10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chemeClr val="accent6">
                            <a:lumMod val="40000"/>
                            <a:lumOff val="60000"/>
                          </a:schemeClr>
                        </a:solidFill>
                      </a:tcPr>
                    </a:tc>
                    <a:tc>
                      <a:txBody>
                        <a:bodyPr/>
                        <a:lstStyle/>
                        <a:p>
                          <a:pPr marL="0" marR="0" algn="ctr">
                            <a:lnSpc>
                              <a:spcPct val="100000"/>
                            </a:lnSpc>
                            <a:spcAft>
                              <a:spcPts val="800"/>
                            </a:spcAft>
                            <a:buNone/>
                          </a:pPr>
                          <a:r>
                            <a:rPr lang="en-US" sz="1200" kern="0">
                              <a:solidFill>
                                <a:schemeClr val="bg1"/>
                              </a:solidFill>
                              <a:effectLst/>
                            </a:rPr>
                            <a:t>36.11885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chemeClr val="accent6">
                            <a:lumMod val="40000"/>
                            <a:lumOff val="60000"/>
                          </a:schemeClr>
                        </a:solidFill>
                      </a:tcPr>
                    </a:tc>
                    <a:extLst>
                      <a:ext uri="{0D108BD9-81ED-4DB2-BD59-A6C34878D82A}">
                        <a16:rowId xmlns:a16="http://schemas.microsoft.com/office/drawing/2014/main" val="1270130923"/>
                      </a:ext>
                    </a:extLst>
                  </a:tr>
                  <a:tr h="242314">
                    <a:tc>
                      <a:txBody>
                        <a:bodyPr/>
                        <a:lstStyle/>
                        <a:p>
                          <a:pPr marL="0" marR="0" algn="ctr">
                            <a:lnSpc>
                              <a:spcPct val="100000"/>
                            </a:lnSpc>
                            <a:spcAft>
                              <a:spcPts val="800"/>
                            </a:spcAft>
                            <a:buNone/>
                          </a:pPr>
                          <a:r>
                            <a:rPr lang="en-US" sz="1200" kern="0">
                              <a:solidFill>
                                <a:schemeClr val="bg1"/>
                              </a:solidFill>
                              <a:effectLst/>
                            </a:rPr>
                            <a:t>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1651.418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047633870"/>
                      </a:ext>
                    </a:extLst>
                  </a:tr>
                  <a:tr h="242314">
                    <a:tc>
                      <a:txBody>
                        <a:bodyPr/>
                        <a:lstStyle/>
                        <a:p>
                          <a:pPr marL="0" marR="0" algn="ctr">
                            <a:lnSpc>
                              <a:spcPct val="100000"/>
                            </a:lnSpc>
                            <a:spcAft>
                              <a:spcPts val="800"/>
                            </a:spcAft>
                            <a:buNone/>
                          </a:pPr>
                          <a:r>
                            <a:rPr lang="en-US" sz="1200" kern="0">
                              <a:solidFill>
                                <a:schemeClr val="bg1"/>
                              </a:solidFill>
                              <a:effectLst/>
                            </a:rPr>
                            <a:t>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177.3984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512496527"/>
                      </a:ext>
                    </a:extLst>
                  </a:tr>
                  <a:tr h="242314">
                    <a:tc>
                      <a:txBody>
                        <a:bodyPr/>
                        <a:lstStyle/>
                        <a:p>
                          <a:pPr marL="0" marR="0" algn="ctr">
                            <a:lnSpc>
                              <a:spcPct val="100000"/>
                            </a:lnSpc>
                            <a:spcAft>
                              <a:spcPts val="800"/>
                            </a:spcAft>
                            <a:buNone/>
                          </a:pPr>
                          <a:r>
                            <a:rPr lang="en-US" sz="1200" kern="0">
                              <a:solidFill>
                                <a:schemeClr val="bg1"/>
                              </a:solidFill>
                              <a:effectLst/>
                            </a:rPr>
                            <a:t>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619.9013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356863685"/>
                      </a:ext>
                    </a:extLst>
                  </a:tr>
                  <a:tr h="242314">
                    <a:tc>
                      <a:txBody>
                        <a:bodyPr/>
                        <a:lstStyle/>
                        <a:p>
                          <a:pPr marL="0" marR="0" algn="ctr">
                            <a:lnSpc>
                              <a:spcPct val="100000"/>
                            </a:lnSpc>
                            <a:spcAft>
                              <a:spcPts val="800"/>
                            </a:spcAft>
                            <a:buNone/>
                          </a:pPr>
                          <a:r>
                            <a:rPr lang="en-US" sz="1200" kern="0">
                              <a:solidFill>
                                <a:schemeClr val="bg1"/>
                              </a:solidFill>
                              <a:effectLst/>
                            </a:rPr>
                            <a:t>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1053.174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370950372"/>
                      </a:ext>
                    </a:extLst>
                  </a:tr>
                  <a:tr h="242314">
                    <a:tc>
                      <a:txBody>
                        <a:bodyPr/>
                        <a:lstStyle/>
                        <a:p>
                          <a:pPr marL="0" marR="0" algn="ctr">
                            <a:lnSpc>
                              <a:spcPct val="100000"/>
                            </a:lnSpc>
                            <a:spcAft>
                              <a:spcPts val="800"/>
                            </a:spcAft>
                            <a:buNone/>
                          </a:pPr>
                          <a:r>
                            <a:rPr lang="en-US" sz="1200" kern="0">
                              <a:solidFill>
                                <a:schemeClr val="bg1"/>
                              </a:solidFill>
                              <a:effectLst/>
                            </a:rPr>
                            <a:t>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3276.631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231533888"/>
                      </a:ext>
                    </a:extLst>
                  </a:tr>
                  <a:tr h="242314">
                    <a:tc>
                      <a:txBody>
                        <a:bodyPr/>
                        <a:lstStyle/>
                        <a:p>
                          <a:pPr marL="0" marR="0" algn="ctr">
                            <a:lnSpc>
                              <a:spcPct val="100000"/>
                            </a:lnSpc>
                            <a:spcAft>
                              <a:spcPts val="800"/>
                            </a:spcAft>
                            <a:buNone/>
                          </a:pPr>
                          <a:r>
                            <a:rPr lang="en-US" sz="1200" kern="0">
                              <a:solidFill>
                                <a:schemeClr val="bg1"/>
                              </a:solidFill>
                              <a:effectLst/>
                            </a:rPr>
                            <a:t>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282.2989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621612125"/>
                      </a:ext>
                    </a:extLst>
                  </a:tr>
                  <a:tr h="242314">
                    <a:tc>
                      <a:txBody>
                        <a:bodyPr/>
                        <a:lstStyle/>
                        <a:p>
                          <a:pPr marL="0" marR="0" algn="ctr">
                            <a:lnSpc>
                              <a:spcPct val="100000"/>
                            </a:lnSpc>
                            <a:spcAft>
                              <a:spcPts val="800"/>
                            </a:spcAft>
                            <a:buNone/>
                          </a:pPr>
                          <a:r>
                            <a:rPr lang="en-US" sz="1200" kern="0">
                              <a:solidFill>
                                <a:schemeClr val="bg1"/>
                              </a:solidFill>
                              <a:effectLst/>
                            </a:rPr>
                            <a:t>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1834.516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106935971"/>
                      </a:ext>
                    </a:extLst>
                  </a:tr>
                  <a:tr h="242314">
                    <a:tc>
                      <a:txBody>
                        <a:bodyPr/>
                        <a:lstStyle/>
                        <a:p>
                          <a:pPr marL="0" marR="0" algn="ctr">
                            <a:lnSpc>
                              <a:spcPct val="100000"/>
                            </a:lnSpc>
                            <a:spcAft>
                              <a:spcPts val="800"/>
                            </a:spcAft>
                            <a:buNone/>
                          </a:pPr>
                          <a:r>
                            <a:rPr lang="en-US" sz="1200" kern="0">
                              <a:solidFill>
                                <a:schemeClr val="bg1"/>
                              </a:solidFill>
                              <a:effectLst/>
                            </a:rPr>
                            <a:t>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684.2823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810680101"/>
                      </a:ext>
                    </a:extLst>
                  </a:tr>
                  <a:tr h="242314">
                    <a:tc>
                      <a:txBody>
                        <a:bodyPr/>
                        <a:lstStyle/>
                        <a:p>
                          <a:pPr marL="0" marR="0" algn="ctr">
                            <a:lnSpc>
                              <a:spcPct val="100000"/>
                            </a:lnSpc>
                            <a:spcAft>
                              <a:spcPts val="800"/>
                            </a:spcAft>
                            <a:buNone/>
                          </a:pPr>
                          <a:r>
                            <a:rPr lang="en-US" sz="1200" kern="0">
                              <a:solidFill>
                                <a:schemeClr val="bg1"/>
                              </a:solidFill>
                              <a:effectLst/>
                            </a:rPr>
                            <a:t>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381.5901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449910641"/>
                      </a:ext>
                    </a:extLst>
                  </a:tr>
                  <a:tr h="242314">
                    <a:tc>
                      <a:txBody>
                        <a:bodyPr/>
                        <a:lstStyle/>
                        <a:p>
                          <a:pPr marL="0" marR="0" algn="ctr">
                            <a:lnSpc>
                              <a:spcPct val="100000"/>
                            </a:lnSpc>
                            <a:spcAft>
                              <a:spcPts val="800"/>
                            </a:spcAft>
                            <a:buNone/>
                          </a:pPr>
                          <a:r>
                            <a:rPr lang="en-US" sz="1200" kern="0">
                              <a:solidFill>
                                <a:schemeClr val="bg1"/>
                              </a:solidFill>
                              <a:effectLst/>
                            </a:rPr>
                            <a:t>10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691.2004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000584285"/>
                      </a:ext>
                    </a:extLst>
                  </a:tr>
                  <a:tr h="242314">
                    <a:tc>
                      <a:txBody>
                        <a:bodyPr/>
                        <a:lstStyle/>
                        <a:p>
                          <a:pPr marL="0" marR="0" algn="ctr">
                            <a:lnSpc>
                              <a:spcPct val="100000"/>
                            </a:lnSpc>
                            <a:spcAft>
                              <a:spcPts val="800"/>
                            </a:spcAft>
                            <a:buNone/>
                          </a:pPr>
                          <a:r>
                            <a:rPr lang="en-US" sz="1200" kern="0">
                              <a:solidFill>
                                <a:schemeClr val="bg1"/>
                              </a:solidFill>
                              <a:effectLst/>
                            </a:rPr>
                            <a:t>11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266.0266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817798804"/>
                      </a:ext>
                    </a:extLst>
                  </a:tr>
                  <a:tr h="242314">
                    <a:tc>
                      <a:txBody>
                        <a:bodyPr/>
                        <a:lstStyle/>
                        <a:p>
                          <a:pPr marL="0" marR="0" algn="ctr">
                            <a:lnSpc>
                              <a:spcPct val="100000"/>
                            </a:lnSpc>
                            <a:spcAft>
                              <a:spcPts val="800"/>
                            </a:spcAft>
                            <a:buNone/>
                          </a:pPr>
                          <a:r>
                            <a:rPr lang="en-US" sz="1200" kern="0">
                              <a:solidFill>
                                <a:schemeClr val="bg1"/>
                              </a:solidFill>
                              <a:effectLst/>
                            </a:rPr>
                            <a:t>12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129.3165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002459367"/>
                      </a:ext>
                    </a:extLst>
                  </a:tr>
                  <a:tr h="242314">
                    <a:tc>
                      <a:txBody>
                        <a:bodyPr/>
                        <a:lstStyle/>
                        <a:p>
                          <a:pPr marL="0" marR="0" algn="ctr">
                            <a:lnSpc>
                              <a:spcPct val="100000"/>
                            </a:lnSpc>
                            <a:spcAft>
                              <a:spcPts val="800"/>
                            </a:spcAft>
                            <a:buNone/>
                          </a:pPr>
                          <a:r>
                            <a:rPr lang="en-US" sz="1200" kern="0">
                              <a:solidFill>
                                <a:schemeClr val="bg1"/>
                              </a:solidFill>
                              <a:effectLst/>
                            </a:rPr>
                            <a:t>13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280.3482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594795130"/>
                      </a:ext>
                    </a:extLst>
                  </a:tr>
                  <a:tr h="242314">
                    <a:tc>
                      <a:txBody>
                        <a:bodyPr/>
                        <a:lstStyle/>
                        <a:p>
                          <a:pPr marL="0" marR="0" algn="ctr">
                            <a:lnSpc>
                              <a:spcPct val="100000"/>
                            </a:lnSpc>
                            <a:spcAft>
                              <a:spcPts val="800"/>
                            </a:spcAft>
                            <a:buNone/>
                          </a:pPr>
                          <a:r>
                            <a:rPr lang="en-US" sz="1200" kern="0">
                              <a:solidFill>
                                <a:schemeClr val="bg1"/>
                              </a:solidFill>
                              <a:effectLst/>
                            </a:rPr>
                            <a:t>14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3373.655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867560439"/>
                      </a:ext>
                    </a:extLst>
                  </a:tr>
                  <a:tr h="242314">
                    <a:tc>
                      <a:txBody>
                        <a:bodyPr/>
                        <a:lstStyle/>
                        <a:p>
                          <a:pPr marL="0" marR="0" algn="ctr">
                            <a:lnSpc>
                              <a:spcPct val="100000"/>
                            </a:lnSpc>
                            <a:spcAft>
                              <a:spcPts val="800"/>
                            </a:spcAft>
                            <a:buNone/>
                          </a:pPr>
                          <a:r>
                            <a:rPr lang="en-US" sz="1200" kern="0">
                              <a:solidFill>
                                <a:schemeClr val="bg1"/>
                              </a:solidFill>
                              <a:effectLst/>
                            </a:rPr>
                            <a:t>15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651.2157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494982718"/>
                      </a:ext>
                    </a:extLst>
                  </a:tr>
                  <a:tr h="242314">
                    <a:tc>
                      <a:txBody>
                        <a:bodyPr/>
                        <a:lstStyle/>
                        <a:p>
                          <a:pPr marL="0" marR="0" algn="ctr">
                            <a:lnSpc>
                              <a:spcPct val="100000"/>
                            </a:lnSpc>
                            <a:spcAft>
                              <a:spcPts val="800"/>
                            </a:spcAft>
                            <a:buNone/>
                          </a:pPr>
                          <a:r>
                            <a:rPr lang="en-US" sz="1200" kern="0">
                              <a:solidFill>
                                <a:schemeClr val="bg1"/>
                              </a:solidFill>
                              <a:effectLst/>
                            </a:rPr>
                            <a:t>16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860.0063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577906578"/>
                      </a:ext>
                    </a:extLst>
                  </a:tr>
                  <a:tr h="242314">
                    <a:tc>
                      <a:txBody>
                        <a:bodyPr/>
                        <a:lstStyle/>
                        <a:p>
                          <a:pPr marL="0" marR="0" algn="ctr">
                            <a:lnSpc>
                              <a:spcPct val="100000"/>
                            </a:lnSpc>
                            <a:spcAft>
                              <a:spcPts val="800"/>
                            </a:spcAft>
                            <a:buNone/>
                          </a:pPr>
                          <a:r>
                            <a:rPr lang="en-US" sz="1200" kern="0">
                              <a:solidFill>
                                <a:schemeClr val="bg1"/>
                              </a:solidFill>
                              <a:effectLst/>
                            </a:rPr>
                            <a:t>17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642.91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320515558"/>
                      </a:ext>
                    </a:extLst>
                  </a:tr>
                  <a:tr h="242314">
                    <a:tc>
                      <a:txBody>
                        <a:bodyPr/>
                        <a:lstStyle/>
                        <a:p>
                          <a:pPr marL="0" marR="0" algn="ctr">
                            <a:lnSpc>
                              <a:spcPct val="100000"/>
                            </a:lnSpc>
                            <a:spcAft>
                              <a:spcPts val="800"/>
                            </a:spcAft>
                            <a:buNone/>
                          </a:pPr>
                          <a:r>
                            <a:rPr lang="en-US" sz="1200" kern="0">
                              <a:solidFill>
                                <a:schemeClr val="bg1"/>
                              </a:solidFill>
                              <a:effectLst/>
                            </a:rPr>
                            <a:t>18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1222.822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37590360"/>
                      </a:ext>
                    </a:extLst>
                  </a:tr>
                  <a:tr h="242314">
                    <a:tc>
                      <a:txBody>
                        <a:bodyPr/>
                        <a:lstStyle/>
                        <a:p>
                          <a:pPr marL="0" marR="0" algn="ctr">
                            <a:lnSpc>
                              <a:spcPct val="100000"/>
                            </a:lnSpc>
                            <a:spcAft>
                              <a:spcPts val="800"/>
                            </a:spcAft>
                            <a:buNone/>
                          </a:pPr>
                          <a:r>
                            <a:rPr lang="en-US" sz="1200" kern="0">
                              <a:solidFill>
                                <a:schemeClr val="bg1"/>
                              </a:solidFill>
                              <a:effectLst/>
                            </a:rPr>
                            <a:t>19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194.1456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676401013"/>
                      </a:ext>
                    </a:extLst>
                  </a:tr>
                  <a:tr h="242314">
                    <a:tc>
                      <a:txBody>
                        <a:bodyPr/>
                        <a:lstStyle/>
                        <a:p>
                          <a:pPr marL="0" marR="0" algn="ctr">
                            <a:lnSpc>
                              <a:spcPct val="100000"/>
                            </a:lnSpc>
                            <a:spcAft>
                              <a:spcPts val="800"/>
                            </a:spcAft>
                            <a:buNone/>
                          </a:pPr>
                          <a:r>
                            <a:rPr lang="en-US" sz="1200" kern="0">
                              <a:solidFill>
                                <a:schemeClr val="bg1"/>
                              </a:solidFill>
                              <a:effectLst/>
                            </a:rPr>
                            <a:t>20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999.7348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892111708"/>
                      </a:ext>
                    </a:extLst>
                  </a:tr>
                  <a:tr h="242314">
                    <a:tc>
                      <a:txBody>
                        <a:bodyPr/>
                        <a:lstStyle/>
                        <a:p>
                          <a:pPr marL="0" marR="0" algn="ctr">
                            <a:lnSpc>
                              <a:spcPct val="100000"/>
                            </a:lnSpc>
                            <a:spcAft>
                              <a:spcPts val="800"/>
                            </a:spcAft>
                            <a:buNone/>
                          </a:pPr>
                          <a:r>
                            <a:rPr lang="en-US" sz="1200" kern="0">
                              <a:solidFill>
                                <a:schemeClr val="bg1"/>
                              </a:solidFill>
                              <a:effectLst/>
                            </a:rPr>
                            <a:t>21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1739.642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499379786"/>
                      </a:ext>
                    </a:extLst>
                  </a:tr>
                  <a:tr h="242314">
                    <a:tc>
                      <a:txBody>
                        <a:bodyPr/>
                        <a:lstStyle/>
                        <a:p>
                          <a:pPr marL="0" marR="0" algn="ctr">
                            <a:lnSpc>
                              <a:spcPct val="100000"/>
                            </a:lnSpc>
                            <a:spcAft>
                              <a:spcPts val="800"/>
                            </a:spcAft>
                            <a:buNone/>
                          </a:pPr>
                          <a:r>
                            <a:rPr lang="en-US" sz="1200" kern="0">
                              <a:solidFill>
                                <a:schemeClr val="bg1"/>
                              </a:solidFill>
                              <a:effectLst/>
                            </a:rPr>
                            <a:t>22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172.6702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702592749"/>
                      </a:ext>
                    </a:extLst>
                  </a:tr>
                  <a:tr h="242314">
                    <a:tc>
                      <a:txBody>
                        <a:bodyPr/>
                        <a:lstStyle/>
                        <a:p>
                          <a:pPr marL="0" marR="0" algn="ctr">
                            <a:lnSpc>
                              <a:spcPct val="100000"/>
                            </a:lnSpc>
                            <a:spcAft>
                              <a:spcPts val="800"/>
                            </a:spcAft>
                            <a:buNone/>
                          </a:pPr>
                          <a:r>
                            <a:rPr lang="en-US" sz="1200" kern="0">
                              <a:solidFill>
                                <a:schemeClr val="bg1"/>
                              </a:solidFill>
                              <a:effectLst/>
                            </a:rPr>
                            <a:t>23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1163.859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906951458"/>
                      </a:ext>
                    </a:extLst>
                  </a:tr>
                  <a:tr h="242314">
                    <a:tc>
                      <a:txBody>
                        <a:bodyPr/>
                        <a:lstStyle/>
                        <a:p>
                          <a:pPr marL="0" marR="0" algn="ctr">
                            <a:lnSpc>
                              <a:spcPct val="100000"/>
                            </a:lnSpc>
                            <a:spcAft>
                              <a:spcPts val="800"/>
                            </a:spcAft>
                            <a:buNone/>
                          </a:pPr>
                          <a:r>
                            <a:rPr lang="en-US" sz="1200" kern="0">
                              <a:solidFill>
                                <a:schemeClr val="bg1"/>
                              </a:solidFill>
                              <a:effectLst/>
                            </a:rPr>
                            <a:t>24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536.4222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097024627"/>
                      </a:ext>
                    </a:extLst>
                  </a:tr>
                  <a:tr h="242314">
                    <a:tc>
                      <a:txBody>
                        <a:bodyPr/>
                        <a:lstStyle/>
                        <a:p>
                          <a:pPr marL="0" marR="0" algn="ctr">
                            <a:lnSpc>
                              <a:spcPct val="100000"/>
                            </a:lnSpc>
                            <a:spcAft>
                              <a:spcPts val="800"/>
                            </a:spcAft>
                            <a:buNone/>
                          </a:pPr>
                          <a:r>
                            <a:rPr lang="en-US" sz="1200" kern="0">
                              <a:solidFill>
                                <a:schemeClr val="bg1"/>
                              </a:solidFill>
                              <a:effectLst/>
                            </a:rPr>
                            <a:t>25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199.9396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825533037"/>
                      </a:ext>
                    </a:extLst>
                  </a:tr>
                </a:tbl>
              </a:graphicData>
            </a:graphic>
          </p:graphicFrame>
        </mc:Choice>
        <mc:Fallback xmlns="">
          <p:graphicFrame>
            <p:nvGraphicFramePr>
              <p:cNvPr id="5" name="Table 4">
                <a:extLst>
                  <a:ext uri="{FF2B5EF4-FFF2-40B4-BE49-F238E27FC236}">
                    <a16:creationId xmlns:a16="http://schemas.microsoft.com/office/drawing/2014/main" id="{7DDAE7ED-0699-7015-080B-4ECFDEC29ACF}"/>
                  </a:ext>
                </a:extLst>
              </p:cNvPr>
              <p:cNvGraphicFramePr>
                <a:graphicFrameLocks noGrp="1"/>
              </p:cNvGraphicFramePr>
              <p:nvPr>
                <p:extLst>
                  <p:ext uri="{D42A27DB-BD31-4B8C-83A1-F6EECF244321}">
                    <p14:modId xmlns:p14="http://schemas.microsoft.com/office/powerpoint/2010/main" val="4250839811"/>
                  </p:ext>
                </p:extLst>
              </p:nvPr>
            </p:nvGraphicFramePr>
            <p:xfrm>
              <a:off x="98207" y="104775"/>
              <a:ext cx="2457511" cy="6617431"/>
            </p:xfrm>
            <a:graphic>
              <a:graphicData uri="http://schemas.openxmlformats.org/drawingml/2006/table">
                <a:tbl>
                  <a:tblPr firstRow="1" firstCol="1" bandRow="1">
                    <a:tableStyleId>{5940675A-B579-460E-94D1-54222C63F5DA}</a:tableStyleId>
                  </a:tblPr>
                  <a:tblGrid>
                    <a:gridCol w="535400">
                      <a:extLst>
                        <a:ext uri="{9D8B030D-6E8A-4147-A177-3AD203B41FA5}">
                          <a16:colId xmlns:a16="http://schemas.microsoft.com/office/drawing/2014/main" val="2371433027"/>
                        </a:ext>
                      </a:extLst>
                    </a:gridCol>
                    <a:gridCol w="863852">
                      <a:extLst>
                        <a:ext uri="{9D8B030D-6E8A-4147-A177-3AD203B41FA5}">
                          <a16:colId xmlns:a16="http://schemas.microsoft.com/office/drawing/2014/main" val="1918336367"/>
                        </a:ext>
                      </a:extLst>
                    </a:gridCol>
                    <a:gridCol w="1058259">
                      <a:extLst>
                        <a:ext uri="{9D8B030D-6E8A-4147-A177-3AD203B41FA5}">
                          <a16:colId xmlns:a16="http://schemas.microsoft.com/office/drawing/2014/main" val="4170156621"/>
                        </a:ext>
                      </a:extLst>
                    </a:gridCol>
                  </a:tblGrid>
                  <a:tr h="317267">
                    <a:tc>
                      <a:txBody>
                        <a:bodyPr/>
                        <a:lstStyle/>
                        <a:p>
                          <a:pPr marL="0" marR="0" algn="ctr">
                            <a:lnSpc>
                              <a:spcPct val="100000"/>
                            </a:lnSpc>
                            <a:spcAft>
                              <a:spcPts val="800"/>
                            </a:spcAft>
                            <a:buNone/>
                          </a:pPr>
                          <a:r>
                            <a:rPr lang="en-US" sz="1200" kern="0">
                              <a:solidFill>
                                <a:schemeClr val="bg1"/>
                              </a:solidFill>
                              <a:effectLst/>
                            </a:rPr>
                            <a:t>Shift</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tc>
                      <a:txBody>
                        <a:bodyPr/>
                        <a:lstStyle/>
                        <a:p>
                          <a:pPr marL="0" marR="0" algn="ctr">
                            <a:lnSpc>
                              <a:spcPct val="100000"/>
                            </a:lnSpc>
                            <a:spcAft>
                              <a:spcPts val="800"/>
                            </a:spcAft>
                            <a:buNone/>
                          </a:pPr>
                          <a:r>
                            <a:rPr lang="en-US" sz="1200" kern="0">
                              <a:solidFill>
                                <a:schemeClr val="bg1"/>
                              </a:solidFill>
                              <a:effectLst/>
                            </a:rPr>
                            <a:t>Ký tự</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tc>
                      <a:txBody>
                        <a:bodyPr/>
                        <a:lstStyle/>
                        <a:p>
                          <a:endParaRPr lang="en-US"/>
                        </a:p>
                      </a:txBody>
                      <a:tcPr marL="43931" marR="43931" marT="0" marB="0" anchor="ctr">
                        <a:blipFill>
                          <a:blip r:embed="rId3"/>
                          <a:stretch>
                            <a:fillRect l="-132759" t="-1923" r="-1149" b="-2009615"/>
                          </a:stretch>
                        </a:blipFill>
                      </a:tcPr>
                    </a:tc>
                    <a:extLst>
                      <a:ext uri="{0D108BD9-81ED-4DB2-BD59-A6C34878D82A}">
                        <a16:rowId xmlns:a16="http://schemas.microsoft.com/office/drawing/2014/main" val="3196020702"/>
                      </a:ext>
                    </a:extLst>
                  </a:tr>
                  <a:tr h="242314">
                    <a:tc>
                      <a:txBody>
                        <a:bodyPr/>
                        <a:lstStyle/>
                        <a:p>
                          <a:pPr marL="0" marR="0" algn="ctr">
                            <a:lnSpc>
                              <a:spcPct val="100000"/>
                            </a:lnSpc>
                            <a:spcAft>
                              <a:spcPts val="800"/>
                            </a:spcAft>
                            <a:buNone/>
                          </a:pPr>
                          <a:r>
                            <a:rPr lang="en-US" sz="1200" kern="0">
                              <a:solidFill>
                                <a:schemeClr val="bg1"/>
                              </a:solidFill>
                              <a:effectLst/>
                            </a:rPr>
                            <a:t>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chemeClr val="accent6">
                            <a:lumMod val="40000"/>
                            <a:lumOff val="60000"/>
                          </a:schemeClr>
                        </a:solidFill>
                      </a:tcPr>
                    </a:tc>
                    <a:tc>
                      <a:txBody>
                        <a:bodyPr/>
                        <a:lstStyle/>
                        <a:p>
                          <a:pPr marL="0" marR="0" algn="ctr">
                            <a:lnSpc>
                              <a:spcPct val="10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chemeClr val="accent6">
                            <a:lumMod val="40000"/>
                            <a:lumOff val="60000"/>
                          </a:schemeClr>
                        </a:solidFill>
                      </a:tcPr>
                    </a:tc>
                    <a:tc>
                      <a:txBody>
                        <a:bodyPr/>
                        <a:lstStyle/>
                        <a:p>
                          <a:pPr marL="0" marR="0" algn="ctr">
                            <a:lnSpc>
                              <a:spcPct val="100000"/>
                            </a:lnSpc>
                            <a:spcAft>
                              <a:spcPts val="800"/>
                            </a:spcAft>
                            <a:buNone/>
                          </a:pPr>
                          <a:r>
                            <a:rPr lang="en-US" sz="1200" kern="0">
                              <a:solidFill>
                                <a:schemeClr val="bg1"/>
                              </a:solidFill>
                              <a:effectLst/>
                            </a:rPr>
                            <a:t>36.11885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chemeClr val="accent6">
                            <a:lumMod val="40000"/>
                            <a:lumOff val="60000"/>
                          </a:schemeClr>
                        </a:solidFill>
                      </a:tcPr>
                    </a:tc>
                    <a:extLst>
                      <a:ext uri="{0D108BD9-81ED-4DB2-BD59-A6C34878D82A}">
                        <a16:rowId xmlns:a16="http://schemas.microsoft.com/office/drawing/2014/main" val="1270130923"/>
                      </a:ext>
                    </a:extLst>
                  </a:tr>
                  <a:tr h="242314">
                    <a:tc>
                      <a:txBody>
                        <a:bodyPr/>
                        <a:lstStyle/>
                        <a:p>
                          <a:pPr marL="0" marR="0" algn="ctr">
                            <a:lnSpc>
                              <a:spcPct val="100000"/>
                            </a:lnSpc>
                            <a:spcAft>
                              <a:spcPts val="800"/>
                            </a:spcAft>
                            <a:buNone/>
                          </a:pPr>
                          <a:r>
                            <a:rPr lang="en-US" sz="1200" kern="0">
                              <a:solidFill>
                                <a:schemeClr val="bg1"/>
                              </a:solidFill>
                              <a:effectLst/>
                            </a:rPr>
                            <a:t>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1651.418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047633870"/>
                      </a:ext>
                    </a:extLst>
                  </a:tr>
                  <a:tr h="242314">
                    <a:tc>
                      <a:txBody>
                        <a:bodyPr/>
                        <a:lstStyle/>
                        <a:p>
                          <a:pPr marL="0" marR="0" algn="ctr">
                            <a:lnSpc>
                              <a:spcPct val="100000"/>
                            </a:lnSpc>
                            <a:spcAft>
                              <a:spcPts val="800"/>
                            </a:spcAft>
                            <a:buNone/>
                          </a:pPr>
                          <a:r>
                            <a:rPr lang="en-US" sz="1200" kern="0">
                              <a:solidFill>
                                <a:schemeClr val="bg1"/>
                              </a:solidFill>
                              <a:effectLst/>
                            </a:rPr>
                            <a:t>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177.3984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512496527"/>
                      </a:ext>
                    </a:extLst>
                  </a:tr>
                  <a:tr h="242314">
                    <a:tc>
                      <a:txBody>
                        <a:bodyPr/>
                        <a:lstStyle/>
                        <a:p>
                          <a:pPr marL="0" marR="0" algn="ctr">
                            <a:lnSpc>
                              <a:spcPct val="100000"/>
                            </a:lnSpc>
                            <a:spcAft>
                              <a:spcPts val="800"/>
                            </a:spcAft>
                            <a:buNone/>
                          </a:pPr>
                          <a:r>
                            <a:rPr lang="en-US" sz="1200" kern="0">
                              <a:solidFill>
                                <a:schemeClr val="bg1"/>
                              </a:solidFill>
                              <a:effectLst/>
                            </a:rPr>
                            <a:t>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619.9013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356863685"/>
                      </a:ext>
                    </a:extLst>
                  </a:tr>
                  <a:tr h="242314">
                    <a:tc>
                      <a:txBody>
                        <a:bodyPr/>
                        <a:lstStyle/>
                        <a:p>
                          <a:pPr marL="0" marR="0" algn="ctr">
                            <a:lnSpc>
                              <a:spcPct val="100000"/>
                            </a:lnSpc>
                            <a:spcAft>
                              <a:spcPts val="800"/>
                            </a:spcAft>
                            <a:buNone/>
                          </a:pPr>
                          <a:r>
                            <a:rPr lang="en-US" sz="1200" kern="0">
                              <a:solidFill>
                                <a:schemeClr val="bg1"/>
                              </a:solidFill>
                              <a:effectLst/>
                            </a:rPr>
                            <a:t>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1053.174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370950372"/>
                      </a:ext>
                    </a:extLst>
                  </a:tr>
                  <a:tr h="242314">
                    <a:tc>
                      <a:txBody>
                        <a:bodyPr/>
                        <a:lstStyle/>
                        <a:p>
                          <a:pPr marL="0" marR="0" algn="ctr">
                            <a:lnSpc>
                              <a:spcPct val="100000"/>
                            </a:lnSpc>
                            <a:spcAft>
                              <a:spcPts val="800"/>
                            </a:spcAft>
                            <a:buNone/>
                          </a:pPr>
                          <a:r>
                            <a:rPr lang="en-US" sz="1200" kern="0">
                              <a:solidFill>
                                <a:schemeClr val="bg1"/>
                              </a:solidFill>
                              <a:effectLst/>
                            </a:rPr>
                            <a:t>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3276.631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231533888"/>
                      </a:ext>
                    </a:extLst>
                  </a:tr>
                  <a:tr h="242314">
                    <a:tc>
                      <a:txBody>
                        <a:bodyPr/>
                        <a:lstStyle/>
                        <a:p>
                          <a:pPr marL="0" marR="0" algn="ctr">
                            <a:lnSpc>
                              <a:spcPct val="100000"/>
                            </a:lnSpc>
                            <a:spcAft>
                              <a:spcPts val="800"/>
                            </a:spcAft>
                            <a:buNone/>
                          </a:pPr>
                          <a:r>
                            <a:rPr lang="en-US" sz="1200" kern="0">
                              <a:solidFill>
                                <a:schemeClr val="bg1"/>
                              </a:solidFill>
                              <a:effectLst/>
                            </a:rPr>
                            <a:t>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282.2989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621612125"/>
                      </a:ext>
                    </a:extLst>
                  </a:tr>
                  <a:tr h="242314">
                    <a:tc>
                      <a:txBody>
                        <a:bodyPr/>
                        <a:lstStyle/>
                        <a:p>
                          <a:pPr marL="0" marR="0" algn="ctr">
                            <a:lnSpc>
                              <a:spcPct val="100000"/>
                            </a:lnSpc>
                            <a:spcAft>
                              <a:spcPts val="800"/>
                            </a:spcAft>
                            <a:buNone/>
                          </a:pPr>
                          <a:r>
                            <a:rPr lang="en-US" sz="1200" kern="0">
                              <a:solidFill>
                                <a:schemeClr val="bg1"/>
                              </a:solidFill>
                              <a:effectLst/>
                            </a:rPr>
                            <a:t>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1834.516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106935971"/>
                      </a:ext>
                    </a:extLst>
                  </a:tr>
                  <a:tr h="242314">
                    <a:tc>
                      <a:txBody>
                        <a:bodyPr/>
                        <a:lstStyle/>
                        <a:p>
                          <a:pPr marL="0" marR="0" algn="ctr">
                            <a:lnSpc>
                              <a:spcPct val="100000"/>
                            </a:lnSpc>
                            <a:spcAft>
                              <a:spcPts val="800"/>
                            </a:spcAft>
                            <a:buNone/>
                          </a:pPr>
                          <a:r>
                            <a:rPr lang="en-US" sz="1200" kern="0">
                              <a:solidFill>
                                <a:schemeClr val="bg1"/>
                              </a:solidFill>
                              <a:effectLst/>
                            </a:rPr>
                            <a:t>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684.2823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810680101"/>
                      </a:ext>
                    </a:extLst>
                  </a:tr>
                  <a:tr h="242314">
                    <a:tc>
                      <a:txBody>
                        <a:bodyPr/>
                        <a:lstStyle/>
                        <a:p>
                          <a:pPr marL="0" marR="0" algn="ctr">
                            <a:lnSpc>
                              <a:spcPct val="100000"/>
                            </a:lnSpc>
                            <a:spcAft>
                              <a:spcPts val="800"/>
                            </a:spcAft>
                            <a:buNone/>
                          </a:pPr>
                          <a:r>
                            <a:rPr lang="en-US" sz="1200" kern="0">
                              <a:solidFill>
                                <a:schemeClr val="bg1"/>
                              </a:solidFill>
                              <a:effectLst/>
                            </a:rPr>
                            <a:t>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381.5901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449910641"/>
                      </a:ext>
                    </a:extLst>
                  </a:tr>
                  <a:tr h="242314">
                    <a:tc>
                      <a:txBody>
                        <a:bodyPr/>
                        <a:lstStyle/>
                        <a:p>
                          <a:pPr marL="0" marR="0" algn="ctr">
                            <a:lnSpc>
                              <a:spcPct val="100000"/>
                            </a:lnSpc>
                            <a:spcAft>
                              <a:spcPts val="800"/>
                            </a:spcAft>
                            <a:buNone/>
                          </a:pPr>
                          <a:r>
                            <a:rPr lang="en-US" sz="1200" kern="0">
                              <a:solidFill>
                                <a:schemeClr val="bg1"/>
                              </a:solidFill>
                              <a:effectLst/>
                            </a:rPr>
                            <a:t>10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691.2004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000584285"/>
                      </a:ext>
                    </a:extLst>
                  </a:tr>
                  <a:tr h="242314">
                    <a:tc>
                      <a:txBody>
                        <a:bodyPr/>
                        <a:lstStyle/>
                        <a:p>
                          <a:pPr marL="0" marR="0" algn="ctr">
                            <a:lnSpc>
                              <a:spcPct val="100000"/>
                            </a:lnSpc>
                            <a:spcAft>
                              <a:spcPts val="800"/>
                            </a:spcAft>
                            <a:buNone/>
                          </a:pPr>
                          <a:r>
                            <a:rPr lang="en-US" sz="1200" kern="0">
                              <a:solidFill>
                                <a:schemeClr val="bg1"/>
                              </a:solidFill>
                              <a:effectLst/>
                            </a:rPr>
                            <a:t>11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266.0266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817798804"/>
                      </a:ext>
                    </a:extLst>
                  </a:tr>
                  <a:tr h="242314">
                    <a:tc>
                      <a:txBody>
                        <a:bodyPr/>
                        <a:lstStyle/>
                        <a:p>
                          <a:pPr marL="0" marR="0" algn="ctr">
                            <a:lnSpc>
                              <a:spcPct val="100000"/>
                            </a:lnSpc>
                            <a:spcAft>
                              <a:spcPts val="800"/>
                            </a:spcAft>
                            <a:buNone/>
                          </a:pPr>
                          <a:r>
                            <a:rPr lang="en-US" sz="1200" kern="0">
                              <a:solidFill>
                                <a:schemeClr val="bg1"/>
                              </a:solidFill>
                              <a:effectLst/>
                            </a:rPr>
                            <a:t>12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129.3165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002459367"/>
                      </a:ext>
                    </a:extLst>
                  </a:tr>
                  <a:tr h="242314">
                    <a:tc>
                      <a:txBody>
                        <a:bodyPr/>
                        <a:lstStyle/>
                        <a:p>
                          <a:pPr marL="0" marR="0" algn="ctr">
                            <a:lnSpc>
                              <a:spcPct val="100000"/>
                            </a:lnSpc>
                            <a:spcAft>
                              <a:spcPts val="800"/>
                            </a:spcAft>
                            <a:buNone/>
                          </a:pPr>
                          <a:r>
                            <a:rPr lang="en-US" sz="1200" kern="0">
                              <a:solidFill>
                                <a:schemeClr val="bg1"/>
                              </a:solidFill>
                              <a:effectLst/>
                            </a:rPr>
                            <a:t>13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280.3482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594795130"/>
                      </a:ext>
                    </a:extLst>
                  </a:tr>
                  <a:tr h="242314">
                    <a:tc>
                      <a:txBody>
                        <a:bodyPr/>
                        <a:lstStyle/>
                        <a:p>
                          <a:pPr marL="0" marR="0" algn="ctr">
                            <a:lnSpc>
                              <a:spcPct val="100000"/>
                            </a:lnSpc>
                            <a:spcAft>
                              <a:spcPts val="800"/>
                            </a:spcAft>
                            <a:buNone/>
                          </a:pPr>
                          <a:r>
                            <a:rPr lang="en-US" sz="1200" kern="0">
                              <a:solidFill>
                                <a:schemeClr val="bg1"/>
                              </a:solidFill>
                              <a:effectLst/>
                            </a:rPr>
                            <a:t>14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3373.655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867560439"/>
                      </a:ext>
                    </a:extLst>
                  </a:tr>
                  <a:tr h="242314">
                    <a:tc>
                      <a:txBody>
                        <a:bodyPr/>
                        <a:lstStyle/>
                        <a:p>
                          <a:pPr marL="0" marR="0" algn="ctr">
                            <a:lnSpc>
                              <a:spcPct val="100000"/>
                            </a:lnSpc>
                            <a:spcAft>
                              <a:spcPts val="800"/>
                            </a:spcAft>
                            <a:buNone/>
                          </a:pPr>
                          <a:r>
                            <a:rPr lang="en-US" sz="1200" kern="0">
                              <a:solidFill>
                                <a:schemeClr val="bg1"/>
                              </a:solidFill>
                              <a:effectLst/>
                            </a:rPr>
                            <a:t>15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651.2157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494982718"/>
                      </a:ext>
                    </a:extLst>
                  </a:tr>
                  <a:tr h="242314">
                    <a:tc>
                      <a:txBody>
                        <a:bodyPr/>
                        <a:lstStyle/>
                        <a:p>
                          <a:pPr marL="0" marR="0" algn="ctr">
                            <a:lnSpc>
                              <a:spcPct val="100000"/>
                            </a:lnSpc>
                            <a:spcAft>
                              <a:spcPts val="800"/>
                            </a:spcAft>
                            <a:buNone/>
                          </a:pPr>
                          <a:r>
                            <a:rPr lang="en-US" sz="1200" kern="0">
                              <a:solidFill>
                                <a:schemeClr val="bg1"/>
                              </a:solidFill>
                              <a:effectLst/>
                            </a:rPr>
                            <a:t>16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860.0063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577906578"/>
                      </a:ext>
                    </a:extLst>
                  </a:tr>
                  <a:tr h="242314">
                    <a:tc>
                      <a:txBody>
                        <a:bodyPr/>
                        <a:lstStyle/>
                        <a:p>
                          <a:pPr marL="0" marR="0" algn="ctr">
                            <a:lnSpc>
                              <a:spcPct val="100000"/>
                            </a:lnSpc>
                            <a:spcAft>
                              <a:spcPts val="800"/>
                            </a:spcAft>
                            <a:buNone/>
                          </a:pPr>
                          <a:r>
                            <a:rPr lang="en-US" sz="1200" kern="0">
                              <a:solidFill>
                                <a:schemeClr val="bg1"/>
                              </a:solidFill>
                              <a:effectLst/>
                            </a:rPr>
                            <a:t>17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642.91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320515558"/>
                      </a:ext>
                    </a:extLst>
                  </a:tr>
                  <a:tr h="242314">
                    <a:tc>
                      <a:txBody>
                        <a:bodyPr/>
                        <a:lstStyle/>
                        <a:p>
                          <a:pPr marL="0" marR="0" algn="ctr">
                            <a:lnSpc>
                              <a:spcPct val="100000"/>
                            </a:lnSpc>
                            <a:spcAft>
                              <a:spcPts val="800"/>
                            </a:spcAft>
                            <a:buNone/>
                          </a:pPr>
                          <a:r>
                            <a:rPr lang="en-US" sz="1200" kern="0">
                              <a:solidFill>
                                <a:schemeClr val="bg1"/>
                              </a:solidFill>
                              <a:effectLst/>
                            </a:rPr>
                            <a:t>18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1222.822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37590360"/>
                      </a:ext>
                    </a:extLst>
                  </a:tr>
                  <a:tr h="242314">
                    <a:tc>
                      <a:txBody>
                        <a:bodyPr/>
                        <a:lstStyle/>
                        <a:p>
                          <a:pPr marL="0" marR="0" algn="ctr">
                            <a:lnSpc>
                              <a:spcPct val="100000"/>
                            </a:lnSpc>
                            <a:spcAft>
                              <a:spcPts val="800"/>
                            </a:spcAft>
                            <a:buNone/>
                          </a:pPr>
                          <a:r>
                            <a:rPr lang="en-US" sz="1200" kern="0">
                              <a:solidFill>
                                <a:schemeClr val="bg1"/>
                              </a:solidFill>
                              <a:effectLst/>
                            </a:rPr>
                            <a:t>19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194.1456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676401013"/>
                      </a:ext>
                    </a:extLst>
                  </a:tr>
                  <a:tr h="242314">
                    <a:tc>
                      <a:txBody>
                        <a:bodyPr/>
                        <a:lstStyle/>
                        <a:p>
                          <a:pPr marL="0" marR="0" algn="ctr">
                            <a:lnSpc>
                              <a:spcPct val="100000"/>
                            </a:lnSpc>
                            <a:spcAft>
                              <a:spcPts val="800"/>
                            </a:spcAft>
                            <a:buNone/>
                          </a:pPr>
                          <a:r>
                            <a:rPr lang="en-US" sz="1200" kern="0">
                              <a:solidFill>
                                <a:schemeClr val="bg1"/>
                              </a:solidFill>
                              <a:effectLst/>
                            </a:rPr>
                            <a:t>20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999.7348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892111708"/>
                      </a:ext>
                    </a:extLst>
                  </a:tr>
                  <a:tr h="242314">
                    <a:tc>
                      <a:txBody>
                        <a:bodyPr/>
                        <a:lstStyle/>
                        <a:p>
                          <a:pPr marL="0" marR="0" algn="ctr">
                            <a:lnSpc>
                              <a:spcPct val="100000"/>
                            </a:lnSpc>
                            <a:spcAft>
                              <a:spcPts val="800"/>
                            </a:spcAft>
                            <a:buNone/>
                          </a:pPr>
                          <a:r>
                            <a:rPr lang="en-US" sz="1200" kern="0">
                              <a:solidFill>
                                <a:schemeClr val="bg1"/>
                              </a:solidFill>
                              <a:effectLst/>
                            </a:rPr>
                            <a:t>21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1739.642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499379786"/>
                      </a:ext>
                    </a:extLst>
                  </a:tr>
                  <a:tr h="242314">
                    <a:tc>
                      <a:txBody>
                        <a:bodyPr/>
                        <a:lstStyle/>
                        <a:p>
                          <a:pPr marL="0" marR="0" algn="ctr">
                            <a:lnSpc>
                              <a:spcPct val="100000"/>
                            </a:lnSpc>
                            <a:spcAft>
                              <a:spcPts val="800"/>
                            </a:spcAft>
                            <a:buNone/>
                          </a:pPr>
                          <a:r>
                            <a:rPr lang="en-US" sz="1200" kern="0">
                              <a:solidFill>
                                <a:schemeClr val="bg1"/>
                              </a:solidFill>
                              <a:effectLst/>
                            </a:rPr>
                            <a:t>22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172.6702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702592749"/>
                      </a:ext>
                    </a:extLst>
                  </a:tr>
                  <a:tr h="242314">
                    <a:tc>
                      <a:txBody>
                        <a:bodyPr/>
                        <a:lstStyle/>
                        <a:p>
                          <a:pPr marL="0" marR="0" algn="ctr">
                            <a:lnSpc>
                              <a:spcPct val="100000"/>
                            </a:lnSpc>
                            <a:spcAft>
                              <a:spcPts val="800"/>
                            </a:spcAft>
                            <a:buNone/>
                          </a:pPr>
                          <a:r>
                            <a:rPr lang="en-US" sz="1200" kern="0">
                              <a:solidFill>
                                <a:schemeClr val="bg1"/>
                              </a:solidFill>
                              <a:effectLst/>
                            </a:rPr>
                            <a:t>23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1163.859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906951458"/>
                      </a:ext>
                    </a:extLst>
                  </a:tr>
                  <a:tr h="242314">
                    <a:tc>
                      <a:txBody>
                        <a:bodyPr/>
                        <a:lstStyle/>
                        <a:p>
                          <a:pPr marL="0" marR="0" algn="ctr">
                            <a:lnSpc>
                              <a:spcPct val="100000"/>
                            </a:lnSpc>
                            <a:spcAft>
                              <a:spcPts val="800"/>
                            </a:spcAft>
                            <a:buNone/>
                          </a:pPr>
                          <a:r>
                            <a:rPr lang="en-US" sz="1200" kern="0">
                              <a:solidFill>
                                <a:schemeClr val="bg1"/>
                              </a:solidFill>
                              <a:effectLst/>
                            </a:rPr>
                            <a:t>24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536.4222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097024627"/>
                      </a:ext>
                    </a:extLst>
                  </a:tr>
                  <a:tr h="242314">
                    <a:tc>
                      <a:txBody>
                        <a:bodyPr/>
                        <a:lstStyle/>
                        <a:p>
                          <a:pPr marL="0" marR="0" algn="ctr">
                            <a:lnSpc>
                              <a:spcPct val="100000"/>
                            </a:lnSpc>
                            <a:spcAft>
                              <a:spcPts val="800"/>
                            </a:spcAft>
                            <a:buNone/>
                          </a:pPr>
                          <a:r>
                            <a:rPr lang="en-US" sz="1200" kern="0">
                              <a:solidFill>
                                <a:schemeClr val="bg1"/>
                              </a:solidFill>
                              <a:effectLst/>
                            </a:rPr>
                            <a:t>25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199.9396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825533037"/>
                      </a:ext>
                    </a:extLst>
                  </a:tr>
                </a:tbl>
              </a:graphicData>
            </a:graphic>
          </p:graphicFrame>
        </mc:Fallback>
      </mc:AlternateContent>
      <p:sp>
        <p:nvSpPr>
          <p:cNvPr id="3" name="Content Placeholder 2">
            <a:extLst>
              <a:ext uri="{FF2B5EF4-FFF2-40B4-BE49-F238E27FC236}">
                <a16:creationId xmlns:a16="http://schemas.microsoft.com/office/drawing/2014/main" id="{4C7DB04B-86E5-6E71-389A-97F59B64B3E5}"/>
              </a:ext>
            </a:extLst>
          </p:cNvPr>
          <p:cNvSpPr>
            <a:spLocks noGrp="1"/>
          </p:cNvSpPr>
          <p:nvPr>
            <p:ph idx="1"/>
          </p:nvPr>
        </p:nvSpPr>
        <p:spPr>
          <a:xfrm>
            <a:off x="2916317" y="847851"/>
            <a:ext cx="8346194" cy="4351338"/>
          </a:xfrm>
        </p:spPr>
        <p:txBody>
          <a:bodyPr>
            <a:normAutofit/>
          </a:bodyPr>
          <a:lstStyle/>
          <a:p>
            <a:pPr marL="0" indent="0" algn="just">
              <a:lnSpc>
                <a:spcPct val="150000"/>
              </a:lnSpc>
              <a:buNone/>
            </a:pPr>
            <a:r>
              <a:rPr lang="vi-VN" sz="2000">
                <a:latin typeface="Calibri" panose="020F0502020204030204" pitchFamily="34" charset="0"/>
                <a:cs typeface="Calibri" panose="020F0502020204030204" pitchFamily="34" charset="0"/>
              </a:rPr>
              <a:t>Dựa vào kết quả trên, shift = 0 tương ứng với ký tự khóa “A” có chi bình phương nhỏ nhất là 36.11885, điều này cho thấy “A” rất có khả năng là ký tự khóa đúng cho vị trí đang xét. </a:t>
            </a:r>
            <a:endParaRPr lang="en-US" sz="2000">
              <a:latin typeface="Calibri" panose="020F0502020204030204" pitchFamily="34" charset="0"/>
              <a:cs typeface="Calibri" panose="020F0502020204030204" pitchFamily="34" charset="0"/>
            </a:endParaRPr>
          </a:p>
          <a:p>
            <a:pPr marL="0" indent="0" algn="just">
              <a:lnSpc>
                <a:spcPct val="150000"/>
              </a:lnSpc>
              <a:buNone/>
            </a:pPr>
            <a:r>
              <a:rPr lang="vi-VN" sz="2000">
                <a:latin typeface="Calibri" panose="020F0502020204030204" pitchFamily="34" charset="0"/>
                <a:cs typeface="Calibri" panose="020F0502020204030204" pitchFamily="34" charset="0"/>
              </a:rPr>
              <a:t>Kết luận: ký tự khóa tiềm năng của K</a:t>
            </a:r>
            <a:r>
              <a:rPr lang="vi-VN" sz="2000" baseline="-25000">
                <a:latin typeface="Calibri" panose="020F0502020204030204" pitchFamily="34" charset="0"/>
                <a:cs typeface="Calibri" panose="020F0502020204030204" pitchFamily="34" charset="0"/>
              </a:rPr>
              <a:t>2</a:t>
            </a:r>
            <a:r>
              <a:rPr lang="vi-VN" sz="2000">
                <a:latin typeface="Calibri" panose="020F0502020204030204" pitchFamily="34" charset="0"/>
                <a:cs typeface="Calibri" panose="020F0502020204030204" pitchFamily="34" charset="0"/>
              </a:rPr>
              <a:t> là “A”</a:t>
            </a:r>
            <a:endParaRPr lang="en-US" sz="20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524965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5738-2C68-2441-A6AD-F84436400E87}"/>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18EF1DAE-DD29-8BBB-4203-28D7E793B9CC}"/>
              </a:ext>
            </a:extLst>
          </p:cNvPr>
          <p:cNvSpPr txBox="1"/>
          <p:nvPr/>
        </p:nvSpPr>
        <p:spPr>
          <a:xfrm>
            <a:off x="219075" y="104775"/>
            <a:ext cx="11356818" cy="609782"/>
          </a:xfrm>
          <a:prstGeom prst="rect">
            <a:avLst/>
          </a:prstGeom>
          <a:noFill/>
        </p:spPr>
        <p:txBody>
          <a:bodyPr wrap="square">
            <a:spAutoFit/>
          </a:bodyPr>
          <a:lstStyle/>
          <a:p>
            <a:pPr algn="just">
              <a:lnSpc>
                <a:spcPct val="150000"/>
              </a:lnSpc>
            </a:pPr>
            <a:r>
              <a:rPr lang="en-US" sz="2500" b="1"/>
              <a:t>Giả mã K</a:t>
            </a:r>
            <a:r>
              <a:rPr lang="en-US" sz="2500" b="1" baseline="-25000"/>
              <a:t>3</a:t>
            </a:r>
            <a:endParaRPr lang="en-US" sz="2500" b="1" kern="100">
              <a:solidFill>
                <a:srgbClr val="00B0F0"/>
              </a:solidFill>
              <a:effectLst/>
              <a:ea typeface="Aptos" panose="020B0004020202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52766105-323E-B49D-AB50-9F2302B29A0D}"/>
              </a:ext>
            </a:extLst>
          </p:cNvPr>
          <p:cNvSpPr txBox="1"/>
          <p:nvPr/>
        </p:nvSpPr>
        <p:spPr>
          <a:xfrm>
            <a:off x="620531" y="714557"/>
            <a:ext cx="7219950" cy="1429622"/>
          </a:xfrm>
          <a:prstGeom prst="rect">
            <a:avLst/>
          </a:prstGeom>
          <a:noFill/>
        </p:spPr>
        <p:txBody>
          <a:bodyPr wrap="square">
            <a:spAutoFit/>
          </a:bodyPr>
          <a:lstStyle/>
          <a:p>
            <a:pPr>
              <a:lnSpc>
                <a:spcPct val="150000"/>
              </a:lnSpc>
            </a:pPr>
            <a:r>
              <a:rPr lang="en-US" sz="2000"/>
              <a:t>K</a:t>
            </a:r>
            <a:r>
              <a:rPr lang="en-US" sz="2000" baseline="-25000" dirty="0"/>
              <a:t>3</a:t>
            </a:r>
            <a:r>
              <a:rPr lang="en-US" sz="2000"/>
              <a:t> = “</a:t>
            </a:r>
            <a:r>
              <a:rPr lang="en-US"/>
              <a:t>ozgbrnxkgerwgozgnkggxkhxkgfxnrozgthuGxhteetamn</a:t>
            </a:r>
            <a:r>
              <a:rPr lang="en-US" sz="2000"/>
              <a:t>”</a:t>
            </a:r>
          </a:p>
          <a:p>
            <a:pPr>
              <a:lnSpc>
                <a:spcPct val="150000"/>
              </a:lnSpc>
            </a:pPr>
            <a:r>
              <a:rPr lang="en-US" sz="2000"/>
              <a:t>Số lượng ký tự của K</a:t>
            </a:r>
            <a:r>
              <a:rPr lang="en-US" sz="2000" baseline="-25000"/>
              <a:t>3</a:t>
            </a:r>
            <a:r>
              <a:rPr lang="en-US" sz="2000"/>
              <a:t>: </a:t>
            </a:r>
          </a:p>
          <a:p>
            <a:pPr>
              <a:lnSpc>
                <a:spcPct val="150000"/>
              </a:lnSpc>
            </a:pPr>
            <a:r>
              <a:rPr lang="en-US" sz="2000"/>
              <a:t>Tính tuần suất kỳ vọng E</a:t>
            </a:r>
            <a:r>
              <a:rPr lang="en-US" sz="2000" baseline="-25000"/>
              <a:t>i</a:t>
            </a:r>
            <a:r>
              <a:rPr lang="en-US" sz="2000"/>
              <a: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C9E9947-7E78-EFA6-0525-EC3267E968C8}"/>
                  </a:ext>
                </a:extLst>
              </p:cNvPr>
              <p:cNvSpPr txBox="1"/>
              <p:nvPr/>
            </p:nvSpPr>
            <p:spPr>
              <a:xfrm>
                <a:off x="3473450" y="1284607"/>
                <a:ext cx="137795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3</m:t>
                          </m:r>
                        </m:sub>
                      </m:sSub>
                      <m:r>
                        <a:rPr lang="en-US" i="0">
                          <a:latin typeface="Cambria Math" panose="02040503050406030204" pitchFamily="18" charset="0"/>
                        </a:rPr>
                        <m:t>=46</m:t>
                      </m:r>
                    </m:oMath>
                  </m:oMathPara>
                </a14:m>
                <a:endParaRPr lang="en-US"/>
              </a:p>
            </p:txBody>
          </p:sp>
        </mc:Choice>
        <mc:Fallback xmlns="">
          <p:sp>
            <p:nvSpPr>
              <p:cNvPr id="5" name="TextBox 4">
                <a:extLst>
                  <a:ext uri="{FF2B5EF4-FFF2-40B4-BE49-F238E27FC236}">
                    <a16:creationId xmlns:a16="http://schemas.microsoft.com/office/drawing/2014/main" id="{3C9E9947-7E78-EFA6-0525-EC3267E968C8}"/>
                  </a:ext>
                </a:extLst>
              </p:cNvPr>
              <p:cNvSpPr txBox="1">
                <a:spLocks noRot="1" noChangeAspect="1" noMove="1" noResize="1" noEditPoints="1" noAdjustHandles="1" noChangeArrowheads="1" noChangeShapeType="1" noTextEdit="1"/>
              </p:cNvSpPr>
              <p:nvPr/>
            </p:nvSpPr>
            <p:spPr>
              <a:xfrm>
                <a:off x="3473450" y="1284607"/>
                <a:ext cx="1377950"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84A6184-798E-6232-74F3-F408DDD49716}"/>
                  </a:ext>
                </a:extLst>
              </p:cNvPr>
              <p:cNvSpPr txBox="1"/>
              <p:nvPr/>
            </p:nvSpPr>
            <p:spPr>
              <a:xfrm>
                <a:off x="3473450" y="1779609"/>
                <a:ext cx="1831063"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𝑖</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𝑖</m:t>
                          </m:r>
                        </m:sub>
                      </m:sSub>
                      <m:r>
                        <a:rPr lang="en-US" sz="2000" i="0">
                          <a:latin typeface="Cambria Math" panose="02040503050406030204" pitchFamily="18" charset="0"/>
                        </a:rPr>
                        <m:t>×</m:t>
                      </m:r>
                      <m:sSub>
                        <m:sSubPr>
                          <m:ctrlPr>
                            <a:rPr lang="en-US" sz="2000" i="1" smtClean="0">
                              <a:latin typeface="Cambria Math" panose="02040503050406030204" pitchFamily="18" charset="0"/>
                            </a:rPr>
                          </m:ctrlPr>
                        </m:sSubPr>
                        <m:e>
                          <m:r>
                            <a:rPr lang="en-US" sz="2000" i="1">
                              <a:latin typeface="Cambria Math" panose="02040503050406030204" pitchFamily="18" charset="0"/>
                            </a:rPr>
                            <m:t>𝑁</m:t>
                          </m:r>
                        </m:e>
                        <m:sub>
                          <m:r>
                            <a:rPr lang="en-US" sz="2000" b="0" i="1" smtClean="0">
                              <a:latin typeface="Cambria Math" panose="02040503050406030204" pitchFamily="18" charset="0"/>
                            </a:rPr>
                            <m:t>3</m:t>
                          </m:r>
                        </m:sub>
                      </m:sSub>
                    </m:oMath>
                  </m:oMathPara>
                </a14:m>
                <a:endParaRPr lang="en-US" sz="2000"/>
              </a:p>
            </p:txBody>
          </p:sp>
        </mc:Choice>
        <mc:Fallback xmlns="">
          <p:sp>
            <p:nvSpPr>
              <p:cNvPr id="10" name="TextBox 9">
                <a:extLst>
                  <a:ext uri="{FF2B5EF4-FFF2-40B4-BE49-F238E27FC236}">
                    <a16:creationId xmlns:a16="http://schemas.microsoft.com/office/drawing/2014/main" id="{284A6184-798E-6232-74F3-F408DDD49716}"/>
                  </a:ext>
                </a:extLst>
              </p:cNvPr>
              <p:cNvSpPr txBox="1">
                <a:spLocks noRot="1" noChangeAspect="1" noMove="1" noResize="1" noEditPoints="1" noAdjustHandles="1" noChangeArrowheads="1" noChangeShapeType="1" noTextEdit="1"/>
              </p:cNvSpPr>
              <p:nvPr/>
            </p:nvSpPr>
            <p:spPr>
              <a:xfrm>
                <a:off x="3473450" y="1779609"/>
                <a:ext cx="1831063" cy="400110"/>
              </a:xfrm>
              <a:prstGeom prst="rect">
                <a:avLst/>
              </a:prstGeom>
              <a:blipFill>
                <a:blip r:embed="rId4"/>
                <a:stretch>
                  <a:fillRect b="-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Content Placeholder 14">
                <a:extLst>
                  <a:ext uri="{FF2B5EF4-FFF2-40B4-BE49-F238E27FC236}">
                    <a16:creationId xmlns:a16="http://schemas.microsoft.com/office/drawing/2014/main" id="{84EBD880-6C33-831D-00EB-9B207B46DA1A}"/>
                  </a:ext>
                </a:extLst>
              </p:cNvPr>
              <p:cNvGraphicFramePr>
                <a:graphicFrameLocks noGrp="1"/>
              </p:cNvGraphicFramePr>
              <p:nvPr>
                <p:ph idx="1"/>
              </p:nvPr>
            </p:nvGraphicFramePr>
            <p:xfrm>
              <a:off x="9239250" y="55428"/>
              <a:ext cx="2818110" cy="6747142"/>
            </p:xfrm>
            <a:graphic>
              <a:graphicData uri="http://schemas.openxmlformats.org/drawingml/2006/table">
                <a:tbl>
                  <a:tblPr firstRow="1" firstCol="1" bandRow="1">
                    <a:tableStyleId>{5940675A-B579-460E-94D1-54222C63F5DA}</a:tableStyleId>
                  </a:tblPr>
                  <a:tblGrid>
                    <a:gridCol w="704527">
                      <a:extLst>
                        <a:ext uri="{9D8B030D-6E8A-4147-A177-3AD203B41FA5}">
                          <a16:colId xmlns:a16="http://schemas.microsoft.com/office/drawing/2014/main" val="3705062519"/>
                        </a:ext>
                      </a:extLst>
                    </a:gridCol>
                    <a:gridCol w="1291634">
                      <a:extLst>
                        <a:ext uri="{9D8B030D-6E8A-4147-A177-3AD203B41FA5}">
                          <a16:colId xmlns:a16="http://schemas.microsoft.com/office/drawing/2014/main" val="2716038338"/>
                        </a:ext>
                      </a:extLst>
                    </a:gridCol>
                    <a:gridCol w="821949">
                      <a:extLst>
                        <a:ext uri="{9D8B030D-6E8A-4147-A177-3AD203B41FA5}">
                          <a16:colId xmlns:a16="http://schemas.microsoft.com/office/drawing/2014/main" val="2053861919"/>
                        </a:ext>
                      </a:extLst>
                    </a:gridCol>
                  </a:tblGrid>
                  <a:tr h="347167">
                    <a:tc>
                      <a:txBody>
                        <a:bodyPr/>
                        <a:lstStyle/>
                        <a:p>
                          <a:pPr marL="0" marR="0" algn="ctr">
                            <a:lnSpc>
                              <a:spcPct val="150000"/>
                            </a:lnSpc>
                            <a:spcAft>
                              <a:spcPts val="800"/>
                            </a:spcAft>
                            <a:buNone/>
                          </a:pPr>
                          <a14:m>
                            <m:oMathPara xmlns:m="http://schemas.openxmlformats.org/officeDocument/2006/math">
                              <m:oMathParaPr>
                                <m:jc m:val="centerGroup"/>
                              </m:oMathParaPr>
                              <m:oMath xmlns:m="http://schemas.openxmlformats.org/officeDocument/2006/math">
                                <m:r>
                                  <m:rPr>
                                    <m:sty m:val="p"/>
                                  </m:rPr>
                                  <a:rPr lang="en-US" sz="1200" b="0" i="0" kern="100" smtClean="0">
                                    <a:solidFill>
                                      <a:schemeClr val="bg1"/>
                                    </a:solidFill>
                                    <a:effectLst/>
                                    <a:latin typeface="Cambria Math" panose="02040503050406030204" pitchFamily="18" charset="0"/>
                                  </a:rPr>
                                  <m:t>K</m:t>
                                </m:r>
                                <m:r>
                                  <a:rPr lang="en-US" sz="1200" b="0" i="0" kern="100" smtClean="0">
                                    <a:solidFill>
                                      <a:schemeClr val="bg1"/>
                                    </a:solidFill>
                                    <a:effectLst/>
                                    <a:latin typeface="Cambria Math" panose="02040503050406030204" pitchFamily="18" charset="0"/>
                                  </a:rPr>
                                  <m:t>ý </m:t>
                                </m:r>
                                <m:r>
                                  <m:rPr>
                                    <m:sty m:val="p"/>
                                  </m:rPr>
                                  <a:rPr lang="en-US" sz="1200" b="0" i="0" kern="100" smtClean="0">
                                    <a:solidFill>
                                      <a:schemeClr val="bg1"/>
                                    </a:solidFill>
                                    <a:effectLst/>
                                    <a:latin typeface="Cambria Math" panose="02040503050406030204" pitchFamily="18" charset="0"/>
                                  </a:rPr>
                                  <m:t>t</m:t>
                                </m:r>
                                <m:r>
                                  <a:rPr lang="en-US" sz="1200" b="0" i="0" kern="100" smtClean="0">
                                    <a:solidFill>
                                      <a:schemeClr val="bg1"/>
                                    </a:solidFill>
                                    <a:effectLst/>
                                    <a:latin typeface="Cambria Math" panose="02040503050406030204" pitchFamily="18" charset="0"/>
                                  </a:rPr>
                                  <m:t>ự</m:t>
                                </m:r>
                              </m:oMath>
                            </m:oMathPara>
                          </a14:m>
                          <a:endParaRPr lang="en-US" sz="1200" i="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solidFill>
                          <a:srgbClr val="FFC000"/>
                        </a:solidFill>
                      </a:tcPr>
                    </a:tc>
                    <a:tc>
                      <a:txBody>
                        <a:bodyPr/>
                        <a:lstStyle/>
                        <a:p>
                          <a:pPr marL="0" marR="0" algn="ctr">
                            <a:lnSpc>
                              <a:spcPct val="150000"/>
                            </a:lnSpc>
                            <a:spcAft>
                              <a:spcPts val="800"/>
                            </a:spcAft>
                            <a:buNone/>
                          </a:pPr>
                          <a14:m>
                            <m:oMathPara xmlns:m="http://schemas.openxmlformats.org/officeDocument/2006/math">
                              <m:oMathParaPr>
                                <m:jc m:val="centerGroup"/>
                              </m:oMathParaPr>
                              <m:oMath xmlns:m="http://schemas.openxmlformats.org/officeDocument/2006/math">
                                <m:sSub>
                                  <m:sSubPr>
                                    <m:ctrlPr>
                                      <a:rPr lang="en-US" sz="1200" i="1" kern="100" smtClean="0">
                                        <a:solidFill>
                                          <a:schemeClr val="bg1"/>
                                        </a:solidFill>
                                        <a:effectLst/>
                                        <a:latin typeface="Cambria Math" panose="02040503050406030204" pitchFamily="18" charset="0"/>
                                      </a:rPr>
                                    </m:ctrlPr>
                                  </m:sSubPr>
                                  <m:e>
                                    <m:r>
                                      <a:rPr lang="en-US" sz="1200" kern="100">
                                        <a:solidFill>
                                          <a:schemeClr val="bg1"/>
                                        </a:solidFill>
                                        <a:effectLst/>
                                        <a:latin typeface="Cambria Math" panose="02040503050406030204" pitchFamily="18" charset="0"/>
                                      </a:rPr>
                                      <m:t>𝑝</m:t>
                                    </m:r>
                                  </m:e>
                                  <m:sub>
                                    <m:r>
                                      <a:rPr lang="en-US" sz="1200" kern="100">
                                        <a:solidFill>
                                          <a:schemeClr val="bg1"/>
                                        </a:solidFill>
                                        <a:effectLst/>
                                        <a:latin typeface="Cambria Math" panose="02040503050406030204" pitchFamily="18" charset="0"/>
                                      </a:rPr>
                                      <m:t>𝑖</m:t>
                                    </m:r>
                                  </m:sub>
                                </m:sSub>
                              </m:oMath>
                            </m:oMathPara>
                          </a14:m>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tc>
                      <a:txBody>
                        <a:bodyPr/>
                        <a:lstStyle/>
                        <a:p>
                          <a:pPr marL="0" marR="0" algn="ctr">
                            <a:lnSpc>
                              <a:spcPct val="150000"/>
                            </a:lnSpc>
                            <a:spcAft>
                              <a:spcPts val="800"/>
                            </a:spcAft>
                            <a:buNone/>
                          </a:pPr>
                          <a14:m>
                            <m:oMathPara xmlns:m="http://schemas.openxmlformats.org/officeDocument/2006/math">
                              <m:oMathParaPr>
                                <m:jc m:val="centerGroup"/>
                              </m:oMathParaPr>
                              <m:oMath xmlns:m="http://schemas.openxmlformats.org/officeDocument/2006/math">
                                <m:sSub>
                                  <m:sSubPr>
                                    <m:ctrlPr>
                                      <a:rPr lang="en-US" sz="1200" i="1" kern="100" smtClean="0">
                                        <a:solidFill>
                                          <a:schemeClr val="bg1"/>
                                        </a:solidFill>
                                        <a:effectLst/>
                                        <a:latin typeface="Cambria Math" panose="02040503050406030204" pitchFamily="18" charset="0"/>
                                      </a:rPr>
                                    </m:ctrlPr>
                                  </m:sSubPr>
                                  <m:e>
                                    <m:r>
                                      <a:rPr lang="en-US" sz="1200" kern="100">
                                        <a:solidFill>
                                          <a:schemeClr val="bg1"/>
                                        </a:solidFill>
                                        <a:effectLst/>
                                        <a:latin typeface="Cambria Math" panose="02040503050406030204" pitchFamily="18" charset="0"/>
                                      </a:rPr>
                                      <m:t>𝐸</m:t>
                                    </m:r>
                                  </m:e>
                                  <m:sub>
                                    <m:r>
                                      <a:rPr lang="en-US" sz="1200" kern="100">
                                        <a:solidFill>
                                          <a:schemeClr val="bg1"/>
                                        </a:solidFill>
                                        <a:effectLst/>
                                        <a:latin typeface="Cambria Math" panose="02040503050406030204" pitchFamily="18" charset="0"/>
                                      </a:rPr>
                                      <m:t>𝑖</m:t>
                                    </m:r>
                                  </m:sub>
                                </m:sSub>
                              </m:oMath>
                            </m:oMathPara>
                          </a14:m>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extLst>
                      <a:ext uri="{0D108BD9-81ED-4DB2-BD59-A6C34878D82A}">
                        <a16:rowId xmlns:a16="http://schemas.microsoft.com/office/drawing/2014/main" val="2273717808"/>
                      </a:ext>
                    </a:extLst>
                  </a:tr>
                  <a:tr h="226304">
                    <a:tc>
                      <a:txBody>
                        <a:bodyPr/>
                        <a:lstStyle/>
                        <a:p>
                          <a:pPr marL="0" marR="0" algn="ctr">
                            <a:lnSpc>
                              <a:spcPct val="15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0.08167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3.75682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51738712"/>
                      </a:ext>
                    </a:extLst>
                  </a:tr>
                  <a:tr h="226304">
                    <a:tc>
                      <a:txBody>
                        <a:bodyPr/>
                        <a:lstStyle/>
                        <a:p>
                          <a:pPr marL="0" marR="0" algn="ctr">
                            <a:lnSpc>
                              <a:spcPct val="15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0.01492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0.68632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528291463"/>
                      </a:ext>
                    </a:extLst>
                  </a:tr>
                  <a:tr h="226304">
                    <a:tc>
                      <a:txBody>
                        <a:bodyPr/>
                        <a:lstStyle/>
                        <a:p>
                          <a:pPr marL="0" marR="0" algn="ctr">
                            <a:lnSpc>
                              <a:spcPct val="15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1.27972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157828896"/>
                      </a:ext>
                    </a:extLst>
                  </a:tr>
                  <a:tr h="226304">
                    <a:tc>
                      <a:txBody>
                        <a:bodyPr/>
                        <a:lstStyle/>
                        <a:p>
                          <a:pPr marL="0" marR="0" algn="ctr">
                            <a:lnSpc>
                              <a:spcPct val="15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0.04253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1.95638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902391"/>
                      </a:ext>
                    </a:extLst>
                  </a:tr>
                  <a:tr h="226304">
                    <a:tc>
                      <a:txBody>
                        <a:bodyPr/>
                        <a:lstStyle/>
                        <a:p>
                          <a:pPr marL="0" marR="0" algn="ctr">
                            <a:lnSpc>
                              <a:spcPct val="15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0.12702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5.84292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860118349"/>
                      </a:ext>
                    </a:extLst>
                  </a:tr>
                  <a:tr h="226304">
                    <a:tc>
                      <a:txBody>
                        <a:bodyPr/>
                        <a:lstStyle/>
                        <a:p>
                          <a:pPr marL="0" marR="0" algn="ctr">
                            <a:lnSpc>
                              <a:spcPct val="15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0.02228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1.02488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139119834"/>
                      </a:ext>
                    </a:extLst>
                  </a:tr>
                  <a:tr h="226304">
                    <a:tc>
                      <a:txBody>
                        <a:bodyPr/>
                        <a:lstStyle/>
                        <a:p>
                          <a:pPr marL="0" marR="0" algn="ctr">
                            <a:lnSpc>
                              <a:spcPct val="15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0.9269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93505350"/>
                      </a:ext>
                    </a:extLst>
                  </a:tr>
                  <a:tr h="226304">
                    <a:tc>
                      <a:txBody>
                        <a:bodyPr/>
                        <a:lstStyle/>
                        <a:p>
                          <a:pPr marL="0" marR="0" algn="ctr">
                            <a:lnSpc>
                              <a:spcPct val="15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0.06094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2.80324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580187908"/>
                      </a:ext>
                    </a:extLst>
                  </a:tr>
                  <a:tr h="226304">
                    <a:tc>
                      <a:txBody>
                        <a:bodyPr/>
                        <a:lstStyle/>
                        <a:p>
                          <a:pPr marL="0" marR="0" algn="ctr">
                            <a:lnSpc>
                              <a:spcPct val="15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0.06966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3.20436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639935506"/>
                      </a:ext>
                    </a:extLst>
                  </a:tr>
                  <a:tr h="226304">
                    <a:tc>
                      <a:txBody>
                        <a:bodyPr/>
                        <a:lstStyle/>
                        <a:p>
                          <a:pPr marL="0" marR="0" algn="ctr">
                            <a:lnSpc>
                              <a:spcPct val="15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0.07038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19437713"/>
                      </a:ext>
                    </a:extLst>
                  </a:tr>
                  <a:tr h="226304">
                    <a:tc>
                      <a:txBody>
                        <a:bodyPr/>
                        <a:lstStyle/>
                        <a:p>
                          <a:pPr marL="0" marR="0" algn="ctr">
                            <a:lnSpc>
                              <a:spcPct val="15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0.00772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0.35512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6173072"/>
                      </a:ext>
                    </a:extLst>
                  </a:tr>
                  <a:tr h="226304">
                    <a:tc>
                      <a:txBody>
                        <a:bodyPr/>
                        <a:lstStyle/>
                        <a:p>
                          <a:pPr marL="0" marR="0" algn="ctr">
                            <a:lnSpc>
                              <a:spcPct val="15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0.04025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1.8515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180079724"/>
                      </a:ext>
                    </a:extLst>
                  </a:tr>
                  <a:tr h="226304">
                    <a:tc>
                      <a:txBody>
                        <a:bodyPr/>
                        <a:lstStyle/>
                        <a:p>
                          <a:pPr marL="0" marR="0" algn="ctr">
                            <a:lnSpc>
                              <a:spcPct val="15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0.02406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1.10676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48808680"/>
                      </a:ext>
                    </a:extLst>
                  </a:tr>
                  <a:tr h="226304">
                    <a:tc>
                      <a:txBody>
                        <a:bodyPr/>
                        <a:lstStyle/>
                        <a:p>
                          <a:pPr marL="0" marR="0" algn="ctr">
                            <a:lnSpc>
                              <a:spcPct val="15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0.06749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3.10454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11398717"/>
                      </a:ext>
                    </a:extLst>
                  </a:tr>
                  <a:tr h="226304">
                    <a:tc>
                      <a:txBody>
                        <a:bodyPr/>
                        <a:lstStyle/>
                        <a:p>
                          <a:pPr marL="0" marR="0" algn="ctr">
                            <a:lnSpc>
                              <a:spcPct val="15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0.07507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3.45322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878432031"/>
                      </a:ext>
                    </a:extLst>
                  </a:tr>
                  <a:tr h="226304">
                    <a:tc>
                      <a:txBody>
                        <a:bodyPr/>
                        <a:lstStyle/>
                        <a:p>
                          <a:pPr marL="0" marR="0" algn="ctr">
                            <a:lnSpc>
                              <a:spcPct val="15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0.01929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0.88734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111192"/>
                      </a:ext>
                    </a:extLst>
                  </a:tr>
                  <a:tr h="226304">
                    <a:tc>
                      <a:txBody>
                        <a:bodyPr/>
                        <a:lstStyle/>
                        <a:p>
                          <a:pPr marL="0" marR="0" algn="ctr">
                            <a:lnSpc>
                              <a:spcPct val="15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0.00095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0.0437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73563382"/>
                      </a:ext>
                    </a:extLst>
                  </a:tr>
                  <a:tr h="226304">
                    <a:tc>
                      <a:txBody>
                        <a:bodyPr/>
                        <a:lstStyle/>
                        <a:p>
                          <a:pPr marL="0" marR="0" algn="ctr">
                            <a:lnSpc>
                              <a:spcPct val="15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0.05987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2.75402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27019612"/>
                      </a:ext>
                    </a:extLst>
                  </a:tr>
                  <a:tr h="226304">
                    <a:tc>
                      <a:txBody>
                        <a:bodyPr/>
                        <a:lstStyle/>
                        <a:p>
                          <a:pPr marL="0" marR="0" algn="ctr">
                            <a:lnSpc>
                              <a:spcPct val="15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0.06327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2.91042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071481530"/>
                      </a:ext>
                    </a:extLst>
                  </a:tr>
                  <a:tr h="226304">
                    <a:tc>
                      <a:txBody>
                        <a:bodyPr/>
                        <a:lstStyle/>
                        <a:p>
                          <a:pPr marL="0" marR="0" algn="ctr">
                            <a:lnSpc>
                              <a:spcPct val="15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0.09056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4.16576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87245901"/>
                      </a:ext>
                    </a:extLst>
                  </a:tr>
                  <a:tr h="226304">
                    <a:tc>
                      <a:txBody>
                        <a:bodyPr/>
                        <a:lstStyle/>
                        <a:p>
                          <a:pPr marL="0" marR="0" algn="ctr">
                            <a:lnSpc>
                              <a:spcPct val="15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0.02758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1.26868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01611784"/>
                      </a:ext>
                    </a:extLst>
                  </a:tr>
                  <a:tr h="226304">
                    <a:tc>
                      <a:txBody>
                        <a:bodyPr/>
                        <a:lstStyle/>
                        <a:p>
                          <a:pPr marL="0" marR="0" algn="ctr">
                            <a:lnSpc>
                              <a:spcPct val="15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0.00978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0.44988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375969827"/>
                      </a:ext>
                    </a:extLst>
                  </a:tr>
                  <a:tr h="226304">
                    <a:tc>
                      <a:txBody>
                        <a:bodyPr/>
                        <a:lstStyle/>
                        <a:p>
                          <a:pPr marL="0" marR="0" algn="ctr">
                            <a:lnSpc>
                              <a:spcPct val="15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1.0856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06089555"/>
                      </a:ext>
                    </a:extLst>
                  </a:tr>
                  <a:tr h="226304">
                    <a:tc>
                      <a:txBody>
                        <a:bodyPr/>
                        <a:lstStyle/>
                        <a:p>
                          <a:pPr marL="0" marR="0" algn="ctr">
                            <a:lnSpc>
                              <a:spcPct val="15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794108946"/>
                      </a:ext>
                    </a:extLst>
                  </a:tr>
                  <a:tr h="226304">
                    <a:tc>
                      <a:txBody>
                        <a:bodyPr/>
                        <a:lstStyle/>
                        <a:p>
                          <a:pPr marL="0" marR="0" algn="ctr">
                            <a:lnSpc>
                              <a:spcPct val="15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0.90804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015600146"/>
                      </a:ext>
                    </a:extLst>
                  </a:tr>
                  <a:tr h="0">
                    <a:tc>
                      <a:txBody>
                        <a:bodyPr/>
                        <a:lstStyle/>
                        <a:p>
                          <a:pPr marL="0" marR="0" algn="ctr">
                            <a:lnSpc>
                              <a:spcPct val="15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0.03404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99105101"/>
                      </a:ext>
                    </a:extLst>
                  </a:tr>
                </a:tbl>
              </a:graphicData>
            </a:graphic>
          </p:graphicFrame>
        </mc:Choice>
        <mc:Fallback xmlns="">
          <p:graphicFrame>
            <p:nvGraphicFramePr>
              <p:cNvPr id="15" name="Content Placeholder 14">
                <a:extLst>
                  <a:ext uri="{FF2B5EF4-FFF2-40B4-BE49-F238E27FC236}">
                    <a16:creationId xmlns:a16="http://schemas.microsoft.com/office/drawing/2014/main" id="{84EBD880-6C33-831D-00EB-9B207B46DA1A}"/>
                  </a:ext>
                </a:extLst>
              </p:cNvPr>
              <p:cNvGraphicFramePr>
                <a:graphicFrameLocks noGrp="1"/>
              </p:cNvGraphicFramePr>
              <p:nvPr>
                <p:ph idx="1"/>
              </p:nvPr>
            </p:nvGraphicFramePr>
            <p:xfrm>
              <a:off x="9239250" y="55428"/>
              <a:ext cx="2818110" cy="6747142"/>
            </p:xfrm>
            <a:graphic>
              <a:graphicData uri="http://schemas.openxmlformats.org/drawingml/2006/table">
                <a:tbl>
                  <a:tblPr firstRow="1" firstCol="1" bandRow="1">
                    <a:tableStyleId>{5940675A-B579-460E-94D1-54222C63F5DA}</a:tableStyleId>
                  </a:tblPr>
                  <a:tblGrid>
                    <a:gridCol w="704527">
                      <a:extLst>
                        <a:ext uri="{9D8B030D-6E8A-4147-A177-3AD203B41FA5}">
                          <a16:colId xmlns:a16="http://schemas.microsoft.com/office/drawing/2014/main" val="3705062519"/>
                        </a:ext>
                      </a:extLst>
                    </a:gridCol>
                    <a:gridCol w="1291634">
                      <a:extLst>
                        <a:ext uri="{9D8B030D-6E8A-4147-A177-3AD203B41FA5}">
                          <a16:colId xmlns:a16="http://schemas.microsoft.com/office/drawing/2014/main" val="2716038338"/>
                        </a:ext>
                      </a:extLst>
                    </a:gridCol>
                    <a:gridCol w="821949">
                      <a:extLst>
                        <a:ext uri="{9D8B030D-6E8A-4147-A177-3AD203B41FA5}">
                          <a16:colId xmlns:a16="http://schemas.microsoft.com/office/drawing/2014/main" val="2053861919"/>
                        </a:ext>
                      </a:extLst>
                    </a:gridCol>
                  </a:tblGrid>
                  <a:tr h="375920">
                    <a:tc>
                      <a:txBody>
                        <a:bodyPr/>
                        <a:lstStyle/>
                        <a:p>
                          <a:endParaRPr lang="en-US"/>
                        </a:p>
                      </a:txBody>
                      <a:tcPr marL="44854" marR="44854" marT="0" marB="0">
                        <a:blipFill>
                          <a:blip r:embed="rId5"/>
                          <a:stretch>
                            <a:fillRect l="-862" t="-1613" r="-300862" b="-1711290"/>
                          </a:stretch>
                        </a:blipFill>
                      </a:tcPr>
                    </a:tc>
                    <a:tc>
                      <a:txBody>
                        <a:bodyPr/>
                        <a:lstStyle/>
                        <a:p>
                          <a:endParaRPr lang="en-US"/>
                        </a:p>
                      </a:txBody>
                      <a:tcPr marL="44854" marR="44854" marT="0" marB="0" anchor="ctr">
                        <a:blipFill>
                          <a:blip r:embed="rId5"/>
                          <a:stretch>
                            <a:fillRect l="-55189" t="-1613" r="-64623" b="-1711290"/>
                          </a:stretch>
                        </a:blipFill>
                      </a:tcPr>
                    </a:tc>
                    <a:tc>
                      <a:txBody>
                        <a:bodyPr/>
                        <a:lstStyle/>
                        <a:p>
                          <a:endParaRPr lang="en-US"/>
                        </a:p>
                      </a:txBody>
                      <a:tcPr marL="44854" marR="44854" marT="0" marB="0" anchor="ctr">
                        <a:blipFill>
                          <a:blip r:embed="rId5"/>
                          <a:stretch>
                            <a:fillRect l="-243704" t="-1613" r="-1481" b="-1711290"/>
                          </a:stretch>
                        </a:blipFill>
                      </a:tcPr>
                    </a:tc>
                    <a:extLst>
                      <a:ext uri="{0D108BD9-81ED-4DB2-BD59-A6C34878D82A}">
                        <a16:rowId xmlns:a16="http://schemas.microsoft.com/office/drawing/2014/main" val="2273717808"/>
                      </a:ext>
                    </a:extLst>
                  </a:tr>
                  <a:tr h="245047">
                    <a:tc>
                      <a:txBody>
                        <a:bodyPr/>
                        <a:lstStyle/>
                        <a:p>
                          <a:pPr marL="0" marR="0" algn="ctr">
                            <a:lnSpc>
                              <a:spcPct val="15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0.08167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3.75682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51738712"/>
                      </a:ext>
                    </a:extLst>
                  </a:tr>
                  <a:tr h="245047">
                    <a:tc>
                      <a:txBody>
                        <a:bodyPr/>
                        <a:lstStyle/>
                        <a:p>
                          <a:pPr marL="0" marR="0" algn="ctr">
                            <a:lnSpc>
                              <a:spcPct val="15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0.01492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0.68632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528291463"/>
                      </a:ext>
                    </a:extLst>
                  </a:tr>
                  <a:tr h="245047">
                    <a:tc>
                      <a:txBody>
                        <a:bodyPr/>
                        <a:lstStyle/>
                        <a:p>
                          <a:pPr marL="0" marR="0" algn="ctr">
                            <a:lnSpc>
                              <a:spcPct val="15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1.27972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157828896"/>
                      </a:ext>
                    </a:extLst>
                  </a:tr>
                  <a:tr h="245047">
                    <a:tc>
                      <a:txBody>
                        <a:bodyPr/>
                        <a:lstStyle/>
                        <a:p>
                          <a:pPr marL="0" marR="0" algn="ctr">
                            <a:lnSpc>
                              <a:spcPct val="15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0.04253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1.95638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902391"/>
                      </a:ext>
                    </a:extLst>
                  </a:tr>
                  <a:tr h="245047">
                    <a:tc>
                      <a:txBody>
                        <a:bodyPr/>
                        <a:lstStyle/>
                        <a:p>
                          <a:pPr marL="0" marR="0" algn="ctr">
                            <a:lnSpc>
                              <a:spcPct val="15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0.12702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5.84292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860118349"/>
                      </a:ext>
                    </a:extLst>
                  </a:tr>
                  <a:tr h="245047">
                    <a:tc>
                      <a:txBody>
                        <a:bodyPr/>
                        <a:lstStyle/>
                        <a:p>
                          <a:pPr marL="0" marR="0" algn="ctr">
                            <a:lnSpc>
                              <a:spcPct val="15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0.02228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1.02488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139119834"/>
                      </a:ext>
                    </a:extLst>
                  </a:tr>
                  <a:tr h="245047">
                    <a:tc>
                      <a:txBody>
                        <a:bodyPr/>
                        <a:lstStyle/>
                        <a:p>
                          <a:pPr marL="0" marR="0" algn="ctr">
                            <a:lnSpc>
                              <a:spcPct val="15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0.9269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93505350"/>
                      </a:ext>
                    </a:extLst>
                  </a:tr>
                  <a:tr h="245047">
                    <a:tc>
                      <a:txBody>
                        <a:bodyPr/>
                        <a:lstStyle/>
                        <a:p>
                          <a:pPr marL="0" marR="0" algn="ctr">
                            <a:lnSpc>
                              <a:spcPct val="15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0.06094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2.80324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580187908"/>
                      </a:ext>
                    </a:extLst>
                  </a:tr>
                  <a:tr h="245047">
                    <a:tc>
                      <a:txBody>
                        <a:bodyPr/>
                        <a:lstStyle/>
                        <a:p>
                          <a:pPr marL="0" marR="0" algn="ctr">
                            <a:lnSpc>
                              <a:spcPct val="15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0.06966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3.20436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639935506"/>
                      </a:ext>
                    </a:extLst>
                  </a:tr>
                  <a:tr h="245047">
                    <a:tc>
                      <a:txBody>
                        <a:bodyPr/>
                        <a:lstStyle/>
                        <a:p>
                          <a:pPr marL="0" marR="0" algn="ctr">
                            <a:lnSpc>
                              <a:spcPct val="15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0.07038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19437713"/>
                      </a:ext>
                    </a:extLst>
                  </a:tr>
                  <a:tr h="245047">
                    <a:tc>
                      <a:txBody>
                        <a:bodyPr/>
                        <a:lstStyle/>
                        <a:p>
                          <a:pPr marL="0" marR="0" algn="ctr">
                            <a:lnSpc>
                              <a:spcPct val="15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0.00772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0.35512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6173072"/>
                      </a:ext>
                    </a:extLst>
                  </a:tr>
                  <a:tr h="245047">
                    <a:tc>
                      <a:txBody>
                        <a:bodyPr/>
                        <a:lstStyle/>
                        <a:p>
                          <a:pPr marL="0" marR="0" algn="ctr">
                            <a:lnSpc>
                              <a:spcPct val="15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0.04025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1.8515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180079724"/>
                      </a:ext>
                    </a:extLst>
                  </a:tr>
                  <a:tr h="245047">
                    <a:tc>
                      <a:txBody>
                        <a:bodyPr/>
                        <a:lstStyle/>
                        <a:p>
                          <a:pPr marL="0" marR="0" algn="ctr">
                            <a:lnSpc>
                              <a:spcPct val="15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0.02406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1.10676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48808680"/>
                      </a:ext>
                    </a:extLst>
                  </a:tr>
                  <a:tr h="245047">
                    <a:tc>
                      <a:txBody>
                        <a:bodyPr/>
                        <a:lstStyle/>
                        <a:p>
                          <a:pPr marL="0" marR="0" algn="ctr">
                            <a:lnSpc>
                              <a:spcPct val="15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0.06749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3.10454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11398717"/>
                      </a:ext>
                    </a:extLst>
                  </a:tr>
                  <a:tr h="245047">
                    <a:tc>
                      <a:txBody>
                        <a:bodyPr/>
                        <a:lstStyle/>
                        <a:p>
                          <a:pPr marL="0" marR="0" algn="ctr">
                            <a:lnSpc>
                              <a:spcPct val="15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0.07507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3.45322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878432031"/>
                      </a:ext>
                    </a:extLst>
                  </a:tr>
                  <a:tr h="245047">
                    <a:tc>
                      <a:txBody>
                        <a:bodyPr/>
                        <a:lstStyle/>
                        <a:p>
                          <a:pPr marL="0" marR="0" algn="ctr">
                            <a:lnSpc>
                              <a:spcPct val="15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0.01929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0.88734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111192"/>
                      </a:ext>
                    </a:extLst>
                  </a:tr>
                  <a:tr h="245047">
                    <a:tc>
                      <a:txBody>
                        <a:bodyPr/>
                        <a:lstStyle/>
                        <a:p>
                          <a:pPr marL="0" marR="0" algn="ctr">
                            <a:lnSpc>
                              <a:spcPct val="15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0.00095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0.0437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73563382"/>
                      </a:ext>
                    </a:extLst>
                  </a:tr>
                  <a:tr h="245047">
                    <a:tc>
                      <a:txBody>
                        <a:bodyPr/>
                        <a:lstStyle/>
                        <a:p>
                          <a:pPr marL="0" marR="0" algn="ctr">
                            <a:lnSpc>
                              <a:spcPct val="15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0.05987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2.75402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27019612"/>
                      </a:ext>
                    </a:extLst>
                  </a:tr>
                  <a:tr h="245047">
                    <a:tc>
                      <a:txBody>
                        <a:bodyPr/>
                        <a:lstStyle/>
                        <a:p>
                          <a:pPr marL="0" marR="0" algn="ctr">
                            <a:lnSpc>
                              <a:spcPct val="15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0.06327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2.91042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071481530"/>
                      </a:ext>
                    </a:extLst>
                  </a:tr>
                  <a:tr h="245047">
                    <a:tc>
                      <a:txBody>
                        <a:bodyPr/>
                        <a:lstStyle/>
                        <a:p>
                          <a:pPr marL="0" marR="0" algn="ctr">
                            <a:lnSpc>
                              <a:spcPct val="15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0.09056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4.16576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87245901"/>
                      </a:ext>
                    </a:extLst>
                  </a:tr>
                  <a:tr h="245047">
                    <a:tc>
                      <a:txBody>
                        <a:bodyPr/>
                        <a:lstStyle/>
                        <a:p>
                          <a:pPr marL="0" marR="0" algn="ctr">
                            <a:lnSpc>
                              <a:spcPct val="15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0.02758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1.26868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01611784"/>
                      </a:ext>
                    </a:extLst>
                  </a:tr>
                  <a:tr h="245047">
                    <a:tc>
                      <a:txBody>
                        <a:bodyPr/>
                        <a:lstStyle/>
                        <a:p>
                          <a:pPr marL="0" marR="0" algn="ctr">
                            <a:lnSpc>
                              <a:spcPct val="15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0.00978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0.44988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375969827"/>
                      </a:ext>
                    </a:extLst>
                  </a:tr>
                  <a:tr h="245047">
                    <a:tc>
                      <a:txBody>
                        <a:bodyPr/>
                        <a:lstStyle/>
                        <a:p>
                          <a:pPr marL="0" marR="0" algn="ctr">
                            <a:lnSpc>
                              <a:spcPct val="15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1.0856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06089555"/>
                      </a:ext>
                    </a:extLst>
                  </a:tr>
                  <a:tr h="245047">
                    <a:tc>
                      <a:txBody>
                        <a:bodyPr/>
                        <a:lstStyle/>
                        <a:p>
                          <a:pPr marL="0" marR="0" algn="ctr">
                            <a:lnSpc>
                              <a:spcPct val="15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794108946"/>
                      </a:ext>
                    </a:extLst>
                  </a:tr>
                  <a:tr h="245047">
                    <a:tc>
                      <a:txBody>
                        <a:bodyPr/>
                        <a:lstStyle/>
                        <a:p>
                          <a:pPr marL="0" marR="0" algn="ctr">
                            <a:lnSpc>
                              <a:spcPct val="15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0.90804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015600146"/>
                      </a:ext>
                    </a:extLst>
                  </a:tr>
                  <a:tr h="245047">
                    <a:tc>
                      <a:txBody>
                        <a:bodyPr/>
                        <a:lstStyle/>
                        <a:p>
                          <a:pPr marL="0" marR="0" algn="ctr">
                            <a:lnSpc>
                              <a:spcPct val="15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0.03404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99105101"/>
                      </a:ext>
                    </a:extLst>
                  </a:tr>
                </a:tbl>
              </a:graphicData>
            </a:graphic>
          </p:graphicFrame>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E4A0204-44FD-BEC0-043D-9B17B046F1EB}"/>
                  </a:ext>
                </a:extLst>
              </p:cNvPr>
              <p:cNvSpPr txBox="1"/>
              <p:nvPr/>
            </p:nvSpPr>
            <p:spPr>
              <a:xfrm>
                <a:off x="620531" y="2495413"/>
                <a:ext cx="8028169" cy="1428853"/>
              </a:xfrm>
              <a:prstGeom prst="rect">
                <a:avLst/>
              </a:prstGeom>
              <a:noFill/>
            </p:spPr>
            <p:txBody>
              <a:bodyPr wrap="square">
                <a:spAutoFit/>
              </a:bodyPr>
              <a:lstStyle/>
              <a:p>
                <a:pPr>
                  <a:lnSpc>
                    <a:spcPct val="150000"/>
                  </a:lnSpc>
                </a:pPr>
                <a:r>
                  <a:rPr lang="en-US" sz="2000">
                    <a:latin typeface="Calibri "/>
                  </a:rPr>
                  <a:t>Thực hiện tương tự với giải mã K</a:t>
                </a:r>
                <a:r>
                  <a:rPr lang="en-US" sz="2000" baseline="-25000">
                    <a:latin typeface="Calibri "/>
                  </a:rPr>
                  <a:t>1</a:t>
                </a:r>
                <a:r>
                  <a:rPr lang="en-US" sz="2000">
                    <a:latin typeface="Calibri "/>
                  </a:rPr>
                  <a:t> và K</a:t>
                </a:r>
                <a:r>
                  <a:rPr lang="en-US" sz="2000" baseline="-25000">
                    <a:latin typeface="Calibri "/>
                  </a:rPr>
                  <a:t>2</a:t>
                </a:r>
                <a:r>
                  <a:rPr lang="en-US" sz="2000">
                    <a:latin typeface="Calibri "/>
                  </a:rPr>
                  <a:t>. Do độ dài nhóm K</a:t>
                </a:r>
                <a:r>
                  <a:rPr lang="en-US" sz="2000" baseline="-25000">
                    <a:latin typeface="Calibri "/>
                  </a:rPr>
                  <a:t>3 </a:t>
                </a:r>
                <a:r>
                  <a:rPr lang="en-US" sz="2000">
                    <a:latin typeface="Calibri "/>
                  </a:rPr>
                  <a:t>bằng với K</a:t>
                </a:r>
                <a:r>
                  <a:rPr lang="en-US" sz="2000" baseline="-25000">
                    <a:latin typeface="Calibri "/>
                  </a:rPr>
                  <a:t>1</a:t>
                </a:r>
                <a:r>
                  <a:rPr lang="en-US" sz="2000">
                    <a:latin typeface="Calibri "/>
                  </a:rPr>
                  <a:t> </a:t>
                </a:r>
                <a14:m>
                  <m:oMath xmlns:m="http://schemas.openxmlformats.org/officeDocument/2006/math">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𝑁</m:t>
                        </m:r>
                      </m:e>
                      <m:sub>
                        <m:r>
                          <a:rPr lang="en-US" sz="2000" i="1">
                            <a:latin typeface="Cambria Math" panose="02040503050406030204" pitchFamily="18" charset="0"/>
                          </a:rPr>
                          <m:t>3</m:t>
                        </m:r>
                      </m:sub>
                    </m:sSub>
                    <m:r>
                      <a:rPr lang="en-US" sz="2000" i="1">
                        <a:latin typeface="Cambria Math" panose="02040503050406030204" pitchFamily="18" charset="0"/>
                      </a:rPr>
                      <m:t>=46) </m:t>
                    </m:r>
                  </m:oMath>
                </a14:m>
                <a:r>
                  <a:rPr lang="en-US" sz="2000">
                    <a:latin typeface="Calibri "/>
                  </a:rPr>
                  <a:t>nên ta sử dụng lại </a:t>
                </a:r>
                <a:r>
                  <a:rPr lang="en-US" sz="2000"/>
                  <a:t>Bảng E</a:t>
                </a:r>
                <a:r>
                  <a:rPr lang="en-US" sz="2000" baseline="-25000"/>
                  <a:t>i</a:t>
                </a:r>
                <a:r>
                  <a:rPr lang="en-US" sz="2000"/>
                  <a:t> đã tính trước đó</a:t>
                </a:r>
                <a:r>
                  <a:rPr lang="en-US" sz="2000">
                    <a:latin typeface="Calibri "/>
                  </a:rPr>
                  <a:t>. Bước tiếp theo là thực hiện phép giải mã dịch trái với K</a:t>
                </a:r>
                <a:r>
                  <a:rPr lang="en-US" sz="2000" baseline="-25000">
                    <a:latin typeface="Calibri "/>
                  </a:rPr>
                  <a:t>3</a:t>
                </a:r>
                <a:r>
                  <a:rPr lang="en-US" sz="2000">
                    <a:latin typeface="Calibri "/>
                  </a:rPr>
                  <a:t> và tính các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𝑂</m:t>
                        </m:r>
                      </m:e>
                      <m:sub>
                        <m:r>
                          <a:rPr lang="en-US" sz="2000" i="1">
                            <a:latin typeface="Cambria Math" panose="02040503050406030204" pitchFamily="18" charset="0"/>
                          </a:rPr>
                          <m:t>𝑖</m:t>
                        </m:r>
                      </m:sub>
                    </m:sSub>
                  </m:oMath>
                </a14:m>
                <a:endParaRPr lang="en-US" sz="2000">
                  <a:latin typeface="Calibri "/>
                </a:endParaRPr>
              </a:p>
            </p:txBody>
          </p:sp>
        </mc:Choice>
        <mc:Fallback xmlns="">
          <p:sp>
            <p:nvSpPr>
              <p:cNvPr id="16" name="TextBox 15">
                <a:extLst>
                  <a:ext uri="{FF2B5EF4-FFF2-40B4-BE49-F238E27FC236}">
                    <a16:creationId xmlns:a16="http://schemas.microsoft.com/office/drawing/2014/main" id="{6E4A0204-44FD-BEC0-043D-9B17B046F1EB}"/>
                  </a:ext>
                </a:extLst>
              </p:cNvPr>
              <p:cNvSpPr txBox="1">
                <a:spLocks noRot="1" noChangeAspect="1" noMove="1" noResize="1" noEditPoints="1" noAdjustHandles="1" noChangeArrowheads="1" noChangeShapeType="1" noTextEdit="1"/>
              </p:cNvSpPr>
              <p:nvPr/>
            </p:nvSpPr>
            <p:spPr>
              <a:xfrm>
                <a:off x="620531" y="2495413"/>
                <a:ext cx="8028169" cy="1428853"/>
              </a:xfrm>
              <a:prstGeom prst="rect">
                <a:avLst/>
              </a:prstGeom>
              <a:blipFill>
                <a:blip r:embed="rId6"/>
                <a:stretch>
                  <a:fillRect l="-835" b="-6383"/>
                </a:stretch>
              </a:blipFill>
            </p:spPr>
            <p:txBody>
              <a:bodyPr/>
              <a:lstStyle/>
              <a:p>
                <a:r>
                  <a:rPr lang="en-US">
                    <a:noFill/>
                  </a:rPr>
                  <a:t> </a:t>
                </a:r>
              </a:p>
            </p:txBody>
          </p:sp>
        </mc:Fallback>
      </mc:AlternateContent>
    </p:spTree>
    <p:extLst>
      <p:ext uri="{BB962C8B-B14F-4D97-AF65-F5344CB8AC3E}">
        <p14:creationId xmlns:p14="http://schemas.microsoft.com/office/powerpoint/2010/main" val="11812221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7178F-831E-7D1C-2784-23B71FEFE0F8}"/>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8C117C76-4B34-06FB-149E-9A6272AC39C7}"/>
              </a:ext>
            </a:extLst>
          </p:cNvPr>
          <p:cNvSpPr txBox="1"/>
          <p:nvPr/>
        </p:nvSpPr>
        <p:spPr>
          <a:xfrm>
            <a:off x="219075" y="104775"/>
            <a:ext cx="11356818" cy="609782"/>
          </a:xfrm>
          <a:prstGeom prst="rect">
            <a:avLst/>
          </a:prstGeom>
          <a:noFill/>
        </p:spPr>
        <p:txBody>
          <a:bodyPr wrap="square">
            <a:spAutoFit/>
          </a:bodyPr>
          <a:lstStyle/>
          <a:p>
            <a:pPr algn="just">
              <a:lnSpc>
                <a:spcPct val="150000"/>
              </a:lnSpc>
            </a:pPr>
            <a:r>
              <a:rPr lang="en-US" sz="2500" b="1"/>
              <a:t>Giả mã K</a:t>
            </a:r>
            <a:r>
              <a:rPr lang="en-US" sz="2500" b="1" baseline="-25000"/>
              <a:t>3</a:t>
            </a:r>
            <a:endParaRPr lang="en-US" sz="2500" b="1" kern="100">
              <a:solidFill>
                <a:srgbClr val="00B0F0"/>
              </a:solidFill>
              <a:effectLst/>
              <a:ea typeface="Aptos" panose="020B0004020202020204" pitchFamily="34" charset="0"/>
              <a:cs typeface="Times New Roman" panose="02020603050405020304" pitchFamily="18" charset="0"/>
            </a:endParaRPr>
          </a:p>
        </p:txBody>
      </p:sp>
      <p:graphicFrame>
        <p:nvGraphicFramePr>
          <p:cNvPr id="15" name="Content Placeholder 14">
            <a:extLst>
              <a:ext uri="{FF2B5EF4-FFF2-40B4-BE49-F238E27FC236}">
                <a16:creationId xmlns:a16="http://schemas.microsoft.com/office/drawing/2014/main" id="{1702EC12-72E0-4356-B9CA-03C609F8A0E9}"/>
              </a:ext>
            </a:extLst>
          </p:cNvPr>
          <p:cNvGraphicFramePr>
            <a:graphicFrameLocks noGrp="1"/>
          </p:cNvGraphicFramePr>
          <p:nvPr>
            <p:ph idx="1"/>
          </p:nvPr>
        </p:nvGraphicFramePr>
        <p:xfrm>
          <a:off x="9239250" y="55428"/>
          <a:ext cx="2818110" cy="6617419"/>
        </p:xfrm>
        <a:graphic>
          <a:graphicData uri="http://schemas.openxmlformats.org/drawingml/2006/table">
            <a:tbl>
              <a:tblPr firstRow="1" firstCol="1" bandRow="1">
                <a:tableStyleId>{5940675A-B579-460E-94D1-54222C63F5DA}</a:tableStyleId>
              </a:tblPr>
              <a:tblGrid>
                <a:gridCol w="704527">
                  <a:extLst>
                    <a:ext uri="{9D8B030D-6E8A-4147-A177-3AD203B41FA5}">
                      <a16:colId xmlns:a16="http://schemas.microsoft.com/office/drawing/2014/main" val="3705062519"/>
                    </a:ext>
                  </a:extLst>
                </a:gridCol>
                <a:gridCol w="1291634">
                  <a:extLst>
                    <a:ext uri="{9D8B030D-6E8A-4147-A177-3AD203B41FA5}">
                      <a16:colId xmlns:a16="http://schemas.microsoft.com/office/drawing/2014/main" val="2716038338"/>
                    </a:ext>
                  </a:extLst>
                </a:gridCol>
                <a:gridCol w="821949">
                  <a:extLst>
                    <a:ext uri="{9D8B030D-6E8A-4147-A177-3AD203B41FA5}">
                      <a16:colId xmlns:a16="http://schemas.microsoft.com/office/drawing/2014/main" val="2053861919"/>
                    </a:ext>
                  </a:extLst>
                </a:gridCol>
              </a:tblGrid>
              <a:tr h="246197">
                <a:tc>
                  <a:txBody>
                    <a:bodyPr/>
                    <a:lstStyle/>
                    <a:p>
                      <a:pPr marL="0" marR="0" algn="ctr">
                        <a:lnSpc>
                          <a:spcPct val="100000"/>
                        </a:lnSpc>
                        <a:spcAft>
                          <a:spcPts val="800"/>
                        </a:spcAft>
                        <a:buNone/>
                      </a:pPr>
                      <a:r>
                        <a:rPr lang="en-US" sz="1200" kern="0">
                          <a:solidFill>
                            <a:schemeClr val="bg1"/>
                          </a:solidFill>
                          <a:effectLst/>
                        </a:rPr>
                        <a:t>Ký tự</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tc>
                  <a:txBody>
                    <a:bodyPr/>
                    <a:lstStyle/>
                    <a:p>
                      <a:pPr marL="0" marR="0" algn="ctr">
                        <a:lnSpc>
                          <a:spcPct val="100000"/>
                        </a:lnSpc>
                        <a:spcAft>
                          <a:spcPts val="800"/>
                        </a:spcAft>
                        <a:buNone/>
                      </a:pPr>
                      <a:r>
                        <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a:t>
                      </a:r>
                      <a:r>
                        <a:rPr lang="en-US" sz="1200" kern="100" baseline="-250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tc>
                  <a:txBody>
                    <a:bodyPr/>
                    <a:lstStyle/>
                    <a:p>
                      <a:pPr marL="0" marR="0" algn="ctr">
                        <a:lnSpc>
                          <a:spcPct val="100000"/>
                        </a:lnSpc>
                        <a:spcAft>
                          <a:spcPts val="800"/>
                        </a:spcAft>
                        <a:buNone/>
                      </a:pPr>
                      <a:r>
                        <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a:t>
                      </a:r>
                      <a:r>
                        <a:rPr lang="en-US" sz="1200" kern="100" baseline="-250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extLst>
                  <a:ext uri="{0D108BD9-81ED-4DB2-BD59-A6C34878D82A}">
                    <a16:rowId xmlns:a16="http://schemas.microsoft.com/office/drawing/2014/main" val="2273717808"/>
                  </a:ext>
                </a:extLst>
              </a:tr>
              <a:tr h="226304">
                <a:tc>
                  <a:txBody>
                    <a:bodyPr/>
                    <a:lstStyle/>
                    <a:p>
                      <a:pPr marL="0" marR="0" algn="ctr">
                        <a:lnSpc>
                          <a:spcPct val="15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0.08167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3.75682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51738712"/>
                  </a:ext>
                </a:extLst>
              </a:tr>
              <a:tr h="226304">
                <a:tc>
                  <a:txBody>
                    <a:bodyPr/>
                    <a:lstStyle/>
                    <a:p>
                      <a:pPr marL="0" marR="0" algn="ctr">
                        <a:lnSpc>
                          <a:spcPct val="15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0.01492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0.68632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528291463"/>
                  </a:ext>
                </a:extLst>
              </a:tr>
              <a:tr h="226304">
                <a:tc>
                  <a:txBody>
                    <a:bodyPr/>
                    <a:lstStyle/>
                    <a:p>
                      <a:pPr marL="0" marR="0" algn="ctr">
                        <a:lnSpc>
                          <a:spcPct val="15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1.27972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157828896"/>
                  </a:ext>
                </a:extLst>
              </a:tr>
              <a:tr h="226304">
                <a:tc>
                  <a:txBody>
                    <a:bodyPr/>
                    <a:lstStyle/>
                    <a:p>
                      <a:pPr marL="0" marR="0" algn="ctr">
                        <a:lnSpc>
                          <a:spcPct val="15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0.04253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1.95638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902391"/>
                  </a:ext>
                </a:extLst>
              </a:tr>
              <a:tr h="226304">
                <a:tc>
                  <a:txBody>
                    <a:bodyPr/>
                    <a:lstStyle/>
                    <a:p>
                      <a:pPr marL="0" marR="0" algn="ctr">
                        <a:lnSpc>
                          <a:spcPct val="15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0.12702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5.84292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860118349"/>
                  </a:ext>
                </a:extLst>
              </a:tr>
              <a:tr h="226304">
                <a:tc>
                  <a:txBody>
                    <a:bodyPr/>
                    <a:lstStyle/>
                    <a:p>
                      <a:pPr marL="0" marR="0" algn="ctr">
                        <a:lnSpc>
                          <a:spcPct val="15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0.02228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1.02488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139119834"/>
                  </a:ext>
                </a:extLst>
              </a:tr>
              <a:tr h="226304">
                <a:tc>
                  <a:txBody>
                    <a:bodyPr/>
                    <a:lstStyle/>
                    <a:p>
                      <a:pPr marL="0" marR="0" algn="ctr">
                        <a:lnSpc>
                          <a:spcPct val="15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0.9269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93505350"/>
                  </a:ext>
                </a:extLst>
              </a:tr>
              <a:tr h="226304">
                <a:tc>
                  <a:txBody>
                    <a:bodyPr/>
                    <a:lstStyle/>
                    <a:p>
                      <a:pPr marL="0" marR="0" algn="ctr">
                        <a:lnSpc>
                          <a:spcPct val="15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0.06094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2.80324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580187908"/>
                  </a:ext>
                </a:extLst>
              </a:tr>
              <a:tr h="226304">
                <a:tc>
                  <a:txBody>
                    <a:bodyPr/>
                    <a:lstStyle/>
                    <a:p>
                      <a:pPr marL="0" marR="0" algn="ctr">
                        <a:lnSpc>
                          <a:spcPct val="15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0.06966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3.20436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639935506"/>
                  </a:ext>
                </a:extLst>
              </a:tr>
              <a:tr h="226304">
                <a:tc>
                  <a:txBody>
                    <a:bodyPr/>
                    <a:lstStyle/>
                    <a:p>
                      <a:pPr marL="0" marR="0" algn="ctr">
                        <a:lnSpc>
                          <a:spcPct val="15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0.07038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19437713"/>
                  </a:ext>
                </a:extLst>
              </a:tr>
              <a:tr h="226304">
                <a:tc>
                  <a:txBody>
                    <a:bodyPr/>
                    <a:lstStyle/>
                    <a:p>
                      <a:pPr marL="0" marR="0" algn="ctr">
                        <a:lnSpc>
                          <a:spcPct val="15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0.00772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0.35512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6173072"/>
                  </a:ext>
                </a:extLst>
              </a:tr>
              <a:tr h="226304">
                <a:tc>
                  <a:txBody>
                    <a:bodyPr/>
                    <a:lstStyle/>
                    <a:p>
                      <a:pPr marL="0" marR="0" algn="ctr">
                        <a:lnSpc>
                          <a:spcPct val="15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0.04025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1.8515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180079724"/>
                  </a:ext>
                </a:extLst>
              </a:tr>
              <a:tr h="226304">
                <a:tc>
                  <a:txBody>
                    <a:bodyPr/>
                    <a:lstStyle/>
                    <a:p>
                      <a:pPr marL="0" marR="0" algn="ctr">
                        <a:lnSpc>
                          <a:spcPct val="15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0.02406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1.10676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48808680"/>
                  </a:ext>
                </a:extLst>
              </a:tr>
              <a:tr h="226304">
                <a:tc>
                  <a:txBody>
                    <a:bodyPr/>
                    <a:lstStyle/>
                    <a:p>
                      <a:pPr marL="0" marR="0" algn="ctr">
                        <a:lnSpc>
                          <a:spcPct val="15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0.06749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3.10454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11398717"/>
                  </a:ext>
                </a:extLst>
              </a:tr>
              <a:tr h="226304">
                <a:tc>
                  <a:txBody>
                    <a:bodyPr/>
                    <a:lstStyle/>
                    <a:p>
                      <a:pPr marL="0" marR="0" algn="ctr">
                        <a:lnSpc>
                          <a:spcPct val="15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0.07507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3.45322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878432031"/>
                  </a:ext>
                </a:extLst>
              </a:tr>
              <a:tr h="226304">
                <a:tc>
                  <a:txBody>
                    <a:bodyPr/>
                    <a:lstStyle/>
                    <a:p>
                      <a:pPr marL="0" marR="0" algn="ctr">
                        <a:lnSpc>
                          <a:spcPct val="15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0.01929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0.88734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111192"/>
                  </a:ext>
                </a:extLst>
              </a:tr>
              <a:tr h="226304">
                <a:tc>
                  <a:txBody>
                    <a:bodyPr/>
                    <a:lstStyle/>
                    <a:p>
                      <a:pPr marL="0" marR="0" algn="ctr">
                        <a:lnSpc>
                          <a:spcPct val="15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0.00095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0.0437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73563382"/>
                  </a:ext>
                </a:extLst>
              </a:tr>
              <a:tr h="226304">
                <a:tc>
                  <a:txBody>
                    <a:bodyPr/>
                    <a:lstStyle/>
                    <a:p>
                      <a:pPr marL="0" marR="0" algn="ctr">
                        <a:lnSpc>
                          <a:spcPct val="15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0.05987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2.75402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27019612"/>
                  </a:ext>
                </a:extLst>
              </a:tr>
              <a:tr h="226304">
                <a:tc>
                  <a:txBody>
                    <a:bodyPr/>
                    <a:lstStyle/>
                    <a:p>
                      <a:pPr marL="0" marR="0" algn="ctr">
                        <a:lnSpc>
                          <a:spcPct val="15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0.06327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2.91042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071481530"/>
                  </a:ext>
                </a:extLst>
              </a:tr>
              <a:tr h="226304">
                <a:tc>
                  <a:txBody>
                    <a:bodyPr/>
                    <a:lstStyle/>
                    <a:p>
                      <a:pPr marL="0" marR="0" algn="ctr">
                        <a:lnSpc>
                          <a:spcPct val="15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0.09056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4.16576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87245901"/>
                  </a:ext>
                </a:extLst>
              </a:tr>
              <a:tr h="226304">
                <a:tc>
                  <a:txBody>
                    <a:bodyPr/>
                    <a:lstStyle/>
                    <a:p>
                      <a:pPr marL="0" marR="0" algn="ctr">
                        <a:lnSpc>
                          <a:spcPct val="15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0.02758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1.26868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01611784"/>
                  </a:ext>
                </a:extLst>
              </a:tr>
              <a:tr h="226304">
                <a:tc>
                  <a:txBody>
                    <a:bodyPr/>
                    <a:lstStyle/>
                    <a:p>
                      <a:pPr marL="0" marR="0" algn="ctr">
                        <a:lnSpc>
                          <a:spcPct val="15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0.00978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0.44988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375969827"/>
                  </a:ext>
                </a:extLst>
              </a:tr>
              <a:tr h="226304">
                <a:tc>
                  <a:txBody>
                    <a:bodyPr/>
                    <a:lstStyle/>
                    <a:p>
                      <a:pPr marL="0" marR="0" algn="ctr">
                        <a:lnSpc>
                          <a:spcPct val="15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1.0856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06089555"/>
                  </a:ext>
                </a:extLst>
              </a:tr>
              <a:tr h="226304">
                <a:tc>
                  <a:txBody>
                    <a:bodyPr/>
                    <a:lstStyle/>
                    <a:p>
                      <a:pPr marL="0" marR="0" algn="ctr">
                        <a:lnSpc>
                          <a:spcPct val="15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794108946"/>
                  </a:ext>
                </a:extLst>
              </a:tr>
              <a:tr h="226304">
                <a:tc>
                  <a:txBody>
                    <a:bodyPr/>
                    <a:lstStyle/>
                    <a:p>
                      <a:pPr marL="0" marR="0" algn="ctr">
                        <a:lnSpc>
                          <a:spcPct val="15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0.90804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015600146"/>
                  </a:ext>
                </a:extLst>
              </a:tr>
              <a:tr h="0">
                <a:tc>
                  <a:txBody>
                    <a:bodyPr/>
                    <a:lstStyle/>
                    <a:p>
                      <a:pPr marL="0" marR="0" algn="ctr">
                        <a:lnSpc>
                          <a:spcPct val="15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0.03404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99105101"/>
                  </a:ext>
                </a:extLst>
              </a:tr>
            </a:tbl>
          </a:graphicData>
        </a:graphic>
      </p:graphicFrame>
      <p:sp>
        <p:nvSpPr>
          <p:cNvPr id="6" name="TextBox 5">
            <a:extLst>
              <a:ext uri="{FF2B5EF4-FFF2-40B4-BE49-F238E27FC236}">
                <a16:creationId xmlns:a16="http://schemas.microsoft.com/office/drawing/2014/main" id="{4DF45563-7FE6-364E-E0ED-CAD75D5A11B4}"/>
              </a:ext>
            </a:extLst>
          </p:cNvPr>
          <p:cNvSpPr txBox="1"/>
          <p:nvPr/>
        </p:nvSpPr>
        <p:spPr>
          <a:xfrm>
            <a:off x="2916317" y="104775"/>
            <a:ext cx="6097508" cy="464871"/>
          </a:xfrm>
          <a:prstGeom prst="rect">
            <a:avLst/>
          </a:prstGeom>
          <a:noFill/>
        </p:spPr>
        <p:txBody>
          <a:bodyPr wrap="square">
            <a:spAutoFit/>
          </a:bodyPr>
          <a:lstStyle/>
          <a:p>
            <a:pPr>
              <a:lnSpc>
                <a:spcPct val="150000"/>
              </a:lnSpc>
            </a:pPr>
            <a:r>
              <a:rPr lang="en-US"/>
              <a:t>K</a:t>
            </a:r>
            <a:r>
              <a:rPr lang="en-US" baseline="-25000"/>
              <a:t>3</a:t>
            </a:r>
            <a:r>
              <a:rPr lang="en-US"/>
              <a:t> = “ozgbrnxkgerwgozgnkggxkhxkgfxnrozgthuGxhteetamn”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EF0D34-CCBA-329F-B7BF-A6E738AEEBF3}"/>
                  </a:ext>
                </a:extLst>
              </p:cNvPr>
              <p:cNvSpPr txBox="1"/>
              <p:nvPr/>
            </p:nvSpPr>
            <p:spPr>
              <a:xfrm>
                <a:off x="0" y="905464"/>
                <a:ext cx="2705100" cy="870751"/>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𝑥</m:t>
                          </m:r>
                        </m:e>
                        <m:sup>
                          <m:r>
                            <a:rPr lang="en-US" i="0">
                              <a:latin typeface="Cambria Math" panose="02040503050406030204" pitchFamily="18" charset="0"/>
                            </a:rPr>
                            <m:t>2</m:t>
                          </m:r>
                        </m:sup>
                      </m:sSup>
                      <m:r>
                        <a:rPr lang="en-US" i="0">
                          <a:latin typeface="Cambria Math" panose="02040503050406030204" pitchFamily="18" charset="0"/>
                        </a:rPr>
                        <m:t>=</m:t>
                      </m:r>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𝑖</m:t>
                          </m:r>
                          <m:r>
                            <a:rPr lang="en-US" i="0">
                              <a:latin typeface="Cambria Math" panose="02040503050406030204" pitchFamily="18" charset="0"/>
                            </a:rPr>
                            <m:t>=</m:t>
                          </m:r>
                          <m:r>
                            <a:rPr lang="en-US" b="0" i="0" smtClean="0">
                              <a:latin typeface="Cambria Math" panose="02040503050406030204" pitchFamily="18" charset="0"/>
                            </a:rPr>
                            <m:t>0</m:t>
                          </m:r>
                        </m:sub>
                        <m:sup>
                          <m:r>
                            <a:rPr lang="en-US" i="1">
                              <a:latin typeface="Cambria Math" panose="02040503050406030204" pitchFamily="18" charset="0"/>
                            </a:rPr>
                            <m:t>𝑛</m:t>
                          </m:r>
                          <m:r>
                            <a:rPr lang="en-US" b="0" i="1" smtClean="0">
                              <a:latin typeface="Cambria Math" panose="02040503050406030204" pitchFamily="18" charset="0"/>
                            </a:rPr>
                            <m:t>−1</m:t>
                          </m:r>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𝑖</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𝑖</m:t>
                                          </m:r>
                                        </m:sub>
                                      </m:sSub>
                                    </m:e>
                                  </m:d>
                                </m:e>
                                <m:sup>
                                  <m:r>
                                    <a:rPr lang="en-US" i="0">
                                      <a:latin typeface="Cambria Math" panose="02040503050406030204" pitchFamily="18" charset="0"/>
                                    </a:rPr>
                                    <m:t>2</m:t>
                                  </m:r>
                                </m:sup>
                              </m:sSup>
                            </m:num>
                            <m:den>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𝑖</m:t>
                                  </m:r>
                                </m:sub>
                              </m:sSub>
                            </m:den>
                          </m:f>
                        </m:e>
                      </m:nary>
                    </m:oMath>
                  </m:oMathPara>
                </a14:m>
                <a:endParaRPr lang="en-US"/>
              </a:p>
            </p:txBody>
          </p:sp>
        </mc:Choice>
        <mc:Fallback xmlns="">
          <p:sp>
            <p:nvSpPr>
              <p:cNvPr id="7" name="TextBox 6">
                <a:extLst>
                  <a:ext uri="{FF2B5EF4-FFF2-40B4-BE49-F238E27FC236}">
                    <a16:creationId xmlns:a16="http://schemas.microsoft.com/office/drawing/2014/main" id="{03EF0D34-CCBA-329F-B7BF-A6E738AEEBF3}"/>
                  </a:ext>
                </a:extLst>
              </p:cNvPr>
              <p:cNvSpPr txBox="1">
                <a:spLocks noRot="1" noChangeAspect="1" noMove="1" noResize="1" noEditPoints="1" noAdjustHandles="1" noChangeArrowheads="1" noChangeShapeType="1" noTextEdit="1"/>
              </p:cNvSpPr>
              <p:nvPr/>
            </p:nvSpPr>
            <p:spPr>
              <a:xfrm>
                <a:off x="0" y="905464"/>
                <a:ext cx="2705100" cy="870751"/>
              </a:xfrm>
              <a:prstGeom prst="rect">
                <a:avLst/>
              </a:prstGeom>
              <a:blipFill>
                <a:blip r:embed="rId3"/>
                <a:stretch>
                  <a:fillRect/>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500633ED-8CD8-D3BB-AF09-D6225065714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221899" y="771818"/>
            <a:ext cx="5740024" cy="5901029"/>
          </a:xfrm>
          <a:prstGeom prst="rect">
            <a:avLst/>
          </a:prstGeom>
          <a:noFill/>
          <a:ln w="19050">
            <a:solidFill>
              <a:schemeClr val="bg1"/>
            </a:solidFill>
          </a:ln>
        </p:spPr>
      </p:pic>
    </p:spTree>
    <p:extLst>
      <p:ext uri="{BB962C8B-B14F-4D97-AF65-F5344CB8AC3E}">
        <p14:creationId xmlns:p14="http://schemas.microsoft.com/office/powerpoint/2010/main" val="12458720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DB304-AC99-C571-97CA-B40A170CD256}"/>
            </a:ext>
          </a:extLst>
        </p:cNvPr>
        <p:cNvGrpSpPr/>
        <p:nvPr/>
      </p:nvGrpSpPr>
      <p:grpSpPr>
        <a:xfrm>
          <a:off x="0" y="0"/>
          <a:ext cx="0" cy="0"/>
          <a:chOff x="0" y="0"/>
          <a:chExt cx="0" cy="0"/>
        </a:xfrm>
      </p:grpSpPr>
      <p:graphicFrame>
        <p:nvGraphicFramePr>
          <p:cNvPr id="15" name="Content Placeholder 14">
            <a:extLst>
              <a:ext uri="{FF2B5EF4-FFF2-40B4-BE49-F238E27FC236}">
                <a16:creationId xmlns:a16="http://schemas.microsoft.com/office/drawing/2014/main" id="{37D39BB2-3D81-996A-C7F1-B42D42CA6A86}"/>
              </a:ext>
            </a:extLst>
          </p:cNvPr>
          <p:cNvGraphicFramePr>
            <a:graphicFrameLocks noGrp="1"/>
          </p:cNvGraphicFramePr>
          <p:nvPr>
            <p:ph idx="1"/>
          </p:nvPr>
        </p:nvGraphicFramePr>
        <p:xfrm>
          <a:off x="9239250" y="55428"/>
          <a:ext cx="2818110" cy="6617419"/>
        </p:xfrm>
        <a:graphic>
          <a:graphicData uri="http://schemas.openxmlformats.org/drawingml/2006/table">
            <a:tbl>
              <a:tblPr firstRow="1" firstCol="1" bandRow="1">
                <a:tableStyleId>{5940675A-B579-460E-94D1-54222C63F5DA}</a:tableStyleId>
              </a:tblPr>
              <a:tblGrid>
                <a:gridCol w="704527">
                  <a:extLst>
                    <a:ext uri="{9D8B030D-6E8A-4147-A177-3AD203B41FA5}">
                      <a16:colId xmlns:a16="http://schemas.microsoft.com/office/drawing/2014/main" val="3705062519"/>
                    </a:ext>
                  </a:extLst>
                </a:gridCol>
                <a:gridCol w="1291634">
                  <a:extLst>
                    <a:ext uri="{9D8B030D-6E8A-4147-A177-3AD203B41FA5}">
                      <a16:colId xmlns:a16="http://schemas.microsoft.com/office/drawing/2014/main" val="2716038338"/>
                    </a:ext>
                  </a:extLst>
                </a:gridCol>
                <a:gridCol w="821949">
                  <a:extLst>
                    <a:ext uri="{9D8B030D-6E8A-4147-A177-3AD203B41FA5}">
                      <a16:colId xmlns:a16="http://schemas.microsoft.com/office/drawing/2014/main" val="2053861919"/>
                    </a:ext>
                  </a:extLst>
                </a:gridCol>
              </a:tblGrid>
              <a:tr h="246197">
                <a:tc>
                  <a:txBody>
                    <a:bodyPr/>
                    <a:lstStyle/>
                    <a:p>
                      <a:pPr marL="0" marR="0" algn="ctr">
                        <a:lnSpc>
                          <a:spcPct val="100000"/>
                        </a:lnSpc>
                        <a:spcAft>
                          <a:spcPts val="800"/>
                        </a:spcAft>
                        <a:buNone/>
                      </a:pPr>
                      <a:r>
                        <a:rPr lang="en-US" sz="1200" kern="0">
                          <a:solidFill>
                            <a:schemeClr val="bg1"/>
                          </a:solidFill>
                          <a:effectLst/>
                        </a:rPr>
                        <a:t>Ký tự</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tc>
                  <a:txBody>
                    <a:bodyPr/>
                    <a:lstStyle/>
                    <a:p>
                      <a:pPr marL="0" marR="0" algn="ctr">
                        <a:lnSpc>
                          <a:spcPct val="100000"/>
                        </a:lnSpc>
                        <a:spcAft>
                          <a:spcPts val="800"/>
                        </a:spcAft>
                        <a:buNone/>
                      </a:pPr>
                      <a:r>
                        <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a:t>
                      </a:r>
                      <a:r>
                        <a:rPr lang="en-US" sz="1200" kern="100" baseline="-250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tc>
                  <a:txBody>
                    <a:bodyPr/>
                    <a:lstStyle/>
                    <a:p>
                      <a:pPr marL="0" marR="0" algn="ctr">
                        <a:lnSpc>
                          <a:spcPct val="100000"/>
                        </a:lnSpc>
                        <a:spcAft>
                          <a:spcPts val="800"/>
                        </a:spcAft>
                        <a:buNone/>
                      </a:pPr>
                      <a:r>
                        <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a:t>
                      </a:r>
                      <a:r>
                        <a:rPr lang="en-US" sz="1200" kern="100" baseline="-250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4854" marR="44854" marT="0" marB="0" anchor="ctr">
                    <a:solidFill>
                      <a:srgbClr val="FFC000"/>
                    </a:solidFill>
                  </a:tcPr>
                </a:tc>
                <a:extLst>
                  <a:ext uri="{0D108BD9-81ED-4DB2-BD59-A6C34878D82A}">
                    <a16:rowId xmlns:a16="http://schemas.microsoft.com/office/drawing/2014/main" val="2273717808"/>
                  </a:ext>
                </a:extLst>
              </a:tr>
              <a:tr h="226304">
                <a:tc>
                  <a:txBody>
                    <a:bodyPr/>
                    <a:lstStyle/>
                    <a:p>
                      <a:pPr marL="0" marR="0" algn="ctr">
                        <a:lnSpc>
                          <a:spcPct val="15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0.08167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3.75682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51738712"/>
                  </a:ext>
                </a:extLst>
              </a:tr>
              <a:tr h="226304">
                <a:tc>
                  <a:txBody>
                    <a:bodyPr/>
                    <a:lstStyle/>
                    <a:p>
                      <a:pPr marL="0" marR="0" algn="ctr">
                        <a:lnSpc>
                          <a:spcPct val="15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0.01492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0.68632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528291463"/>
                  </a:ext>
                </a:extLst>
              </a:tr>
              <a:tr h="226304">
                <a:tc>
                  <a:txBody>
                    <a:bodyPr/>
                    <a:lstStyle/>
                    <a:p>
                      <a:pPr marL="0" marR="0" algn="ctr">
                        <a:lnSpc>
                          <a:spcPct val="15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0.02782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1.27972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157828896"/>
                  </a:ext>
                </a:extLst>
              </a:tr>
              <a:tr h="226304">
                <a:tc>
                  <a:txBody>
                    <a:bodyPr/>
                    <a:lstStyle/>
                    <a:p>
                      <a:pPr marL="0" marR="0" algn="ctr">
                        <a:lnSpc>
                          <a:spcPct val="15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0.04253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1.95638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902391"/>
                  </a:ext>
                </a:extLst>
              </a:tr>
              <a:tr h="226304">
                <a:tc>
                  <a:txBody>
                    <a:bodyPr/>
                    <a:lstStyle/>
                    <a:p>
                      <a:pPr marL="0" marR="0" algn="ctr">
                        <a:lnSpc>
                          <a:spcPct val="15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0.12702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5.84292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860118349"/>
                  </a:ext>
                </a:extLst>
              </a:tr>
              <a:tr h="226304">
                <a:tc>
                  <a:txBody>
                    <a:bodyPr/>
                    <a:lstStyle/>
                    <a:p>
                      <a:pPr marL="0" marR="0" algn="ctr">
                        <a:lnSpc>
                          <a:spcPct val="15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0.02228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1.02488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139119834"/>
                  </a:ext>
                </a:extLst>
              </a:tr>
              <a:tr h="226304">
                <a:tc>
                  <a:txBody>
                    <a:bodyPr/>
                    <a:lstStyle/>
                    <a:p>
                      <a:pPr marL="0" marR="0" algn="ctr">
                        <a:lnSpc>
                          <a:spcPct val="15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0.9269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93505350"/>
                  </a:ext>
                </a:extLst>
              </a:tr>
              <a:tr h="226304">
                <a:tc>
                  <a:txBody>
                    <a:bodyPr/>
                    <a:lstStyle/>
                    <a:p>
                      <a:pPr marL="0" marR="0" algn="ctr">
                        <a:lnSpc>
                          <a:spcPct val="15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0.06094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2.80324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580187908"/>
                  </a:ext>
                </a:extLst>
              </a:tr>
              <a:tr h="226304">
                <a:tc>
                  <a:txBody>
                    <a:bodyPr/>
                    <a:lstStyle/>
                    <a:p>
                      <a:pPr marL="0" marR="0" algn="ctr">
                        <a:lnSpc>
                          <a:spcPct val="15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0.06966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3.20436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639935506"/>
                  </a:ext>
                </a:extLst>
              </a:tr>
              <a:tr h="226304">
                <a:tc>
                  <a:txBody>
                    <a:bodyPr/>
                    <a:lstStyle/>
                    <a:p>
                      <a:pPr marL="0" marR="0" algn="ctr">
                        <a:lnSpc>
                          <a:spcPct val="15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0.00153</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0.07038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19437713"/>
                  </a:ext>
                </a:extLst>
              </a:tr>
              <a:tr h="226304">
                <a:tc>
                  <a:txBody>
                    <a:bodyPr/>
                    <a:lstStyle/>
                    <a:p>
                      <a:pPr marL="0" marR="0" algn="ctr">
                        <a:lnSpc>
                          <a:spcPct val="15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0.00772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0.35512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6173072"/>
                  </a:ext>
                </a:extLst>
              </a:tr>
              <a:tr h="226304">
                <a:tc>
                  <a:txBody>
                    <a:bodyPr/>
                    <a:lstStyle/>
                    <a:p>
                      <a:pPr marL="0" marR="0" algn="ctr">
                        <a:lnSpc>
                          <a:spcPct val="15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0.04025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1.8515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180079724"/>
                  </a:ext>
                </a:extLst>
              </a:tr>
              <a:tr h="226304">
                <a:tc>
                  <a:txBody>
                    <a:bodyPr/>
                    <a:lstStyle/>
                    <a:p>
                      <a:pPr marL="0" marR="0" algn="ctr">
                        <a:lnSpc>
                          <a:spcPct val="15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0.02406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1.10676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248808680"/>
                  </a:ext>
                </a:extLst>
              </a:tr>
              <a:tr h="226304">
                <a:tc>
                  <a:txBody>
                    <a:bodyPr/>
                    <a:lstStyle/>
                    <a:p>
                      <a:pPr marL="0" marR="0" algn="ctr">
                        <a:lnSpc>
                          <a:spcPct val="15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0.06749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3.10454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11398717"/>
                  </a:ext>
                </a:extLst>
              </a:tr>
              <a:tr h="226304">
                <a:tc>
                  <a:txBody>
                    <a:bodyPr/>
                    <a:lstStyle/>
                    <a:p>
                      <a:pPr marL="0" marR="0" algn="ctr">
                        <a:lnSpc>
                          <a:spcPct val="15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0.07507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3.45322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878432031"/>
                  </a:ext>
                </a:extLst>
              </a:tr>
              <a:tr h="226304">
                <a:tc>
                  <a:txBody>
                    <a:bodyPr/>
                    <a:lstStyle/>
                    <a:p>
                      <a:pPr marL="0" marR="0" algn="ctr">
                        <a:lnSpc>
                          <a:spcPct val="15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0.01929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0.88734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785111192"/>
                  </a:ext>
                </a:extLst>
              </a:tr>
              <a:tr h="226304">
                <a:tc>
                  <a:txBody>
                    <a:bodyPr/>
                    <a:lstStyle/>
                    <a:p>
                      <a:pPr marL="0" marR="0" algn="ctr">
                        <a:lnSpc>
                          <a:spcPct val="15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0.00095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0.0437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73563382"/>
                  </a:ext>
                </a:extLst>
              </a:tr>
              <a:tr h="226304">
                <a:tc>
                  <a:txBody>
                    <a:bodyPr/>
                    <a:lstStyle/>
                    <a:p>
                      <a:pPr marL="0" marR="0" algn="ctr">
                        <a:lnSpc>
                          <a:spcPct val="15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0.05987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2.75402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627019612"/>
                  </a:ext>
                </a:extLst>
              </a:tr>
              <a:tr h="226304">
                <a:tc>
                  <a:txBody>
                    <a:bodyPr/>
                    <a:lstStyle/>
                    <a:p>
                      <a:pPr marL="0" marR="0" algn="ctr">
                        <a:lnSpc>
                          <a:spcPct val="15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0.06327</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2.91042</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4071481530"/>
                  </a:ext>
                </a:extLst>
              </a:tr>
              <a:tr h="226304">
                <a:tc>
                  <a:txBody>
                    <a:bodyPr/>
                    <a:lstStyle/>
                    <a:p>
                      <a:pPr marL="0" marR="0" algn="ctr">
                        <a:lnSpc>
                          <a:spcPct val="15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0.09056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4.16576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787245901"/>
                  </a:ext>
                </a:extLst>
              </a:tr>
              <a:tr h="226304">
                <a:tc>
                  <a:txBody>
                    <a:bodyPr/>
                    <a:lstStyle/>
                    <a:p>
                      <a:pPr marL="0" marR="0" algn="ctr">
                        <a:lnSpc>
                          <a:spcPct val="15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0.02758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1.26868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401611784"/>
                  </a:ext>
                </a:extLst>
              </a:tr>
              <a:tr h="226304">
                <a:tc>
                  <a:txBody>
                    <a:bodyPr/>
                    <a:lstStyle/>
                    <a:p>
                      <a:pPr marL="0" marR="0" algn="ctr">
                        <a:lnSpc>
                          <a:spcPct val="15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0.00978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0.44988</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2375969827"/>
                  </a:ext>
                </a:extLst>
              </a:tr>
              <a:tr h="226304">
                <a:tc>
                  <a:txBody>
                    <a:bodyPr/>
                    <a:lstStyle/>
                    <a:p>
                      <a:pPr marL="0" marR="0" algn="ctr">
                        <a:lnSpc>
                          <a:spcPct val="15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0.0236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1.0856</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06089555"/>
                  </a:ext>
                </a:extLst>
              </a:tr>
              <a:tr h="226304">
                <a:tc>
                  <a:txBody>
                    <a:bodyPr/>
                    <a:lstStyle/>
                    <a:p>
                      <a:pPr marL="0" marR="0" algn="ctr">
                        <a:lnSpc>
                          <a:spcPct val="15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0.0015</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0.069</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794108946"/>
                  </a:ext>
                </a:extLst>
              </a:tr>
              <a:tr h="226304">
                <a:tc>
                  <a:txBody>
                    <a:bodyPr/>
                    <a:lstStyle/>
                    <a:p>
                      <a:pPr marL="0" marR="0" algn="ctr">
                        <a:lnSpc>
                          <a:spcPct val="15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0.01974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0.90804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3015600146"/>
                  </a:ext>
                </a:extLst>
              </a:tr>
              <a:tr h="0">
                <a:tc>
                  <a:txBody>
                    <a:bodyPr/>
                    <a:lstStyle/>
                    <a:p>
                      <a:pPr marL="0" marR="0" algn="ctr">
                        <a:lnSpc>
                          <a:spcPct val="15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0.00074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tc>
                  <a:txBody>
                    <a:bodyPr/>
                    <a:lstStyle/>
                    <a:p>
                      <a:pPr marL="0" marR="0" algn="ctr">
                        <a:lnSpc>
                          <a:spcPct val="150000"/>
                        </a:lnSpc>
                        <a:spcAft>
                          <a:spcPts val="800"/>
                        </a:spcAft>
                        <a:buNone/>
                      </a:pPr>
                      <a:r>
                        <a:rPr lang="en-US" sz="1200" kern="0">
                          <a:solidFill>
                            <a:schemeClr val="bg1"/>
                          </a:solidFill>
                          <a:effectLst/>
                        </a:rPr>
                        <a:t>0.03404</a:t>
                      </a:r>
                      <a:endParaRPr lang="en-US" sz="1200" kern="100">
                        <a:solidFill>
                          <a:schemeClr val="bg1"/>
                        </a:solidFill>
                        <a:effectLst/>
                        <a:latin typeface="Times New Roman" panose="02020603050405020304" pitchFamily="18" charset="0"/>
                        <a:ea typeface="+mn-ea"/>
                        <a:cs typeface="Times New Roman" panose="02020603050405020304" pitchFamily="18" charset="0"/>
                      </a:endParaRPr>
                    </a:p>
                  </a:txBody>
                  <a:tcPr marL="44854" marR="44854" marT="0" marB="0" anchor="ctr">
                    <a:solidFill>
                      <a:srgbClr val="A0B0DC"/>
                    </a:solidFill>
                  </a:tcPr>
                </a:tc>
                <a:extLst>
                  <a:ext uri="{0D108BD9-81ED-4DB2-BD59-A6C34878D82A}">
                    <a16:rowId xmlns:a16="http://schemas.microsoft.com/office/drawing/2014/main" val="199105101"/>
                  </a:ext>
                </a:extLst>
              </a:tr>
            </a:tbl>
          </a:graphicData>
        </a:graphic>
      </p:graphicFrame>
      <p:sp>
        <p:nvSpPr>
          <p:cNvPr id="6" name="TextBox 5">
            <a:extLst>
              <a:ext uri="{FF2B5EF4-FFF2-40B4-BE49-F238E27FC236}">
                <a16:creationId xmlns:a16="http://schemas.microsoft.com/office/drawing/2014/main" id="{D6FCA50A-0D9D-0ED4-5927-D53F12286F55}"/>
              </a:ext>
            </a:extLst>
          </p:cNvPr>
          <p:cNvSpPr txBox="1"/>
          <p:nvPr/>
        </p:nvSpPr>
        <p:spPr>
          <a:xfrm>
            <a:off x="2916317" y="104775"/>
            <a:ext cx="6097508" cy="464871"/>
          </a:xfrm>
          <a:prstGeom prst="rect">
            <a:avLst/>
          </a:prstGeom>
          <a:noFill/>
        </p:spPr>
        <p:txBody>
          <a:bodyPr wrap="square">
            <a:spAutoFit/>
          </a:bodyPr>
          <a:lstStyle/>
          <a:p>
            <a:pPr>
              <a:lnSpc>
                <a:spcPct val="150000"/>
              </a:lnSpc>
            </a:pPr>
            <a:r>
              <a:rPr lang="en-US"/>
              <a:t>K</a:t>
            </a:r>
            <a:r>
              <a:rPr lang="en-US" baseline="-25000"/>
              <a:t>3</a:t>
            </a:r>
            <a:r>
              <a:rPr lang="en-US"/>
              <a:t> = “ozgbrnxkgerwgozgnkggxkhxkgfxnrozgthuGxhteetamn”</a:t>
            </a:r>
          </a:p>
        </p:txBody>
      </p:sp>
      <p:pic>
        <p:nvPicPr>
          <p:cNvPr id="2" name="Picture 1">
            <a:extLst>
              <a:ext uri="{FF2B5EF4-FFF2-40B4-BE49-F238E27FC236}">
                <a16:creationId xmlns:a16="http://schemas.microsoft.com/office/drawing/2014/main" id="{D66DFE22-483F-B206-67D8-E57C5E441FC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21899" y="771818"/>
            <a:ext cx="5740024" cy="5901029"/>
          </a:xfrm>
          <a:prstGeom prst="rect">
            <a:avLst/>
          </a:prstGeom>
          <a:noFill/>
          <a:ln w="19050">
            <a:solidFill>
              <a:schemeClr val="bg1"/>
            </a:solidFill>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E752F4E7-D96A-F9DE-34EB-C0F2D1D336C1}"/>
                  </a:ext>
                </a:extLst>
              </p:cNvPr>
              <p:cNvGraphicFramePr>
                <a:graphicFrameLocks noGrp="1"/>
              </p:cNvGraphicFramePr>
              <p:nvPr>
                <p:extLst>
                  <p:ext uri="{D42A27DB-BD31-4B8C-83A1-F6EECF244321}">
                    <p14:modId xmlns:p14="http://schemas.microsoft.com/office/powerpoint/2010/main" val="1205371312"/>
                  </p:ext>
                </p:extLst>
              </p:nvPr>
            </p:nvGraphicFramePr>
            <p:xfrm>
              <a:off x="98207" y="104775"/>
              <a:ext cx="2592685" cy="6568067"/>
            </p:xfrm>
            <a:graphic>
              <a:graphicData uri="http://schemas.openxmlformats.org/drawingml/2006/table">
                <a:tbl>
                  <a:tblPr firstRow="1" firstCol="1" bandRow="1">
                    <a:tableStyleId>{5940675A-B579-460E-94D1-54222C63F5DA}</a:tableStyleId>
                  </a:tblPr>
                  <a:tblGrid>
                    <a:gridCol w="595475">
                      <a:extLst>
                        <a:ext uri="{9D8B030D-6E8A-4147-A177-3AD203B41FA5}">
                          <a16:colId xmlns:a16="http://schemas.microsoft.com/office/drawing/2014/main" val="3908562002"/>
                        </a:ext>
                      </a:extLst>
                    </a:gridCol>
                    <a:gridCol w="915255">
                      <a:extLst>
                        <a:ext uri="{9D8B030D-6E8A-4147-A177-3AD203B41FA5}">
                          <a16:colId xmlns:a16="http://schemas.microsoft.com/office/drawing/2014/main" val="522803004"/>
                        </a:ext>
                      </a:extLst>
                    </a:gridCol>
                    <a:gridCol w="1081955">
                      <a:extLst>
                        <a:ext uri="{9D8B030D-6E8A-4147-A177-3AD203B41FA5}">
                          <a16:colId xmlns:a16="http://schemas.microsoft.com/office/drawing/2014/main" val="4212338223"/>
                        </a:ext>
                      </a:extLst>
                    </a:gridCol>
                  </a:tblGrid>
                  <a:tr h="311713">
                    <a:tc>
                      <a:txBody>
                        <a:bodyPr/>
                        <a:lstStyle/>
                        <a:p>
                          <a:pPr marL="0" marR="0" algn="ctr">
                            <a:lnSpc>
                              <a:spcPct val="100000"/>
                            </a:lnSpc>
                            <a:spcAft>
                              <a:spcPts val="800"/>
                            </a:spcAft>
                            <a:buNone/>
                          </a:pPr>
                          <a:r>
                            <a:rPr lang="en-US" sz="1200" kern="0">
                              <a:solidFill>
                                <a:schemeClr val="bg1"/>
                              </a:solidFill>
                              <a:effectLst/>
                            </a:rPr>
                            <a:t>Shift </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tc>
                      <a:txBody>
                        <a:bodyPr/>
                        <a:lstStyle/>
                        <a:p>
                          <a:pPr marL="0" marR="0" algn="ctr">
                            <a:lnSpc>
                              <a:spcPct val="100000"/>
                            </a:lnSpc>
                            <a:spcAft>
                              <a:spcPts val="800"/>
                            </a:spcAft>
                            <a:buNone/>
                          </a:pPr>
                          <a:r>
                            <a:rPr lang="en-US" sz="1200" kern="0">
                              <a:solidFill>
                                <a:schemeClr val="bg1"/>
                              </a:solidFill>
                              <a:effectLst/>
                            </a:rPr>
                            <a:t>Ký tự</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tc>
                      <a:txBody>
                        <a:bodyPr/>
                        <a:lstStyle/>
                        <a:p>
                          <a:pPr marL="0" marR="0" algn="ctr">
                            <a:lnSpc>
                              <a:spcPct val="100000"/>
                            </a:lnSpc>
                            <a:spcAft>
                              <a:spcPts val="0"/>
                            </a:spcAft>
                            <a:buNone/>
                          </a:pPr>
                          <a14:m>
                            <m:oMathPara xmlns:m="http://schemas.openxmlformats.org/officeDocument/2006/math">
                              <m:oMathParaPr>
                                <m:jc m:val="centerGroup"/>
                              </m:oMathParaPr>
                              <m:oMath xmlns:m="http://schemas.openxmlformats.org/officeDocument/2006/math">
                                <m:sSup>
                                  <m:sSupPr>
                                    <m:ctrlPr>
                                      <a:rPr lang="en-US" sz="1200" i="1" kern="100" smtClean="0">
                                        <a:solidFill>
                                          <a:schemeClr val="bg1"/>
                                        </a:solidFill>
                                        <a:effectLst/>
                                        <a:latin typeface="Cambria Math" panose="02040503050406030204" pitchFamily="18" charset="0"/>
                                      </a:rPr>
                                    </m:ctrlPr>
                                  </m:sSupPr>
                                  <m:e>
                                    <m:r>
                                      <a:rPr lang="en-US" sz="1200" kern="100">
                                        <a:solidFill>
                                          <a:schemeClr val="bg1"/>
                                        </a:solidFill>
                                        <a:effectLst/>
                                        <a:latin typeface="Cambria Math" panose="02040503050406030204" pitchFamily="18" charset="0"/>
                                      </a:rPr>
                                      <m:t>𝑥</m:t>
                                    </m:r>
                                  </m:e>
                                  <m:sup>
                                    <m:r>
                                      <a:rPr lang="en-US" sz="1200" kern="100">
                                        <a:solidFill>
                                          <a:schemeClr val="bg1"/>
                                        </a:solidFill>
                                        <a:effectLst/>
                                        <a:latin typeface="Cambria Math" panose="02040503050406030204" pitchFamily="18" charset="0"/>
                                      </a:rPr>
                                      <m:t>2</m:t>
                                    </m:r>
                                  </m:sup>
                                </m:sSup>
                              </m:oMath>
                            </m:oMathPara>
                          </a14:m>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extLst>
                      <a:ext uri="{0D108BD9-81ED-4DB2-BD59-A6C34878D82A}">
                        <a16:rowId xmlns:a16="http://schemas.microsoft.com/office/drawing/2014/main" val="2860070009"/>
                      </a:ext>
                    </a:extLst>
                  </a:tr>
                  <a:tr h="240629">
                    <a:tc>
                      <a:txBody>
                        <a:bodyPr/>
                        <a:lstStyle/>
                        <a:p>
                          <a:pPr marL="0" marR="0" algn="ctr">
                            <a:lnSpc>
                              <a:spcPct val="100000"/>
                            </a:lnSpc>
                            <a:spcAft>
                              <a:spcPts val="800"/>
                            </a:spcAft>
                            <a:buNone/>
                          </a:pPr>
                          <a:r>
                            <a:rPr lang="en-US" sz="1200" kern="0">
                              <a:solidFill>
                                <a:schemeClr val="bg1"/>
                              </a:solidFill>
                              <a:effectLst/>
                            </a:rPr>
                            <a:t>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736.4077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79205740"/>
                      </a:ext>
                    </a:extLst>
                  </a:tr>
                  <a:tr h="240629">
                    <a:tc>
                      <a:txBody>
                        <a:bodyPr/>
                        <a:lstStyle/>
                        <a:p>
                          <a:pPr marL="0" marR="0" algn="ctr">
                            <a:lnSpc>
                              <a:spcPct val="100000"/>
                            </a:lnSpc>
                            <a:spcAft>
                              <a:spcPts val="800"/>
                            </a:spcAft>
                            <a:buNone/>
                          </a:pPr>
                          <a:r>
                            <a:rPr lang="en-US" sz="1200" kern="0">
                              <a:solidFill>
                                <a:schemeClr val="bg1"/>
                              </a:solidFill>
                              <a:effectLst/>
                            </a:rPr>
                            <a:t>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566.8359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475262422"/>
                      </a:ext>
                    </a:extLst>
                  </a:tr>
                  <a:tr h="240629">
                    <a:tc>
                      <a:txBody>
                        <a:bodyPr/>
                        <a:lstStyle/>
                        <a:p>
                          <a:pPr marL="0" marR="0" algn="ctr">
                            <a:lnSpc>
                              <a:spcPct val="100000"/>
                            </a:lnSpc>
                            <a:spcAft>
                              <a:spcPts val="800"/>
                            </a:spcAft>
                            <a:buNone/>
                          </a:pPr>
                          <a:r>
                            <a:rPr lang="en-US" sz="1200" kern="0">
                              <a:solidFill>
                                <a:schemeClr val="bg1"/>
                              </a:solidFill>
                              <a:effectLst/>
                            </a:rPr>
                            <a:t>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239.7966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883621750"/>
                      </a:ext>
                    </a:extLst>
                  </a:tr>
                  <a:tr h="240629">
                    <a:tc>
                      <a:txBody>
                        <a:bodyPr/>
                        <a:lstStyle/>
                        <a:p>
                          <a:pPr marL="0" marR="0" algn="ctr">
                            <a:lnSpc>
                              <a:spcPct val="100000"/>
                            </a:lnSpc>
                            <a:spcAft>
                              <a:spcPts val="800"/>
                            </a:spcAft>
                            <a:buNone/>
                          </a:pPr>
                          <a:r>
                            <a:rPr lang="en-US" sz="1200" kern="0">
                              <a:solidFill>
                                <a:schemeClr val="bg1"/>
                              </a:solidFill>
                              <a:effectLst/>
                            </a:rPr>
                            <a:t>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333.4191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617905706"/>
                      </a:ext>
                    </a:extLst>
                  </a:tr>
                  <a:tr h="240629">
                    <a:tc>
                      <a:txBody>
                        <a:bodyPr/>
                        <a:lstStyle/>
                        <a:p>
                          <a:pPr marL="0" marR="0" algn="ctr">
                            <a:lnSpc>
                              <a:spcPct val="100000"/>
                            </a:lnSpc>
                            <a:spcAft>
                              <a:spcPts val="800"/>
                            </a:spcAft>
                            <a:buNone/>
                          </a:pPr>
                          <a:r>
                            <a:rPr lang="en-US" sz="1200" kern="0">
                              <a:solidFill>
                                <a:schemeClr val="bg1"/>
                              </a:solidFill>
                              <a:effectLst/>
                            </a:rPr>
                            <a:t>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373.6915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56175779"/>
                      </a:ext>
                    </a:extLst>
                  </a:tr>
                  <a:tr h="240629">
                    <a:tc>
                      <a:txBody>
                        <a:bodyPr/>
                        <a:lstStyle/>
                        <a:p>
                          <a:pPr marL="0" marR="0" algn="ctr">
                            <a:lnSpc>
                              <a:spcPct val="100000"/>
                            </a:lnSpc>
                            <a:spcAft>
                              <a:spcPts val="800"/>
                            </a:spcAft>
                            <a:buNone/>
                          </a:pPr>
                          <a:r>
                            <a:rPr lang="en-US" sz="1200" kern="0">
                              <a:solidFill>
                                <a:schemeClr val="bg1"/>
                              </a:solidFill>
                              <a:effectLst/>
                            </a:rPr>
                            <a:t>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523.6088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875150356"/>
                      </a:ext>
                    </a:extLst>
                  </a:tr>
                  <a:tr h="240629">
                    <a:tc>
                      <a:txBody>
                        <a:bodyPr/>
                        <a:lstStyle/>
                        <a:p>
                          <a:pPr marL="0" marR="0" algn="ctr">
                            <a:lnSpc>
                              <a:spcPct val="100000"/>
                            </a:lnSpc>
                            <a:spcAft>
                              <a:spcPts val="800"/>
                            </a:spcAft>
                            <a:buNone/>
                          </a:pPr>
                          <a:r>
                            <a:rPr lang="en-US" sz="1200" kern="0">
                              <a:solidFill>
                                <a:schemeClr val="bg1"/>
                              </a:solidFill>
                              <a:effectLst/>
                            </a:rPr>
                            <a:t>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85.47791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115116865"/>
                      </a:ext>
                    </a:extLst>
                  </a:tr>
                  <a:tr h="240629">
                    <a:tc>
                      <a:txBody>
                        <a:bodyPr/>
                        <a:lstStyle/>
                        <a:p>
                          <a:pPr marL="0" marR="0" algn="ctr">
                            <a:lnSpc>
                              <a:spcPct val="100000"/>
                            </a:lnSpc>
                            <a:spcAft>
                              <a:spcPts val="800"/>
                            </a:spcAft>
                            <a:buNone/>
                          </a:pPr>
                          <a:r>
                            <a:rPr lang="en-US" sz="1200" kern="0">
                              <a:solidFill>
                                <a:schemeClr val="bg1"/>
                              </a:solidFill>
                              <a:effectLst/>
                            </a:rPr>
                            <a:t>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3108.239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458391904"/>
                      </a:ext>
                    </a:extLst>
                  </a:tr>
                  <a:tr h="240629">
                    <a:tc>
                      <a:txBody>
                        <a:bodyPr/>
                        <a:lstStyle/>
                        <a:p>
                          <a:pPr marL="0" marR="0" algn="ctr">
                            <a:lnSpc>
                              <a:spcPct val="100000"/>
                            </a:lnSpc>
                            <a:spcAft>
                              <a:spcPts val="800"/>
                            </a:spcAft>
                            <a:buNone/>
                          </a:pPr>
                          <a:r>
                            <a:rPr lang="en-US" sz="1200" kern="0">
                              <a:solidFill>
                                <a:schemeClr val="bg1"/>
                              </a:solidFill>
                              <a:effectLst/>
                            </a:rPr>
                            <a:t>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534.3328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902966190"/>
                      </a:ext>
                    </a:extLst>
                  </a:tr>
                  <a:tr h="240629">
                    <a:tc>
                      <a:txBody>
                        <a:bodyPr/>
                        <a:lstStyle/>
                        <a:p>
                          <a:pPr marL="0" marR="0" algn="ctr">
                            <a:lnSpc>
                              <a:spcPct val="100000"/>
                            </a:lnSpc>
                            <a:spcAft>
                              <a:spcPts val="800"/>
                            </a:spcAft>
                            <a:buNone/>
                          </a:pPr>
                          <a:r>
                            <a:rPr lang="en-US" sz="1200" kern="0">
                              <a:solidFill>
                                <a:schemeClr val="bg1"/>
                              </a:solidFill>
                              <a:effectLst/>
                            </a:rPr>
                            <a:t>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1437.005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525384423"/>
                      </a:ext>
                    </a:extLst>
                  </a:tr>
                  <a:tr h="240629">
                    <a:tc>
                      <a:txBody>
                        <a:bodyPr/>
                        <a:lstStyle/>
                        <a:p>
                          <a:pPr marL="0" marR="0" algn="ctr">
                            <a:lnSpc>
                              <a:spcPct val="100000"/>
                            </a:lnSpc>
                            <a:spcAft>
                              <a:spcPts val="800"/>
                            </a:spcAft>
                            <a:buNone/>
                          </a:pPr>
                          <a:r>
                            <a:rPr lang="en-US" sz="1200" kern="0">
                              <a:solidFill>
                                <a:schemeClr val="bg1"/>
                              </a:solidFill>
                              <a:effectLst/>
                            </a:rPr>
                            <a:t>10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359.3724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31096846"/>
                      </a:ext>
                    </a:extLst>
                  </a:tr>
                  <a:tr h="240629">
                    <a:tc>
                      <a:txBody>
                        <a:bodyPr/>
                        <a:lstStyle/>
                        <a:p>
                          <a:pPr marL="0" marR="0" algn="ctr">
                            <a:lnSpc>
                              <a:spcPct val="100000"/>
                            </a:lnSpc>
                            <a:spcAft>
                              <a:spcPts val="800"/>
                            </a:spcAft>
                            <a:buNone/>
                          </a:pPr>
                          <a:r>
                            <a:rPr lang="en-US" sz="1200" kern="0">
                              <a:solidFill>
                                <a:schemeClr val="bg1"/>
                              </a:solidFill>
                              <a:effectLst/>
                            </a:rPr>
                            <a:t>11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710.3541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678204429"/>
                      </a:ext>
                    </a:extLst>
                  </a:tr>
                  <a:tr h="240629">
                    <a:tc>
                      <a:txBody>
                        <a:bodyPr/>
                        <a:lstStyle/>
                        <a:p>
                          <a:pPr marL="0" marR="0" algn="ctr">
                            <a:lnSpc>
                              <a:spcPct val="100000"/>
                            </a:lnSpc>
                            <a:spcAft>
                              <a:spcPts val="800"/>
                            </a:spcAft>
                            <a:buNone/>
                          </a:pPr>
                          <a:r>
                            <a:rPr lang="en-US" sz="1200" kern="0">
                              <a:solidFill>
                                <a:schemeClr val="bg1"/>
                              </a:solidFill>
                              <a:effectLst/>
                            </a:rPr>
                            <a:t>12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122.3534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400292955"/>
                      </a:ext>
                    </a:extLst>
                  </a:tr>
                  <a:tr h="240629">
                    <a:tc>
                      <a:txBody>
                        <a:bodyPr/>
                        <a:lstStyle/>
                        <a:p>
                          <a:pPr marL="0" marR="0" algn="ctr">
                            <a:lnSpc>
                              <a:spcPct val="100000"/>
                            </a:lnSpc>
                            <a:spcAft>
                              <a:spcPts val="800"/>
                            </a:spcAft>
                            <a:buNone/>
                          </a:pPr>
                          <a:r>
                            <a:rPr lang="en-US" sz="1200" kern="0">
                              <a:solidFill>
                                <a:schemeClr val="bg1"/>
                              </a:solidFill>
                              <a:effectLst/>
                            </a:rPr>
                            <a:t>13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367.7406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457927489"/>
                      </a:ext>
                    </a:extLst>
                  </a:tr>
                  <a:tr h="240629">
                    <a:tc>
                      <a:txBody>
                        <a:bodyPr/>
                        <a:lstStyle/>
                        <a:p>
                          <a:pPr marL="0" marR="0" algn="ctr">
                            <a:lnSpc>
                              <a:spcPct val="100000"/>
                            </a:lnSpc>
                            <a:spcAft>
                              <a:spcPts val="800"/>
                            </a:spcAft>
                            <a:buNone/>
                          </a:pPr>
                          <a:r>
                            <a:rPr lang="en-US" sz="1200" kern="0">
                              <a:solidFill>
                                <a:schemeClr val="bg1"/>
                              </a:solidFill>
                              <a:effectLst/>
                            </a:rPr>
                            <a:t>14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1054.648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000675346"/>
                      </a:ext>
                    </a:extLst>
                  </a:tr>
                  <a:tr h="240629">
                    <a:tc>
                      <a:txBody>
                        <a:bodyPr/>
                        <a:lstStyle/>
                        <a:p>
                          <a:pPr marL="0" marR="0" algn="ctr">
                            <a:lnSpc>
                              <a:spcPct val="100000"/>
                            </a:lnSpc>
                            <a:spcAft>
                              <a:spcPts val="800"/>
                            </a:spcAft>
                            <a:buNone/>
                          </a:pPr>
                          <a:r>
                            <a:rPr lang="en-US" sz="1200" kern="0">
                              <a:solidFill>
                                <a:schemeClr val="bg1"/>
                              </a:solidFill>
                              <a:effectLst/>
                            </a:rPr>
                            <a:t>15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396.097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4068782642"/>
                      </a:ext>
                    </a:extLst>
                  </a:tr>
                  <a:tr h="240629">
                    <a:tc>
                      <a:txBody>
                        <a:bodyPr/>
                        <a:lstStyle/>
                        <a:p>
                          <a:pPr marL="0" marR="0" algn="ctr">
                            <a:lnSpc>
                              <a:spcPct val="100000"/>
                            </a:lnSpc>
                            <a:spcAft>
                              <a:spcPts val="800"/>
                            </a:spcAft>
                            <a:buNone/>
                          </a:pPr>
                          <a:r>
                            <a:rPr lang="en-US" sz="1200" kern="0">
                              <a:solidFill>
                                <a:schemeClr val="bg1"/>
                              </a:solidFill>
                              <a:effectLst/>
                            </a:rPr>
                            <a:t>16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2228.991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861842765"/>
                      </a:ext>
                    </a:extLst>
                  </a:tr>
                  <a:tr h="240629">
                    <a:tc>
                      <a:txBody>
                        <a:bodyPr/>
                        <a:lstStyle/>
                        <a:p>
                          <a:pPr marL="0" marR="0" algn="ctr">
                            <a:lnSpc>
                              <a:spcPct val="100000"/>
                            </a:lnSpc>
                            <a:spcAft>
                              <a:spcPts val="800"/>
                            </a:spcAft>
                            <a:buNone/>
                          </a:pPr>
                          <a:r>
                            <a:rPr lang="en-US" sz="1200" kern="0">
                              <a:solidFill>
                                <a:schemeClr val="bg1"/>
                              </a:solidFill>
                              <a:effectLst/>
                            </a:rPr>
                            <a:t>17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463.3788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539733160"/>
                      </a:ext>
                    </a:extLst>
                  </a:tr>
                  <a:tr h="240629">
                    <a:tc>
                      <a:txBody>
                        <a:bodyPr/>
                        <a:lstStyle/>
                        <a:p>
                          <a:pPr marL="0" marR="0" algn="ctr">
                            <a:lnSpc>
                              <a:spcPct val="100000"/>
                            </a:lnSpc>
                            <a:spcAft>
                              <a:spcPts val="800"/>
                            </a:spcAft>
                            <a:buNone/>
                          </a:pPr>
                          <a:r>
                            <a:rPr lang="en-US" sz="1200" kern="0">
                              <a:solidFill>
                                <a:schemeClr val="bg1"/>
                              </a:solidFill>
                              <a:effectLst/>
                            </a:rPr>
                            <a:t>18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366.7788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321717116"/>
                      </a:ext>
                    </a:extLst>
                  </a:tr>
                  <a:tr h="240629">
                    <a:tc>
                      <a:txBody>
                        <a:bodyPr/>
                        <a:lstStyle/>
                        <a:p>
                          <a:pPr marL="0" marR="0" algn="ctr">
                            <a:lnSpc>
                              <a:spcPct val="100000"/>
                            </a:lnSpc>
                            <a:spcAft>
                              <a:spcPts val="800"/>
                            </a:spcAft>
                            <a:buNone/>
                          </a:pPr>
                          <a:r>
                            <a:rPr lang="en-US" sz="1200" kern="0">
                              <a:solidFill>
                                <a:schemeClr val="bg1"/>
                              </a:solidFill>
                              <a:effectLst/>
                            </a:rPr>
                            <a:t>19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56.06026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828204526"/>
                      </a:ext>
                    </a:extLst>
                  </a:tr>
                  <a:tr h="240629">
                    <a:tc>
                      <a:txBody>
                        <a:bodyPr/>
                        <a:lstStyle/>
                        <a:p>
                          <a:pPr marL="0" marR="0" algn="ctr">
                            <a:lnSpc>
                              <a:spcPct val="100000"/>
                            </a:lnSpc>
                            <a:spcAft>
                              <a:spcPts val="800"/>
                            </a:spcAft>
                            <a:buNone/>
                          </a:pPr>
                          <a:r>
                            <a:rPr lang="en-US" sz="1200" kern="0">
                              <a:solidFill>
                                <a:schemeClr val="bg1"/>
                              </a:solidFill>
                              <a:effectLst/>
                            </a:rPr>
                            <a:t>20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852.2529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713270604"/>
                      </a:ext>
                    </a:extLst>
                  </a:tr>
                  <a:tr h="240629">
                    <a:tc>
                      <a:txBody>
                        <a:bodyPr/>
                        <a:lstStyle/>
                        <a:p>
                          <a:pPr marL="0" marR="0" algn="ctr">
                            <a:lnSpc>
                              <a:spcPct val="100000"/>
                            </a:lnSpc>
                            <a:spcAft>
                              <a:spcPts val="800"/>
                            </a:spcAft>
                            <a:buNone/>
                          </a:pPr>
                          <a:r>
                            <a:rPr lang="en-US" sz="1200" kern="0">
                              <a:solidFill>
                                <a:schemeClr val="bg1"/>
                              </a:solidFill>
                              <a:effectLst/>
                            </a:rPr>
                            <a:t>21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234.7919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620505132"/>
                      </a:ext>
                    </a:extLst>
                  </a:tr>
                  <a:tr h="240629">
                    <a:tc>
                      <a:txBody>
                        <a:bodyPr/>
                        <a:lstStyle/>
                        <a:p>
                          <a:pPr marL="0" marR="0" algn="ctr">
                            <a:lnSpc>
                              <a:spcPct val="100000"/>
                            </a:lnSpc>
                            <a:spcAft>
                              <a:spcPts val="800"/>
                            </a:spcAft>
                            <a:buNone/>
                          </a:pPr>
                          <a:r>
                            <a:rPr lang="en-US" sz="1200" kern="0">
                              <a:solidFill>
                                <a:schemeClr val="bg1"/>
                              </a:solidFill>
                              <a:effectLst/>
                            </a:rPr>
                            <a:t>22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434.3692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4007502580"/>
                      </a:ext>
                    </a:extLst>
                  </a:tr>
                  <a:tr h="240629">
                    <a:tc>
                      <a:txBody>
                        <a:bodyPr/>
                        <a:lstStyle/>
                        <a:p>
                          <a:pPr marL="0" marR="0" algn="ctr">
                            <a:lnSpc>
                              <a:spcPct val="100000"/>
                            </a:lnSpc>
                            <a:spcAft>
                              <a:spcPts val="800"/>
                            </a:spcAft>
                            <a:buNone/>
                          </a:pPr>
                          <a:r>
                            <a:rPr lang="en-US" sz="1200" kern="0">
                              <a:solidFill>
                                <a:schemeClr val="bg1"/>
                              </a:solidFill>
                              <a:effectLst/>
                            </a:rPr>
                            <a:t>23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1583.066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498992413"/>
                      </a:ext>
                    </a:extLst>
                  </a:tr>
                  <a:tr h="240629">
                    <a:tc>
                      <a:txBody>
                        <a:bodyPr/>
                        <a:lstStyle/>
                        <a:p>
                          <a:pPr marL="0" marR="0" algn="ctr">
                            <a:lnSpc>
                              <a:spcPct val="100000"/>
                            </a:lnSpc>
                            <a:spcAft>
                              <a:spcPts val="800"/>
                            </a:spcAft>
                            <a:buNone/>
                          </a:pPr>
                          <a:r>
                            <a:rPr lang="en-US" sz="1200" kern="0">
                              <a:solidFill>
                                <a:schemeClr val="bg1"/>
                              </a:solidFill>
                              <a:effectLst/>
                            </a:rPr>
                            <a:t>24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1128.973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572790589"/>
                      </a:ext>
                    </a:extLst>
                  </a:tr>
                  <a:tr h="240629">
                    <a:tc>
                      <a:txBody>
                        <a:bodyPr/>
                        <a:lstStyle/>
                        <a:p>
                          <a:pPr marL="0" marR="0" algn="ctr">
                            <a:lnSpc>
                              <a:spcPct val="100000"/>
                            </a:lnSpc>
                            <a:spcAft>
                              <a:spcPts val="800"/>
                            </a:spcAft>
                            <a:buNone/>
                          </a:pPr>
                          <a:r>
                            <a:rPr lang="en-US" sz="1200" kern="0">
                              <a:solidFill>
                                <a:schemeClr val="bg1"/>
                              </a:solidFill>
                              <a:effectLst/>
                            </a:rPr>
                            <a:t>25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78.37134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555129205"/>
                      </a:ext>
                    </a:extLst>
                  </a:tr>
                </a:tbl>
              </a:graphicData>
            </a:graphic>
          </p:graphicFrame>
        </mc:Choice>
        <mc:Fallback xmlns="">
          <p:graphicFrame>
            <p:nvGraphicFramePr>
              <p:cNvPr id="3" name="Table 2">
                <a:extLst>
                  <a:ext uri="{FF2B5EF4-FFF2-40B4-BE49-F238E27FC236}">
                    <a16:creationId xmlns:a16="http://schemas.microsoft.com/office/drawing/2014/main" id="{E752F4E7-D96A-F9DE-34EB-C0F2D1D336C1}"/>
                  </a:ext>
                </a:extLst>
              </p:cNvPr>
              <p:cNvGraphicFramePr>
                <a:graphicFrameLocks noGrp="1"/>
              </p:cNvGraphicFramePr>
              <p:nvPr>
                <p:extLst>
                  <p:ext uri="{D42A27DB-BD31-4B8C-83A1-F6EECF244321}">
                    <p14:modId xmlns:p14="http://schemas.microsoft.com/office/powerpoint/2010/main" val="1205371312"/>
                  </p:ext>
                </p:extLst>
              </p:nvPr>
            </p:nvGraphicFramePr>
            <p:xfrm>
              <a:off x="98207" y="104775"/>
              <a:ext cx="2592685" cy="6568067"/>
            </p:xfrm>
            <a:graphic>
              <a:graphicData uri="http://schemas.openxmlformats.org/drawingml/2006/table">
                <a:tbl>
                  <a:tblPr firstRow="1" firstCol="1" bandRow="1">
                    <a:tableStyleId>{5940675A-B579-460E-94D1-54222C63F5DA}</a:tableStyleId>
                  </a:tblPr>
                  <a:tblGrid>
                    <a:gridCol w="595475">
                      <a:extLst>
                        <a:ext uri="{9D8B030D-6E8A-4147-A177-3AD203B41FA5}">
                          <a16:colId xmlns:a16="http://schemas.microsoft.com/office/drawing/2014/main" val="3908562002"/>
                        </a:ext>
                      </a:extLst>
                    </a:gridCol>
                    <a:gridCol w="915255">
                      <a:extLst>
                        <a:ext uri="{9D8B030D-6E8A-4147-A177-3AD203B41FA5}">
                          <a16:colId xmlns:a16="http://schemas.microsoft.com/office/drawing/2014/main" val="522803004"/>
                        </a:ext>
                      </a:extLst>
                    </a:gridCol>
                    <a:gridCol w="1081955">
                      <a:extLst>
                        <a:ext uri="{9D8B030D-6E8A-4147-A177-3AD203B41FA5}">
                          <a16:colId xmlns:a16="http://schemas.microsoft.com/office/drawing/2014/main" val="4212338223"/>
                        </a:ext>
                      </a:extLst>
                    </a:gridCol>
                  </a:tblGrid>
                  <a:tr h="311713">
                    <a:tc>
                      <a:txBody>
                        <a:bodyPr/>
                        <a:lstStyle/>
                        <a:p>
                          <a:pPr marL="0" marR="0" algn="ctr">
                            <a:lnSpc>
                              <a:spcPct val="100000"/>
                            </a:lnSpc>
                            <a:spcAft>
                              <a:spcPts val="800"/>
                            </a:spcAft>
                            <a:buNone/>
                          </a:pPr>
                          <a:r>
                            <a:rPr lang="en-US" sz="1200" kern="0">
                              <a:solidFill>
                                <a:schemeClr val="bg1"/>
                              </a:solidFill>
                              <a:effectLst/>
                            </a:rPr>
                            <a:t>Shift </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tc>
                      <a:txBody>
                        <a:bodyPr/>
                        <a:lstStyle/>
                        <a:p>
                          <a:pPr marL="0" marR="0" algn="ctr">
                            <a:lnSpc>
                              <a:spcPct val="100000"/>
                            </a:lnSpc>
                            <a:spcAft>
                              <a:spcPts val="800"/>
                            </a:spcAft>
                            <a:buNone/>
                          </a:pPr>
                          <a:r>
                            <a:rPr lang="en-US" sz="1200" kern="0">
                              <a:solidFill>
                                <a:schemeClr val="bg1"/>
                              </a:solidFill>
                              <a:effectLst/>
                            </a:rPr>
                            <a:t>Ký tự</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tc>
                      <a:txBody>
                        <a:bodyPr/>
                        <a:lstStyle/>
                        <a:p>
                          <a:endParaRPr lang="en-US"/>
                        </a:p>
                      </a:txBody>
                      <a:tcPr marL="43931" marR="43931" marT="0" marB="0" anchor="ctr">
                        <a:blipFill>
                          <a:blip r:embed="rId4"/>
                          <a:stretch>
                            <a:fillRect l="-139888" t="-1961" r="-1124" b="-2035294"/>
                          </a:stretch>
                        </a:blipFill>
                      </a:tcPr>
                    </a:tc>
                    <a:extLst>
                      <a:ext uri="{0D108BD9-81ED-4DB2-BD59-A6C34878D82A}">
                        <a16:rowId xmlns:a16="http://schemas.microsoft.com/office/drawing/2014/main" val="2860070009"/>
                      </a:ext>
                    </a:extLst>
                  </a:tr>
                  <a:tr h="240629">
                    <a:tc>
                      <a:txBody>
                        <a:bodyPr/>
                        <a:lstStyle/>
                        <a:p>
                          <a:pPr marL="0" marR="0" algn="ctr">
                            <a:lnSpc>
                              <a:spcPct val="100000"/>
                            </a:lnSpc>
                            <a:spcAft>
                              <a:spcPts val="800"/>
                            </a:spcAft>
                            <a:buNone/>
                          </a:pPr>
                          <a:r>
                            <a:rPr lang="en-US" sz="1200" kern="0">
                              <a:solidFill>
                                <a:schemeClr val="bg1"/>
                              </a:solidFill>
                              <a:effectLst/>
                            </a:rPr>
                            <a:t>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736.4077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79205740"/>
                      </a:ext>
                    </a:extLst>
                  </a:tr>
                  <a:tr h="240629">
                    <a:tc>
                      <a:txBody>
                        <a:bodyPr/>
                        <a:lstStyle/>
                        <a:p>
                          <a:pPr marL="0" marR="0" algn="ctr">
                            <a:lnSpc>
                              <a:spcPct val="100000"/>
                            </a:lnSpc>
                            <a:spcAft>
                              <a:spcPts val="800"/>
                            </a:spcAft>
                            <a:buNone/>
                          </a:pPr>
                          <a:r>
                            <a:rPr lang="en-US" sz="1200" kern="0">
                              <a:solidFill>
                                <a:schemeClr val="bg1"/>
                              </a:solidFill>
                              <a:effectLst/>
                            </a:rPr>
                            <a:t>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566.8359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475262422"/>
                      </a:ext>
                    </a:extLst>
                  </a:tr>
                  <a:tr h="240629">
                    <a:tc>
                      <a:txBody>
                        <a:bodyPr/>
                        <a:lstStyle/>
                        <a:p>
                          <a:pPr marL="0" marR="0" algn="ctr">
                            <a:lnSpc>
                              <a:spcPct val="100000"/>
                            </a:lnSpc>
                            <a:spcAft>
                              <a:spcPts val="800"/>
                            </a:spcAft>
                            <a:buNone/>
                          </a:pPr>
                          <a:r>
                            <a:rPr lang="en-US" sz="1200" kern="0">
                              <a:solidFill>
                                <a:schemeClr val="bg1"/>
                              </a:solidFill>
                              <a:effectLst/>
                            </a:rPr>
                            <a:t>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239.7966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883621750"/>
                      </a:ext>
                    </a:extLst>
                  </a:tr>
                  <a:tr h="240629">
                    <a:tc>
                      <a:txBody>
                        <a:bodyPr/>
                        <a:lstStyle/>
                        <a:p>
                          <a:pPr marL="0" marR="0" algn="ctr">
                            <a:lnSpc>
                              <a:spcPct val="100000"/>
                            </a:lnSpc>
                            <a:spcAft>
                              <a:spcPts val="800"/>
                            </a:spcAft>
                            <a:buNone/>
                          </a:pPr>
                          <a:r>
                            <a:rPr lang="en-US" sz="1200" kern="0">
                              <a:solidFill>
                                <a:schemeClr val="bg1"/>
                              </a:solidFill>
                              <a:effectLst/>
                            </a:rPr>
                            <a:t>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333.4191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617905706"/>
                      </a:ext>
                    </a:extLst>
                  </a:tr>
                  <a:tr h="240629">
                    <a:tc>
                      <a:txBody>
                        <a:bodyPr/>
                        <a:lstStyle/>
                        <a:p>
                          <a:pPr marL="0" marR="0" algn="ctr">
                            <a:lnSpc>
                              <a:spcPct val="100000"/>
                            </a:lnSpc>
                            <a:spcAft>
                              <a:spcPts val="800"/>
                            </a:spcAft>
                            <a:buNone/>
                          </a:pPr>
                          <a:r>
                            <a:rPr lang="en-US" sz="1200" kern="0">
                              <a:solidFill>
                                <a:schemeClr val="bg1"/>
                              </a:solidFill>
                              <a:effectLst/>
                            </a:rPr>
                            <a:t>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373.6915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56175779"/>
                      </a:ext>
                    </a:extLst>
                  </a:tr>
                  <a:tr h="240629">
                    <a:tc>
                      <a:txBody>
                        <a:bodyPr/>
                        <a:lstStyle/>
                        <a:p>
                          <a:pPr marL="0" marR="0" algn="ctr">
                            <a:lnSpc>
                              <a:spcPct val="100000"/>
                            </a:lnSpc>
                            <a:spcAft>
                              <a:spcPts val="800"/>
                            </a:spcAft>
                            <a:buNone/>
                          </a:pPr>
                          <a:r>
                            <a:rPr lang="en-US" sz="1200" kern="0">
                              <a:solidFill>
                                <a:schemeClr val="bg1"/>
                              </a:solidFill>
                              <a:effectLst/>
                            </a:rPr>
                            <a:t>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523.6088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875150356"/>
                      </a:ext>
                    </a:extLst>
                  </a:tr>
                  <a:tr h="240629">
                    <a:tc>
                      <a:txBody>
                        <a:bodyPr/>
                        <a:lstStyle/>
                        <a:p>
                          <a:pPr marL="0" marR="0" algn="ctr">
                            <a:lnSpc>
                              <a:spcPct val="100000"/>
                            </a:lnSpc>
                            <a:spcAft>
                              <a:spcPts val="800"/>
                            </a:spcAft>
                            <a:buNone/>
                          </a:pPr>
                          <a:r>
                            <a:rPr lang="en-US" sz="1200" kern="0">
                              <a:solidFill>
                                <a:schemeClr val="bg1"/>
                              </a:solidFill>
                              <a:effectLst/>
                            </a:rPr>
                            <a:t>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85.47791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115116865"/>
                      </a:ext>
                    </a:extLst>
                  </a:tr>
                  <a:tr h="240629">
                    <a:tc>
                      <a:txBody>
                        <a:bodyPr/>
                        <a:lstStyle/>
                        <a:p>
                          <a:pPr marL="0" marR="0" algn="ctr">
                            <a:lnSpc>
                              <a:spcPct val="100000"/>
                            </a:lnSpc>
                            <a:spcAft>
                              <a:spcPts val="800"/>
                            </a:spcAft>
                            <a:buNone/>
                          </a:pPr>
                          <a:r>
                            <a:rPr lang="en-US" sz="1200" kern="0">
                              <a:solidFill>
                                <a:schemeClr val="bg1"/>
                              </a:solidFill>
                              <a:effectLst/>
                            </a:rPr>
                            <a:t>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3108.239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458391904"/>
                      </a:ext>
                    </a:extLst>
                  </a:tr>
                  <a:tr h="240629">
                    <a:tc>
                      <a:txBody>
                        <a:bodyPr/>
                        <a:lstStyle/>
                        <a:p>
                          <a:pPr marL="0" marR="0" algn="ctr">
                            <a:lnSpc>
                              <a:spcPct val="100000"/>
                            </a:lnSpc>
                            <a:spcAft>
                              <a:spcPts val="800"/>
                            </a:spcAft>
                            <a:buNone/>
                          </a:pPr>
                          <a:r>
                            <a:rPr lang="en-US" sz="1200" kern="0">
                              <a:solidFill>
                                <a:schemeClr val="bg1"/>
                              </a:solidFill>
                              <a:effectLst/>
                            </a:rPr>
                            <a:t>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534.3328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902966190"/>
                      </a:ext>
                    </a:extLst>
                  </a:tr>
                  <a:tr h="240629">
                    <a:tc>
                      <a:txBody>
                        <a:bodyPr/>
                        <a:lstStyle/>
                        <a:p>
                          <a:pPr marL="0" marR="0" algn="ctr">
                            <a:lnSpc>
                              <a:spcPct val="100000"/>
                            </a:lnSpc>
                            <a:spcAft>
                              <a:spcPts val="800"/>
                            </a:spcAft>
                            <a:buNone/>
                          </a:pPr>
                          <a:r>
                            <a:rPr lang="en-US" sz="1200" kern="0">
                              <a:solidFill>
                                <a:schemeClr val="bg1"/>
                              </a:solidFill>
                              <a:effectLst/>
                            </a:rPr>
                            <a:t>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1437.005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525384423"/>
                      </a:ext>
                    </a:extLst>
                  </a:tr>
                  <a:tr h="240629">
                    <a:tc>
                      <a:txBody>
                        <a:bodyPr/>
                        <a:lstStyle/>
                        <a:p>
                          <a:pPr marL="0" marR="0" algn="ctr">
                            <a:lnSpc>
                              <a:spcPct val="100000"/>
                            </a:lnSpc>
                            <a:spcAft>
                              <a:spcPts val="800"/>
                            </a:spcAft>
                            <a:buNone/>
                          </a:pPr>
                          <a:r>
                            <a:rPr lang="en-US" sz="1200" kern="0">
                              <a:solidFill>
                                <a:schemeClr val="bg1"/>
                              </a:solidFill>
                              <a:effectLst/>
                            </a:rPr>
                            <a:t>10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359.3724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31096846"/>
                      </a:ext>
                    </a:extLst>
                  </a:tr>
                  <a:tr h="240629">
                    <a:tc>
                      <a:txBody>
                        <a:bodyPr/>
                        <a:lstStyle/>
                        <a:p>
                          <a:pPr marL="0" marR="0" algn="ctr">
                            <a:lnSpc>
                              <a:spcPct val="100000"/>
                            </a:lnSpc>
                            <a:spcAft>
                              <a:spcPts val="800"/>
                            </a:spcAft>
                            <a:buNone/>
                          </a:pPr>
                          <a:r>
                            <a:rPr lang="en-US" sz="1200" kern="0">
                              <a:solidFill>
                                <a:schemeClr val="bg1"/>
                              </a:solidFill>
                              <a:effectLst/>
                            </a:rPr>
                            <a:t>11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710.3541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678204429"/>
                      </a:ext>
                    </a:extLst>
                  </a:tr>
                  <a:tr h="240629">
                    <a:tc>
                      <a:txBody>
                        <a:bodyPr/>
                        <a:lstStyle/>
                        <a:p>
                          <a:pPr marL="0" marR="0" algn="ctr">
                            <a:lnSpc>
                              <a:spcPct val="100000"/>
                            </a:lnSpc>
                            <a:spcAft>
                              <a:spcPts val="800"/>
                            </a:spcAft>
                            <a:buNone/>
                          </a:pPr>
                          <a:r>
                            <a:rPr lang="en-US" sz="1200" kern="0">
                              <a:solidFill>
                                <a:schemeClr val="bg1"/>
                              </a:solidFill>
                              <a:effectLst/>
                            </a:rPr>
                            <a:t>12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122.3534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400292955"/>
                      </a:ext>
                    </a:extLst>
                  </a:tr>
                  <a:tr h="240629">
                    <a:tc>
                      <a:txBody>
                        <a:bodyPr/>
                        <a:lstStyle/>
                        <a:p>
                          <a:pPr marL="0" marR="0" algn="ctr">
                            <a:lnSpc>
                              <a:spcPct val="100000"/>
                            </a:lnSpc>
                            <a:spcAft>
                              <a:spcPts val="800"/>
                            </a:spcAft>
                            <a:buNone/>
                          </a:pPr>
                          <a:r>
                            <a:rPr lang="en-US" sz="1200" kern="0">
                              <a:solidFill>
                                <a:schemeClr val="bg1"/>
                              </a:solidFill>
                              <a:effectLst/>
                            </a:rPr>
                            <a:t>13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367.7406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457927489"/>
                      </a:ext>
                    </a:extLst>
                  </a:tr>
                  <a:tr h="240629">
                    <a:tc>
                      <a:txBody>
                        <a:bodyPr/>
                        <a:lstStyle/>
                        <a:p>
                          <a:pPr marL="0" marR="0" algn="ctr">
                            <a:lnSpc>
                              <a:spcPct val="100000"/>
                            </a:lnSpc>
                            <a:spcAft>
                              <a:spcPts val="800"/>
                            </a:spcAft>
                            <a:buNone/>
                          </a:pPr>
                          <a:r>
                            <a:rPr lang="en-US" sz="1200" kern="0">
                              <a:solidFill>
                                <a:schemeClr val="bg1"/>
                              </a:solidFill>
                              <a:effectLst/>
                            </a:rPr>
                            <a:t>14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1054.648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000675346"/>
                      </a:ext>
                    </a:extLst>
                  </a:tr>
                  <a:tr h="240629">
                    <a:tc>
                      <a:txBody>
                        <a:bodyPr/>
                        <a:lstStyle/>
                        <a:p>
                          <a:pPr marL="0" marR="0" algn="ctr">
                            <a:lnSpc>
                              <a:spcPct val="100000"/>
                            </a:lnSpc>
                            <a:spcAft>
                              <a:spcPts val="800"/>
                            </a:spcAft>
                            <a:buNone/>
                          </a:pPr>
                          <a:r>
                            <a:rPr lang="en-US" sz="1200" kern="0">
                              <a:solidFill>
                                <a:schemeClr val="bg1"/>
                              </a:solidFill>
                              <a:effectLst/>
                            </a:rPr>
                            <a:t>15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396.097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4068782642"/>
                      </a:ext>
                    </a:extLst>
                  </a:tr>
                  <a:tr h="240629">
                    <a:tc>
                      <a:txBody>
                        <a:bodyPr/>
                        <a:lstStyle/>
                        <a:p>
                          <a:pPr marL="0" marR="0" algn="ctr">
                            <a:lnSpc>
                              <a:spcPct val="100000"/>
                            </a:lnSpc>
                            <a:spcAft>
                              <a:spcPts val="800"/>
                            </a:spcAft>
                            <a:buNone/>
                          </a:pPr>
                          <a:r>
                            <a:rPr lang="en-US" sz="1200" kern="0">
                              <a:solidFill>
                                <a:schemeClr val="bg1"/>
                              </a:solidFill>
                              <a:effectLst/>
                            </a:rPr>
                            <a:t>16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2228.991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861842765"/>
                      </a:ext>
                    </a:extLst>
                  </a:tr>
                  <a:tr h="240629">
                    <a:tc>
                      <a:txBody>
                        <a:bodyPr/>
                        <a:lstStyle/>
                        <a:p>
                          <a:pPr marL="0" marR="0" algn="ctr">
                            <a:lnSpc>
                              <a:spcPct val="100000"/>
                            </a:lnSpc>
                            <a:spcAft>
                              <a:spcPts val="800"/>
                            </a:spcAft>
                            <a:buNone/>
                          </a:pPr>
                          <a:r>
                            <a:rPr lang="en-US" sz="1200" kern="0">
                              <a:solidFill>
                                <a:schemeClr val="bg1"/>
                              </a:solidFill>
                              <a:effectLst/>
                            </a:rPr>
                            <a:t>17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463.3788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539733160"/>
                      </a:ext>
                    </a:extLst>
                  </a:tr>
                  <a:tr h="240629">
                    <a:tc>
                      <a:txBody>
                        <a:bodyPr/>
                        <a:lstStyle/>
                        <a:p>
                          <a:pPr marL="0" marR="0" algn="ctr">
                            <a:lnSpc>
                              <a:spcPct val="100000"/>
                            </a:lnSpc>
                            <a:spcAft>
                              <a:spcPts val="800"/>
                            </a:spcAft>
                            <a:buNone/>
                          </a:pPr>
                          <a:r>
                            <a:rPr lang="en-US" sz="1200" kern="0">
                              <a:solidFill>
                                <a:schemeClr val="bg1"/>
                              </a:solidFill>
                              <a:effectLst/>
                            </a:rPr>
                            <a:t>18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366.7788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321717116"/>
                      </a:ext>
                    </a:extLst>
                  </a:tr>
                  <a:tr h="240629">
                    <a:tc>
                      <a:txBody>
                        <a:bodyPr/>
                        <a:lstStyle/>
                        <a:p>
                          <a:pPr marL="0" marR="0" algn="ctr">
                            <a:lnSpc>
                              <a:spcPct val="100000"/>
                            </a:lnSpc>
                            <a:spcAft>
                              <a:spcPts val="800"/>
                            </a:spcAft>
                            <a:buNone/>
                          </a:pPr>
                          <a:r>
                            <a:rPr lang="en-US" sz="1200" kern="0">
                              <a:solidFill>
                                <a:schemeClr val="bg1"/>
                              </a:solidFill>
                              <a:effectLst/>
                            </a:rPr>
                            <a:t>19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56.06026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828204526"/>
                      </a:ext>
                    </a:extLst>
                  </a:tr>
                  <a:tr h="240629">
                    <a:tc>
                      <a:txBody>
                        <a:bodyPr/>
                        <a:lstStyle/>
                        <a:p>
                          <a:pPr marL="0" marR="0" algn="ctr">
                            <a:lnSpc>
                              <a:spcPct val="100000"/>
                            </a:lnSpc>
                            <a:spcAft>
                              <a:spcPts val="800"/>
                            </a:spcAft>
                            <a:buNone/>
                          </a:pPr>
                          <a:r>
                            <a:rPr lang="en-US" sz="1200" kern="0">
                              <a:solidFill>
                                <a:schemeClr val="bg1"/>
                              </a:solidFill>
                              <a:effectLst/>
                            </a:rPr>
                            <a:t>20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852.2529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713270604"/>
                      </a:ext>
                    </a:extLst>
                  </a:tr>
                  <a:tr h="240629">
                    <a:tc>
                      <a:txBody>
                        <a:bodyPr/>
                        <a:lstStyle/>
                        <a:p>
                          <a:pPr marL="0" marR="0" algn="ctr">
                            <a:lnSpc>
                              <a:spcPct val="100000"/>
                            </a:lnSpc>
                            <a:spcAft>
                              <a:spcPts val="800"/>
                            </a:spcAft>
                            <a:buNone/>
                          </a:pPr>
                          <a:r>
                            <a:rPr lang="en-US" sz="1200" kern="0">
                              <a:solidFill>
                                <a:schemeClr val="bg1"/>
                              </a:solidFill>
                              <a:effectLst/>
                            </a:rPr>
                            <a:t>21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234.7919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620505132"/>
                      </a:ext>
                    </a:extLst>
                  </a:tr>
                  <a:tr h="240629">
                    <a:tc>
                      <a:txBody>
                        <a:bodyPr/>
                        <a:lstStyle/>
                        <a:p>
                          <a:pPr marL="0" marR="0" algn="ctr">
                            <a:lnSpc>
                              <a:spcPct val="100000"/>
                            </a:lnSpc>
                            <a:spcAft>
                              <a:spcPts val="800"/>
                            </a:spcAft>
                            <a:buNone/>
                          </a:pPr>
                          <a:r>
                            <a:rPr lang="en-US" sz="1200" kern="0">
                              <a:solidFill>
                                <a:schemeClr val="bg1"/>
                              </a:solidFill>
                              <a:effectLst/>
                            </a:rPr>
                            <a:t>22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434.3692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4007502580"/>
                      </a:ext>
                    </a:extLst>
                  </a:tr>
                  <a:tr h="240629">
                    <a:tc>
                      <a:txBody>
                        <a:bodyPr/>
                        <a:lstStyle/>
                        <a:p>
                          <a:pPr marL="0" marR="0" algn="ctr">
                            <a:lnSpc>
                              <a:spcPct val="100000"/>
                            </a:lnSpc>
                            <a:spcAft>
                              <a:spcPts val="800"/>
                            </a:spcAft>
                            <a:buNone/>
                          </a:pPr>
                          <a:r>
                            <a:rPr lang="en-US" sz="1200" kern="0">
                              <a:solidFill>
                                <a:schemeClr val="bg1"/>
                              </a:solidFill>
                              <a:effectLst/>
                            </a:rPr>
                            <a:t>23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1583.066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498992413"/>
                      </a:ext>
                    </a:extLst>
                  </a:tr>
                  <a:tr h="240629">
                    <a:tc>
                      <a:txBody>
                        <a:bodyPr/>
                        <a:lstStyle/>
                        <a:p>
                          <a:pPr marL="0" marR="0" algn="ctr">
                            <a:lnSpc>
                              <a:spcPct val="100000"/>
                            </a:lnSpc>
                            <a:spcAft>
                              <a:spcPts val="800"/>
                            </a:spcAft>
                            <a:buNone/>
                          </a:pPr>
                          <a:r>
                            <a:rPr lang="en-US" sz="1200" kern="0">
                              <a:solidFill>
                                <a:schemeClr val="bg1"/>
                              </a:solidFill>
                              <a:effectLst/>
                            </a:rPr>
                            <a:t>24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1128.973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572790589"/>
                      </a:ext>
                    </a:extLst>
                  </a:tr>
                  <a:tr h="240629">
                    <a:tc>
                      <a:txBody>
                        <a:bodyPr/>
                        <a:lstStyle/>
                        <a:p>
                          <a:pPr marL="0" marR="0" algn="ctr">
                            <a:lnSpc>
                              <a:spcPct val="100000"/>
                            </a:lnSpc>
                            <a:spcAft>
                              <a:spcPts val="800"/>
                            </a:spcAft>
                            <a:buNone/>
                          </a:pPr>
                          <a:r>
                            <a:rPr lang="en-US" sz="1200" kern="0">
                              <a:solidFill>
                                <a:schemeClr val="bg1"/>
                              </a:solidFill>
                              <a:effectLst/>
                            </a:rPr>
                            <a:t>25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78.37134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555129205"/>
                      </a:ext>
                    </a:extLst>
                  </a:tr>
                </a:tbl>
              </a:graphicData>
            </a:graphic>
          </p:graphicFrame>
        </mc:Fallback>
      </mc:AlternateContent>
    </p:spTree>
    <p:extLst>
      <p:ext uri="{BB962C8B-B14F-4D97-AF65-F5344CB8AC3E}">
        <p14:creationId xmlns:p14="http://schemas.microsoft.com/office/powerpoint/2010/main" val="40658711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B034C-253F-9C9A-705A-44FE15AE899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304210F-5D6C-6C0E-37F8-1AC0F338F119}"/>
              </a:ext>
            </a:extLst>
          </p:cNvPr>
          <p:cNvSpPr txBox="1"/>
          <p:nvPr/>
        </p:nvSpPr>
        <p:spPr>
          <a:xfrm>
            <a:off x="2916317" y="104775"/>
            <a:ext cx="6097508" cy="464871"/>
          </a:xfrm>
          <a:prstGeom prst="rect">
            <a:avLst/>
          </a:prstGeom>
          <a:noFill/>
        </p:spPr>
        <p:txBody>
          <a:bodyPr wrap="square">
            <a:spAutoFit/>
          </a:bodyPr>
          <a:lstStyle/>
          <a:p>
            <a:pPr>
              <a:lnSpc>
                <a:spcPct val="150000"/>
              </a:lnSpc>
            </a:pPr>
            <a:r>
              <a:rPr lang="en-US"/>
              <a:t>K</a:t>
            </a:r>
            <a:r>
              <a:rPr lang="en-US" baseline="-25000"/>
              <a:t>3</a:t>
            </a:r>
            <a:r>
              <a:rPr lang="en-US"/>
              <a:t> = “ozgbrnxkgerwgozgnkggxkhxkgfxnrozgthuGxhteetamn”</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EBF20B15-1959-543C-0BBB-8BAFFD24CF06}"/>
                  </a:ext>
                </a:extLst>
              </p:cNvPr>
              <p:cNvGraphicFramePr>
                <a:graphicFrameLocks noGrp="1"/>
              </p:cNvGraphicFramePr>
              <p:nvPr>
                <p:extLst>
                  <p:ext uri="{D42A27DB-BD31-4B8C-83A1-F6EECF244321}">
                    <p14:modId xmlns:p14="http://schemas.microsoft.com/office/powerpoint/2010/main" val="3068595943"/>
                  </p:ext>
                </p:extLst>
              </p:nvPr>
            </p:nvGraphicFramePr>
            <p:xfrm>
              <a:off x="98207" y="104775"/>
              <a:ext cx="2592685" cy="6568067"/>
            </p:xfrm>
            <a:graphic>
              <a:graphicData uri="http://schemas.openxmlformats.org/drawingml/2006/table">
                <a:tbl>
                  <a:tblPr firstRow="1" firstCol="1" bandRow="1">
                    <a:tableStyleId>{5940675A-B579-460E-94D1-54222C63F5DA}</a:tableStyleId>
                  </a:tblPr>
                  <a:tblGrid>
                    <a:gridCol w="595475">
                      <a:extLst>
                        <a:ext uri="{9D8B030D-6E8A-4147-A177-3AD203B41FA5}">
                          <a16:colId xmlns:a16="http://schemas.microsoft.com/office/drawing/2014/main" val="3908562002"/>
                        </a:ext>
                      </a:extLst>
                    </a:gridCol>
                    <a:gridCol w="915255">
                      <a:extLst>
                        <a:ext uri="{9D8B030D-6E8A-4147-A177-3AD203B41FA5}">
                          <a16:colId xmlns:a16="http://schemas.microsoft.com/office/drawing/2014/main" val="522803004"/>
                        </a:ext>
                      </a:extLst>
                    </a:gridCol>
                    <a:gridCol w="1081955">
                      <a:extLst>
                        <a:ext uri="{9D8B030D-6E8A-4147-A177-3AD203B41FA5}">
                          <a16:colId xmlns:a16="http://schemas.microsoft.com/office/drawing/2014/main" val="4212338223"/>
                        </a:ext>
                      </a:extLst>
                    </a:gridCol>
                  </a:tblGrid>
                  <a:tr h="311713">
                    <a:tc>
                      <a:txBody>
                        <a:bodyPr/>
                        <a:lstStyle/>
                        <a:p>
                          <a:pPr marL="0" marR="0" algn="ctr">
                            <a:lnSpc>
                              <a:spcPct val="100000"/>
                            </a:lnSpc>
                            <a:spcAft>
                              <a:spcPts val="800"/>
                            </a:spcAft>
                            <a:buNone/>
                          </a:pPr>
                          <a:r>
                            <a:rPr lang="en-US" sz="1200" kern="0">
                              <a:solidFill>
                                <a:schemeClr val="bg1"/>
                              </a:solidFill>
                              <a:effectLst/>
                            </a:rPr>
                            <a:t>Shift </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tc>
                      <a:txBody>
                        <a:bodyPr/>
                        <a:lstStyle/>
                        <a:p>
                          <a:pPr marL="0" marR="0" algn="ctr">
                            <a:lnSpc>
                              <a:spcPct val="100000"/>
                            </a:lnSpc>
                            <a:spcAft>
                              <a:spcPts val="800"/>
                            </a:spcAft>
                            <a:buNone/>
                          </a:pPr>
                          <a:r>
                            <a:rPr lang="en-US" sz="1200" kern="0">
                              <a:solidFill>
                                <a:schemeClr val="bg1"/>
                              </a:solidFill>
                              <a:effectLst/>
                            </a:rPr>
                            <a:t>Ký tự</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tc>
                      <a:txBody>
                        <a:bodyPr/>
                        <a:lstStyle/>
                        <a:p>
                          <a:pPr marL="0" marR="0" algn="ctr">
                            <a:lnSpc>
                              <a:spcPct val="100000"/>
                            </a:lnSpc>
                            <a:spcAft>
                              <a:spcPts val="0"/>
                            </a:spcAft>
                            <a:buNone/>
                          </a:pPr>
                          <a14:m>
                            <m:oMathPara xmlns:m="http://schemas.openxmlformats.org/officeDocument/2006/math">
                              <m:oMathParaPr>
                                <m:jc m:val="centerGroup"/>
                              </m:oMathParaPr>
                              <m:oMath xmlns:m="http://schemas.openxmlformats.org/officeDocument/2006/math">
                                <m:sSup>
                                  <m:sSupPr>
                                    <m:ctrlPr>
                                      <a:rPr lang="en-US" sz="1200" i="1" kern="100" smtClean="0">
                                        <a:solidFill>
                                          <a:schemeClr val="bg1"/>
                                        </a:solidFill>
                                        <a:effectLst/>
                                        <a:latin typeface="Cambria Math" panose="02040503050406030204" pitchFamily="18" charset="0"/>
                                      </a:rPr>
                                    </m:ctrlPr>
                                  </m:sSupPr>
                                  <m:e>
                                    <m:r>
                                      <a:rPr lang="en-US" sz="1200" kern="100">
                                        <a:solidFill>
                                          <a:schemeClr val="bg1"/>
                                        </a:solidFill>
                                        <a:effectLst/>
                                        <a:latin typeface="Cambria Math" panose="02040503050406030204" pitchFamily="18" charset="0"/>
                                      </a:rPr>
                                      <m:t>𝑥</m:t>
                                    </m:r>
                                  </m:e>
                                  <m:sup>
                                    <m:r>
                                      <a:rPr lang="en-US" sz="1200" kern="100">
                                        <a:solidFill>
                                          <a:schemeClr val="bg1"/>
                                        </a:solidFill>
                                        <a:effectLst/>
                                        <a:latin typeface="Cambria Math" panose="02040503050406030204" pitchFamily="18" charset="0"/>
                                      </a:rPr>
                                      <m:t>2</m:t>
                                    </m:r>
                                  </m:sup>
                                </m:sSup>
                              </m:oMath>
                            </m:oMathPara>
                          </a14:m>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extLst>
                      <a:ext uri="{0D108BD9-81ED-4DB2-BD59-A6C34878D82A}">
                        <a16:rowId xmlns:a16="http://schemas.microsoft.com/office/drawing/2014/main" val="2860070009"/>
                      </a:ext>
                    </a:extLst>
                  </a:tr>
                  <a:tr h="240629">
                    <a:tc>
                      <a:txBody>
                        <a:bodyPr/>
                        <a:lstStyle/>
                        <a:p>
                          <a:pPr marL="0" marR="0" algn="ctr">
                            <a:lnSpc>
                              <a:spcPct val="100000"/>
                            </a:lnSpc>
                            <a:spcAft>
                              <a:spcPts val="800"/>
                            </a:spcAft>
                            <a:buNone/>
                          </a:pPr>
                          <a:r>
                            <a:rPr lang="en-US" sz="1200" kern="0">
                              <a:solidFill>
                                <a:schemeClr val="bg1"/>
                              </a:solidFill>
                              <a:effectLst/>
                            </a:rPr>
                            <a:t>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736.4077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79205740"/>
                      </a:ext>
                    </a:extLst>
                  </a:tr>
                  <a:tr h="240629">
                    <a:tc>
                      <a:txBody>
                        <a:bodyPr/>
                        <a:lstStyle/>
                        <a:p>
                          <a:pPr marL="0" marR="0" algn="ctr">
                            <a:lnSpc>
                              <a:spcPct val="100000"/>
                            </a:lnSpc>
                            <a:spcAft>
                              <a:spcPts val="800"/>
                            </a:spcAft>
                            <a:buNone/>
                          </a:pPr>
                          <a:r>
                            <a:rPr lang="en-US" sz="1200" kern="0">
                              <a:solidFill>
                                <a:schemeClr val="bg1"/>
                              </a:solidFill>
                              <a:effectLst/>
                            </a:rPr>
                            <a:t>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566.8359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475262422"/>
                      </a:ext>
                    </a:extLst>
                  </a:tr>
                  <a:tr h="240629">
                    <a:tc>
                      <a:txBody>
                        <a:bodyPr/>
                        <a:lstStyle/>
                        <a:p>
                          <a:pPr marL="0" marR="0" algn="ctr">
                            <a:lnSpc>
                              <a:spcPct val="100000"/>
                            </a:lnSpc>
                            <a:spcAft>
                              <a:spcPts val="800"/>
                            </a:spcAft>
                            <a:buNone/>
                          </a:pPr>
                          <a:r>
                            <a:rPr lang="en-US" sz="1200" kern="0">
                              <a:solidFill>
                                <a:schemeClr val="bg1"/>
                              </a:solidFill>
                              <a:effectLst/>
                            </a:rPr>
                            <a:t>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239.7966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883621750"/>
                      </a:ext>
                    </a:extLst>
                  </a:tr>
                  <a:tr h="240629">
                    <a:tc>
                      <a:txBody>
                        <a:bodyPr/>
                        <a:lstStyle/>
                        <a:p>
                          <a:pPr marL="0" marR="0" algn="ctr">
                            <a:lnSpc>
                              <a:spcPct val="100000"/>
                            </a:lnSpc>
                            <a:spcAft>
                              <a:spcPts val="800"/>
                            </a:spcAft>
                            <a:buNone/>
                          </a:pPr>
                          <a:r>
                            <a:rPr lang="en-US" sz="1200" kern="0">
                              <a:solidFill>
                                <a:schemeClr val="bg1"/>
                              </a:solidFill>
                              <a:effectLst/>
                            </a:rPr>
                            <a:t>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333.4191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617905706"/>
                      </a:ext>
                    </a:extLst>
                  </a:tr>
                  <a:tr h="240629">
                    <a:tc>
                      <a:txBody>
                        <a:bodyPr/>
                        <a:lstStyle/>
                        <a:p>
                          <a:pPr marL="0" marR="0" algn="ctr">
                            <a:lnSpc>
                              <a:spcPct val="100000"/>
                            </a:lnSpc>
                            <a:spcAft>
                              <a:spcPts val="800"/>
                            </a:spcAft>
                            <a:buNone/>
                          </a:pPr>
                          <a:r>
                            <a:rPr lang="en-US" sz="1200" kern="0">
                              <a:solidFill>
                                <a:schemeClr val="bg1"/>
                              </a:solidFill>
                              <a:effectLst/>
                            </a:rPr>
                            <a:t>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373.6915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56175779"/>
                      </a:ext>
                    </a:extLst>
                  </a:tr>
                  <a:tr h="240629">
                    <a:tc>
                      <a:txBody>
                        <a:bodyPr/>
                        <a:lstStyle/>
                        <a:p>
                          <a:pPr marL="0" marR="0" algn="ctr">
                            <a:lnSpc>
                              <a:spcPct val="100000"/>
                            </a:lnSpc>
                            <a:spcAft>
                              <a:spcPts val="800"/>
                            </a:spcAft>
                            <a:buNone/>
                          </a:pPr>
                          <a:r>
                            <a:rPr lang="en-US" sz="1200" kern="0">
                              <a:solidFill>
                                <a:schemeClr val="bg1"/>
                              </a:solidFill>
                              <a:effectLst/>
                            </a:rPr>
                            <a:t>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523.6088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875150356"/>
                      </a:ext>
                    </a:extLst>
                  </a:tr>
                  <a:tr h="240629">
                    <a:tc>
                      <a:txBody>
                        <a:bodyPr/>
                        <a:lstStyle/>
                        <a:p>
                          <a:pPr marL="0" marR="0" algn="ctr">
                            <a:lnSpc>
                              <a:spcPct val="100000"/>
                            </a:lnSpc>
                            <a:spcAft>
                              <a:spcPts val="800"/>
                            </a:spcAft>
                            <a:buNone/>
                          </a:pPr>
                          <a:r>
                            <a:rPr lang="en-US" sz="1200" kern="0">
                              <a:solidFill>
                                <a:schemeClr val="bg1"/>
                              </a:solidFill>
                              <a:effectLst/>
                            </a:rPr>
                            <a:t>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85.47791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115116865"/>
                      </a:ext>
                    </a:extLst>
                  </a:tr>
                  <a:tr h="240629">
                    <a:tc>
                      <a:txBody>
                        <a:bodyPr/>
                        <a:lstStyle/>
                        <a:p>
                          <a:pPr marL="0" marR="0" algn="ctr">
                            <a:lnSpc>
                              <a:spcPct val="100000"/>
                            </a:lnSpc>
                            <a:spcAft>
                              <a:spcPts val="800"/>
                            </a:spcAft>
                            <a:buNone/>
                          </a:pPr>
                          <a:r>
                            <a:rPr lang="en-US" sz="1200" kern="0">
                              <a:solidFill>
                                <a:schemeClr val="bg1"/>
                              </a:solidFill>
                              <a:effectLst/>
                            </a:rPr>
                            <a:t>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3108.239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458391904"/>
                      </a:ext>
                    </a:extLst>
                  </a:tr>
                  <a:tr h="240629">
                    <a:tc>
                      <a:txBody>
                        <a:bodyPr/>
                        <a:lstStyle/>
                        <a:p>
                          <a:pPr marL="0" marR="0" algn="ctr">
                            <a:lnSpc>
                              <a:spcPct val="100000"/>
                            </a:lnSpc>
                            <a:spcAft>
                              <a:spcPts val="800"/>
                            </a:spcAft>
                            <a:buNone/>
                          </a:pPr>
                          <a:r>
                            <a:rPr lang="en-US" sz="1200" kern="0">
                              <a:solidFill>
                                <a:schemeClr val="bg1"/>
                              </a:solidFill>
                              <a:effectLst/>
                            </a:rPr>
                            <a:t>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534.3328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902966190"/>
                      </a:ext>
                    </a:extLst>
                  </a:tr>
                  <a:tr h="240629">
                    <a:tc>
                      <a:txBody>
                        <a:bodyPr/>
                        <a:lstStyle/>
                        <a:p>
                          <a:pPr marL="0" marR="0" algn="ctr">
                            <a:lnSpc>
                              <a:spcPct val="100000"/>
                            </a:lnSpc>
                            <a:spcAft>
                              <a:spcPts val="800"/>
                            </a:spcAft>
                            <a:buNone/>
                          </a:pPr>
                          <a:r>
                            <a:rPr lang="en-US" sz="1200" kern="0">
                              <a:solidFill>
                                <a:schemeClr val="bg1"/>
                              </a:solidFill>
                              <a:effectLst/>
                            </a:rPr>
                            <a:t>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1437.005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525384423"/>
                      </a:ext>
                    </a:extLst>
                  </a:tr>
                  <a:tr h="240629">
                    <a:tc>
                      <a:txBody>
                        <a:bodyPr/>
                        <a:lstStyle/>
                        <a:p>
                          <a:pPr marL="0" marR="0" algn="ctr">
                            <a:lnSpc>
                              <a:spcPct val="100000"/>
                            </a:lnSpc>
                            <a:spcAft>
                              <a:spcPts val="800"/>
                            </a:spcAft>
                            <a:buNone/>
                          </a:pPr>
                          <a:r>
                            <a:rPr lang="en-US" sz="1200" kern="0">
                              <a:solidFill>
                                <a:schemeClr val="bg1"/>
                              </a:solidFill>
                              <a:effectLst/>
                            </a:rPr>
                            <a:t>10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359.3724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31096846"/>
                      </a:ext>
                    </a:extLst>
                  </a:tr>
                  <a:tr h="240629">
                    <a:tc>
                      <a:txBody>
                        <a:bodyPr/>
                        <a:lstStyle/>
                        <a:p>
                          <a:pPr marL="0" marR="0" algn="ctr">
                            <a:lnSpc>
                              <a:spcPct val="100000"/>
                            </a:lnSpc>
                            <a:spcAft>
                              <a:spcPts val="800"/>
                            </a:spcAft>
                            <a:buNone/>
                          </a:pPr>
                          <a:r>
                            <a:rPr lang="en-US" sz="1200" kern="0">
                              <a:solidFill>
                                <a:schemeClr val="bg1"/>
                              </a:solidFill>
                              <a:effectLst/>
                            </a:rPr>
                            <a:t>11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710.3541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678204429"/>
                      </a:ext>
                    </a:extLst>
                  </a:tr>
                  <a:tr h="240629">
                    <a:tc>
                      <a:txBody>
                        <a:bodyPr/>
                        <a:lstStyle/>
                        <a:p>
                          <a:pPr marL="0" marR="0" algn="ctr">
                            <a:lnSpc>
                              <a:spcPct val="100000"/>
                            </a:lnSpc>
                            <a:spcAft>
                              <a:spcPts val="800"/>
                            </a:spcAft>
                            <a:buNone/>
                          </a:pPr>
                          <a:r>
                            <a:rPr lang="en-US" sz="1200" kern="0">
                              <a:solidFill>
                                <a:schemeClr val="bg1"/>
                              </a:solidFill>
                              <a:effectLst/>
                            </a:rPr>
                            <a:t>12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122.3534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400292955"/>
                      </a:ext>
                    </a:extLst>
                  </a:tr>
                  <a:tr h="240629">
                    <a:tc>
                      <a:txBody>
                        <a:bodyPr/>
                        <a:lstStyle/>
                        <a:p>
                          <a:pPr marL="0" marR="0" algn="ctr">
                            <a:lnSpc>
                              <a:spcPct val="100000"/>
                            </a:lnSpc>
                            <a:spcAft>
                              <a:spcPts val="800"/>
                            </a:spcAft>
                            <a:buNone/>
                          </a:pPr>
                          <a:r>
                            <a:rPr lang="en-US" sz="1200" kern="0">
                              <a:solidFill>
                                <a:schemeClr val="bg1"/>
                              </a:solidFill>
                              <a:effectLst/>
                            </a:rPr>
                            <a:t>13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367.7406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457927489"/>
                      </a:ext>
                    </a:extLst>
                  </a:tr>
                  <a:tr h="240629">
                    <a:tc>
                      <a:txBody>
                        <a:bodyPr/>
                        <a:lstStyle/>
                        <a:p>
                          <a:pPr marL="0" marR="0" algn="ctr">
                            <a:lnSpc>
                              <a:spcPct val="100000"/>
                            </a:lnSpc>
                            <a:spcAft>
                              <a:spcPts val="800"/>
                            </a:spcAft>
                            <a:buNone/>
                          </a:pPr>
                          <a:r>
                            <a:rPr lang="en-US" sz="1200" kern="0">
                              <a:solidFill>
                                <a:schemeClr val="bg1"/>
                              </a:solidFill>
                              <a:effectLst/>
                            </a:rPr>
                            <a:t>14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1054.648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000675346"/>
                      </a:ext>
                    </a:extLst>
                  </a:tr>
                  <a:tr h="240629">
                    <a:tc>
                      <a:txBody>
                        <a:bodyPr/>
                        <a:lstStyle/>
                        <a:p>
                          <a:pPr marL="0" marR="0" algn="ctr">
                            <a:lnSpc>
                              <a:spcPct val="100000"/>
                            </a:lnSpc>
                            <a:spcAft>
                              <a:spcPts val="800"/>
                            </a:spcAft>
                            <a:buNone/>
                          </a:pPr>
                          <a:r>
                            <a:rPr lang="en-US" sz="1200" kern="0">
                              <a:solidFill>
                                <a:schemeClr val="bg1"/>
                              </a:solidFill>
                              <a:effectLst/>
                            </a:rPr>
                            <a:t>15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396.097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4068782642"/>
                      </a:ext>
                    </a:extLst>
                  </a:tr>
                  <a:tr h="240629">
                    <a:tc>
                      <a:txBody>
                        <a:bodyPr/>
                        <a:lstStyle/>
                        <a:p>
                          <a:pPr marL="0" marR="0" algn="ctr">
                            <a:lnSpc>
                              <a:spcPct val="100000"/>
                            </a:lnSpc>
                            <a:spcAft>
                              <a:spcPts val="800"/>
                            </a:spcAft>
                            <a:buNone/>
                          </a:pPr>
                          <a:r>
                            <a:rPr lang="en-US" sz="1200" kern="0">
                              <a:solidFill>
                                <a:schemeClr val="bg1"/>
                              </a:solidFill>
                              <a:effectLst/>
                            </a:rPr>
                            <a:t>16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2228.991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861842765"/>
                      </a:ext>
                    </a:extLst>
                  </a:tr>
                  <a:tr h="240629">
                    <a:tc>
                      <a:txBody>
                        <a:bodyPr/>
                        <a:lstStyle/>
                        <a:p>
                          <a:pPr marL="0" marR="0" algn="ctr">
                            <a:lnSpc>
                              <a:spcPct val="100000"/>
                            </a:lnSpc>
                            <a:spcAft>
                              <a:spcPts val="800"/>
                            </a:spcAft>
                            <a:buNone/>
                          </a:pPr>
                          <a:r>
                            <a:rPr lang="en-US" sz="1200" kern="0">
                              <a:solidFill>
                                <a:schemeClr val="bg1"/>
                              </a:solidFill>
                              <a:effectLst/>
                            </a:rPr>
                            <a:t>17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463.3788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539733160"/>
                      </a:ext>
                    </a:extLst>
                  </a:tr>
                  <a:tr h="240629">
                    <a:tc>
                      <a:txBody>
                        <a:bodyPr/>
                        <a:lstStyle/>
                        <a:p>
                          <a:pPr marL="0" marR="0" algn="ctr">
                            <a:lnSpc>
                              <a:spcPct val="100000"/>
                            </a:lnSpc>
                            <a:spcAft>
                              <a:spcPts val="800"/>
                            </a:spcAft>
                            <a:buNone/>
                          </a:pPr>
                          <a:r>
                            <a:rPr lang="en-US" sz="1200" kern="0">
                              <a:solidFill>
                                <a:schemeClr val="bg1"/>
                              </a:solidFill>
                              <a:effectLst/>
                            </a:rPr>
                            <a:t>18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366.7788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321717116"/>
                      </a:ext>
                    </a:extLst>
                  </a:tr>
                  <a:tr h="240629">
                    <a:tc>
                      <a:txBody>
                        <a:bodyPr/>
                        <a:lstStyle/>
                        <a:p>
                          <a:pPr marL="0" marR="0" algn="ctr">
                            <a:lnSpc>
                              <a:spcPct val="100000"/>
                            </a:lnSpc>
                            <a:spcAft>
                              <a:spcPts val="800"/>
                            </a:spcAft>
                            <a:buNone/>
                          </a:pPr>
                          <a:r>
                            <a:rPr lang="en-US" sz="1200" kern="0">
                              <a:solidFill>
                                <a:schemeClr val="bg1"/>
                              </a:solidFill>
                              <a:effectLst/>
                            </a:rPr>
                            <a:t>19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chemeClr val="accent6">
                            <a:lumMod val="40000"/>
                            <a:lumOff val="60000"/>
                          </a:schemeClr>
                        </a:solidFill>
                      </a:tcPr>
                    </a:tc>
                    <a:tc>
                      <a:txBody>
                        <a:bodyPr/>
                        <a:lstStyle/>
                        <a:p>
                          <a:pPr marL="0" marR="0" algn="ctr">
                            <a:lnSpc>
                              <a:spcPct val="10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chemeClr val="accent6">
                            <a:lumMod val="40000"/>
                            <a:lumOff val="60000"/>
                          </a:schemeClr>
                        </a:solidFill>
                      </a:tcPr>
                    </a:tc>
                    <a:tc>
                      <a:txBody>
                        <a:bodyPr/>
                        <a:lstStyle/>
                        <a:p>
                          <a:pPr marL="0" marR="0" algn="ctr">
                            <a:lnSpc>
                              <a:spcPct val="100000"/>
                            </a:lnSpc>
                            <a:spcAft>
                              <a:spcPts val="800"/>
                            </a:spcAft>
                            <a:buNone/>
                          </a:pPr>
                          <a:r>
                            <a:rPr lang="en-US" sz="1200" kern="0">
                              <a:solidFill>
                                <a:schemeClr val="bg1"/>
                              </a:solidFill>
                              <a:effectLst/>
                            </a:rPr>
                            <a:t>56.06026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chemeClr val="accent6">
                            <a:lumMod val="40000"/>
                            <a:lumOff val="60000"/>
                          </a:schemeClr>
                        </a:solidFill>
                      </a:tcPr>
                    </a:tc>
                    <a:extLst>
                      <a:ext uri="{0D108BD9-81ED-4DB2-BD59-A6C34878D82A}">
                        <a16:rowId xmlns:a16="http://schemas.microsoft.com/office/drawing/2014/main" val="3828204526"/>
                      </a:ext>
                    </a:extLst>
                  </a:tr>
                  <a:tr h="240629">
                    <a:tc>
                      <a:txBody>
                        <a:bodyPr/>
                        <a:lstStyle/>
                        <a:p>
                          <a:pPr marL="0" marR="0" algn="ctr">
                            <a:lnSpc>
                              <a:spcPct val="100000"/>
                            </a:lnSpc>
                            <a:spcAft>
                              <a:spcPts val="800"/>
                            </a:spcAft>
                            <a:buNone/>
                          </a:pPr>
                          <a:r>
                            <a:rPr lang="en-US" sz="1200" kern="0">
                              <a:solidFill>
                                <a:schemeClr val="bg1"/>
                              </a:solidFill>
                              <a:effectLst/>
                            </a:rPr>
                            <a:t>20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852.2529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713270604"/>
                      </a:ext>
                    </a:extLst>
                  </a:tr>
                  <a:tr h="240629">
                    <a:tc>
                      <a:txBody>
                        <a:bodyPr/>
                        <a:lstStyle/>
                        <a:p>
                          <a:pPr marL="0" marR="0" algn="ctr">
                            <a:lnSpc>
                              <a:spcPct val="100000"/>
                            </a:lnSpc>
                            <a:spcAft>
                              <a:spcPts val="800"/>
                            </a:spcAft>
                            <a:buNone/>
                          </a:pPr>
                          <a:r>
                            <a:rPr lang="en-US" sz="1200" kern="0">
                              <a:solidFill>
                                <a:schemeClr val="bg1"/>
                              </a:solidFill>
                              <a:effectLst/>
                            </a:rPr>
                            <a:t>21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234.7919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620505132"/>
                      </a:ext>
                    </a:extLst>
                  </a:tr>
                  <a:tr h="240629">
                    <a:tc>
                      <a:txBody>
                        <a:bodyPr/>
                        <a:lstStyle/>
                        <a:p>
                          <a:pPr marL="0" marR="0" algn="ctr">
                            <a:lnSpc>
                              <a:spcPct val="100000"/>
                            </a:lnSpc>
                            <a:spcAft>
                              <a:spcPts val="800"/>
                            </a:spcAft>
                            <a:buNone/>
                          </a:pPr>
                          <a:r>
                            <a:rPr lang="en-US" sz="1200" kern="0">
                              <a:solidFill>
                                <a:schemeClr val="bg1"/>
                              </a:solidFill>
                              <a:effectLst/>
                            </a:rPr>
                            <a:t>22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434.3692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4007502580"/>
                      </a:ext>
                    </a:extLst>
                  </a:tr>
                  <a:tr h="240629">
                    <a:tc>
                      <a:txBody>
                        <a:bodyPr/>
                        <a:lstStyle/>
                        <a:p>
                          <a:pPr marL="0" marR="0" algn="ctr">
                            <a:lnSpc>
                              <a:spcPct val="100000"/>
                            </a:lnSpc>
                            <a:spcAft>
                              <a:spcPts val="800"/>
                            </a:spcAft>
                            <a:buNone/>
                          </a:pPr>
                          <a:r>
                            <a:rPr lang="en-US" sz="1200" kern="0">
                              <a:solidFill>
                                <a:schemeClr val="bg1"/>
                              </a:solidFill>
                              <a:effectLst/>
                            </a:rPr>
                            <a:t>23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1583.066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498992413"/>
                      </a:ext>
                    </a:extLst>
                  </a:tr>
                  <a:tr h="240629">
                    <a:tc>
                      <a:txBody>
                        <a:bodyPr/>
                        <a:lstStyle/>
                        <a:p>
                          <a:pPr marL="0" marR="0" algn="ctr">
                            <a:lnSpc>
                              <a:spcPct val="100000"/>
                            </a:lnSpc>
                            <a:spcAft>
                              <a:spcPts val="800"/>
                            </a:spcAft>
                            <a:buNone/>
                          </a:pPr>
                          <a:r>
                            <a:rPr lang="en-US" sz="1200" kern="0">
                              <a:solidFill>
                                <a:schemeClr val="bg1"/>
                              </a:solidFill>
                              <a:effectLst/>
                            </a:rPr>
                            <a:t>24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1128.973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572790589"/>
                      </a:ext>
                    </a:extLst>
                  </a:tr>
                  <a:tr h="240629">
                    <a:tc>
                      <a:txBody>
                        <a:bodyPr/>
                        <a:lstStyle/>
                        <a:p>
                          <a:pPr marL="0" marR="0" algn="ctr">
                            <a:lnSpc>
                              <a:spcPct val="100000"/>
                            </a:lnSpc>
                            <a:spcAft>
                              <a:spcPts val="800"/>
                            </a:spcAft>
                            <a:buNone/>
                          </a:pPr>
                          <a:r>
                            <a:rPr lang="en-US" sz="1200" kern="0">
                              <a:solidFill>
                                <a:schemeClr val="bg1"/>
                              </a:solidFill>
                              <a:effectLst/>
                            </a:rPr>
                            <a:t>25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78.37134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555129205"/>
                      </a:ext>
                    </a:extLst>
                  </a:tr>
                </a:tbl>
              </a:graphicData>
            </a:graphic>
          </p:graphicFrame>
        </mc:Choice>
        <mc:Fallback xmlns="">
          <p:graphicFrame>
            <p:nvGraphicFramePr>
              <p:cNvPr id="3" name="Table 2">
                <a:extLst>
                  <a:ext uri="{FF2B5EF4-FFF2-40B4-BE49-F238E27FC236}">
                    <a16:creationId xmlns:a16="http://schemas.microsoft.com/office/drawing/2014/main" id="{EBF20B15-1959-543C-0BBB-8BAFFD24CF06}"/>
                  </a:ext>
                </a:extLst>
              </p:cNvPr>
              <p:cNvGraphicFramePr>
                <a:graphicFrameLocks noGrp="1"/>
              </p:cNvGraphicFramePr>
              <p:nvPr>
                <p:extLst>
                  <p:ext uri="{D42A27DB-BD31-4B8C-83A1-F6EECF244321}">
                    <p14:modId xmlns:p14="http://schemas.microsoft.com/office/powerpoint/2010/main" val="3068595943"/>
                  </p:ext>
                </p:extLst>
              </p:nvPr>
            </p:nvGraphicFramePr>
            <p:xfrm>
              <a:off x="98207" y="104775"/>
              <a:ext cx="2592685" cy="6568067"/>
            </p:xfrm>
            <a:graphic>
              <a:graphicData uri="http://schemas.openxmlformats.org/drawingml/2006/table">
                <a:tbl>
                  <a:tblPr firstRow="1" firstCol="1" bandRow="1">
                    <a:tableStyleId>{5940675A-B579-460E-94D1-54222C63F5DA}</a:tableStyleId>
                  </a:tblPr>
                  <a:tblGrid>
                    <a:gridCol w="595475">
                      <a:extLst>
                        <a:ext uri="{9D8B030D-6E8A-4147-A177-3AD203B41FA5}">
                          <a16:colId xmlns:a16="http://schemas.microsoft.com/office/drawing/2014/main" val="3908562002"/>
                        </a:ext>
                      </a:extLst>
                    </a:gridCol>
                    <a:gridCol w="915255">
                      <a:extLst>
                        <a:ext uri="{9D8B030D-6E8A-4147-A177-3AD203B41FA5}">
                          <a16:colId xmlns:a16="http://schemas.microsoft.com/office/drawing/2014/main" val="522803004"/>
                        </a:ext>
                      </a:extLst>
                    </a:gridCol>
                    <a:gridCol w="1081955">
                      <a:extLst>
                        <a:ext uri="{9D8B030D-6E8A-4147-A177-3AD203B41FA5}">
                          <a16:colId xmlns:a16="http://schemas.microsoft.com/office/drawing/2014/main" val="4212338223"/>
                        </a:ext>
                      </a:extLst>
                    </a:gridCol>
                  </a:tblGrid>
                  <a:tr h="311713">
                    <a:tc>
                      <a:txBody>
                        <a:bodyPr/>
                        <a:lstStyle/>
                        <a:p>
                          <a:pPr marL="0" marR="0" algn="ctr">
                            <a:lnSpc>
                              <a:spcPct val="100000"/>
                            </a:lnSpc>
                            <a:spcAft>
                              <a:spcPts val="800"/>
                            </a:spcAft>
                            <a:buNone/>
                          </a:pPr>
                          <a:r>
                            <a:rPr lang="en-US" sz="1200" kern="0">
                              <a:solidFill>
                                <a:schemeClr val="bg1"/>
                              </a:solidFill>
                              <a:effectLst/>
                            </a:rPr>
                            <a:t>Shift </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tc>
                      <a:txBody>
                        <a:bodyPr/>
                        <a:lstStyle/>
                        <a:p>
                          <a:pPr marL="0" marR="0" algn="ctr">
                            <a:lnSpc>
                              <a:spcPct val="100000"/>
                            </a:lnSpc>
                            <a:spcAft>
                              <a:spcPts val="800"/>
                            </a:spcAft>
                            <a:buNone/>
                          </a:pPr>
                          <a:r>
                            <a:rPr lang="en-US" sz="1200" kern="0">
                              <a:solidFill>
                                <a:schemeClr val="bg1"/>
                              </a:solidFill>
                              <a:effectLst/>
                            </a:rPr>
                            <a:t>Ký tự</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FFC000"/>
                        </a:solidFill>
                      </a:tcPr>
                    </a:tc>
                    <a:tc>
                      <a:txBody>
                        <a:bodyPr/>
                        <a:lstStyle/>
                        <a:p>
                          <a:endParaRPr lang="en-US"/>
                        </a:p>
                      </a:txBody>
                      <a:tcPr marL="43931" marR="43931" marT="0" marB="0" anchor="ctr">
                        <a:blipFill>
                          <a:blip r:embed="rId3"/>
                          <a:stretch>
                            <a:fillRect l="-139888" t="-1961" r="-1124" b="-2035294"/>
                          </a:stretch>
                        </a:blipFill>
                      </a:tcPr>
                    </a:tc>
                    <a:extLst>
                      <a:ext uri="{0D108BD9-81ED-4DB2-BD59-A6C34878D82A}">
                        <a16:rowId xmlns:a16="http://schemas.microsoft.com/office/drawing/2014/main" val="2860070009"/>
                      </a:ext>
                    </a:extLst>
                  </a:tr>
                  <a:tr h="240629">
                    <a:tc>
                      <a:txBody>
                        <a:bodyPr/>
                        <a:lstStyle/>
                        <a:p>
                          <a:pPr marL="0" marR="0" algn="ctr">
                            <a:lnSpc>
                              <a:spcPct val="100000"/>
                            </a:lnSpc>
                            <a:spcAft>
                              <a:spcPts val="800"/>
                            </a:spcAft>
                            <a:buNone/>
                          </a:pPr>
                          <a:r>
                            <a:rPr lang="en-US" sz="1200" kern="0">
                              <a:solidFill>
                                <a:schemeClr val="bg1"/>
                              </a:solidFill>
                              <a:effectLst/>
                            </a:rPr>
                            <a:t>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A</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736.4077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79205740"/>
                      </a:ext>
                    </a:extLst>
                  </a:tr>
                  <a:tr h="240629">
                    <a:tc>
                      <a:txBody>
                        <a:bodyPr/>
                        <a:lstStyle/>
                        <a:p>
                          <a:pPr marL="0" marR="0" algn="ctr">
                            <a:lnSpc>
                              <a:spcPct val="100000"/>
                            </a:lnSpc>
                            <a:spcAft>
                              <a:spcPts val="800"/>
                            </a:spcAft>
                            <a:buNone/>
                          </a:pPr>
                          <a:r>
                            <a:rPr lang="en-US" sz="1200" kern="0">
                              <a:solidFill>
                                <a:schemeClr val="bg1"/>
                              </a:solidFill>
                              <a:effectLst/>
                            </a:rPr>
                            <a:t>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B</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566.8359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475262422"/>
                      </a:ext>
                    </a:extLst>
                  </a:tr>
                  <a:tr h="240629">
                    <a:tc>
                      <a:txBody>
                        <a:bodyPr/>
                        <a:lstStyle/>
                        <a:p>
                          <a:pPr marL="0" marR="0" algn="ctr">
                            <a:lnSpc>
                              <a:spcPct val="100000"/>
                            </a:lnSpc>
                            <a:spcAft>
                              <a:spcPts val="800"/>
                            </a:spcAft>
                            <a:buNone/>
                          </a:pPr>
                          <a:r>
                            <a:rPr lang="en-US" sz="1200" kern="0">
                              <a:solidFill>
                                <a:schemeClr val="bg1"/>
                              </a:solidFill>
                              <a:effectLst/>
                            </a:rPr>
                            <a:t>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C</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239.7966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883621750"/>
                      </a:ext>
                    </a:extLst>
                  </a:tr>
                  <a:tr h="240629">
                    <a:tc>
                      <a:txBody>
                        <a:bodyPr/>
                        <a:lstStyle/>
                        <a:p>
                          <a:pPr marL="0" marR="0" algn="ctr">
                            <a:lnSpc>
                              <a:spcPct val="100000"/>
                            </a:lnSpc>
                            <a:spcAft>
                              <a:spcPts val="800"/>
                            </a:spcAft>
                            <a:buNone/>
                          </a:pPr>
                          <a:r>
                            <a:rPr lang="en-US" sz="1200" kern="0">
                              <a:solidFill>
                                <a:schemeClr val="bg1"/>
                              </a:solidFill>
                              <a:effectLst/>
                            </a:rPr>
                            <a:t>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D</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333.4191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617905706"/>
                      </a:ext>
                    </a:extLst>
                  </a:tr>
                  <a:tr h="240629">
                    <a:tc>
                      <a:txBody>
                        <a:bodyPr/>
                        <a:lstStyle/>
                        <a:p>
                          <a:pPr marL="0" marR="0" algn="ctr">
                            <a:lnSpc>
                              <a:spcPct val="100000"/>
                            </a:lnSpc>
                            <a:spcAft>
                              <a:spcPts val="800"/>
                            </a:spcAft>
                            <a:buNone/>
                          </a:pPr>
                          <a:r>
                            <a:rPr lang="en-US" sz="1200" kern="0">
                              <a:solidFill>
                                <a:schemeClr val="bg1"/>
                              </a:solidFill>
                              <a:effectLst/>
                            </a:rPr>
                            <a:t>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E</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373.6915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56175779"/>
                      </a:ext>
                    </a:extLst>
                  </a:tr>
                  <a:tr h="240629">
                    <a:tc>
                      <a:txBody>
                        <a:bodyPr/>
                        <a:lstStyle/>
                        <a:p>
                          <a:pPr marL="0" marR="0" algn="ctr">
                            <a:lnSpc>
                              <a:spcPct val="100000"/>
                            </a:lnSpc>
                            <a:spcAft>
                              <a:spcPts val="800"/>
                            </a:spcAft>
                            <a:buNone/>
                          </a:pPr>
                          <a:r>
                            <a:rPr lang="en-US" sz="1200" kern="0">
                              <a:solidFill>
                                <a:schemeClr val="bg1"/>
                              </a:solidFill>
                              <a:effectLst/>
                            </a:rPr>
                            <a:t>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F</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523.6088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875150356"/>
                      </a:ext>
                    </a:extLst>
                  </a:tr>
                  <a:tr h="240629">
                    <a:tc>
                      <a:txBody>
                        <a:bodyPr/>
                        <a:lstStyle/>
                        <a:p>
                          <a:pPr marL="0" marR="0" algn="ctr">
                            <a:lnSpc>
                              <a:spcPct val="100000"/>
                            </a:lnSpc>
                            <a:spcAft>
                              <a:spcPts val="800"/>
                            </a:spcAft>
                            <a:buNone/>
                          </a:pPr>
                          <a:r>
                            <a:rPr lang="en-US" sz="1200" kern="0">
                              <a:solidFill>
                                <a:schemeClr val="bg1"/>
                              </a:solidFill>
                              <a:effectLst/>
                            </a:rPr>
                            <a:t>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G</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85.47791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115116865"/>
                      </a:ext>
                    </a:extLst>
                  </a:tr>
                  <a:tr h="240629">
                    <a:tc>
                      <a:txBody>
                        <a:bodyPr/>
                        <a:lstStyle/>
                        <a:p>
                          <a:pPr marL="0" marR="0" algn="ctr">
                            <a:lnSpc>
                              <a:spcPct val="100000"/>
                            </a:lnSpc>
                            <a:spcAft>
                              <a:spcPts val="800"/>
                            </a:spcAft>
                            <a:buNone/>
                          </a:pPr>
                          <a:r>
                            <a:rPr lang="en-US" sz="1200" kern="0">
                              <a:solidFill>
                                <a:schemeClr val="bg1"/>
                              </a:solidFill>
                              <a:effectLst/>
                            </a:rPr>
                            <a:t>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H</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3108.239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458391904"/>
                      </a:ext>
                    </a:extLst>
                  </a:tr>
                  <a:tr h="240629">
                    <a:tc>
                      <a:txBody>
                        <a:bodyPr/>
                        <a:lstStyle/>
                        <a:p>
                          <a:pPr marL="0" marR="0" algn="ctr">
                            <a:lnSpc>
                              <a:spcPct val="100000"/>
                            </a:lnSpc>
                            <a:spcAft>
                              <a:spcPts val="800"/>
                            </a:spcAft>
                            <a:buNone/>
                          </a:pPr>
                          <a:r>
                            <a:rPr lang="en-US" sz="1200" kern="0">
                              <a:solidFill>
                                <a:schemeClr val="bg1"/>
                              </a:solidFill>
                              <a:effectLst/>
                            </a:rPr>
                            <a:t>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I</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534.3328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902966190"/>
                      </a:ext>
                    </a:extLst>
                  </a:tr>
                  <a:tr h="240629">
                    <a:tc>
                      <a:txBody>
                        <a:bodyPr/>
                        <a:lstStyle/>
                        <a:p>
                          <a:pPr marL="0" marR="0" algn="ctr">
                            <a:lnSpc>
                              <a:spcPct val="100000"/>
                            </a:lnSpc>
                            <a:spcAft>
                              <a:spcPts val="800"/>
                            </a:spcAft>
                            <a:buNone/>
                          </a:pPr>
                          <a:r>
                            <a:rPr lang="en-US" sz="1200" kern="0">
                              <a:solidFill>
                                <a:schemeClr val="bg1"/>
                              </a:solidFill>
                              <a:effectLst/>
                            </a:rPr>
                            <a:t>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J</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1437.005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525384423"/>
                      </a:ext>
                    </a:extLst>
                  </a:tr>
                  <a:tr h="240629">
                    <a:tc>
                      <a:txBody>
                        <a:bodyPr/>
                        <a:lstStyle/>
                        <a:p>
                          <a:pPr marL="0" marR="0" algn="ctr">
                            <a:lnSpc>
                              <a:spcPct val="100000"/>
                            </a:lnSpc>
                            <a:spcAft>
                              <a:spcPts val="800"/>
                            </a:spcAft>
                            <a:buNone/>
                          </a:pPr>
                          <a:r>
                            <a:rPr lang="en-US" sz="1200" kern="0">
                              <a:solidFill>
                                <a:schemeClr val="bg1"/>
                              </a:solidFill>
                              <a:effectLst/>
                            </a:rPr>
                            <a:t>10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K</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359.3724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31096846"/>
                      </a:ext>
                    </a:extLst>
                  </a:tr>
                  <a:tr h="240629">
                    <a:tc>
                      <a:txBody>
                        <a:bodyPr/>
                        <a:lstStyle/>
                        <a:p>
                          <a:pPr marL="0" marR="0" algn="ctr">
                            <a:lnSpc>
                              <a:spcPct val="100000"/>
                            </a:lnSpc>
                            <a:spcAft>
                              <a:spcPts val="800"/>
                            </a:spcAft>
                            <a:buNone/>
                          </a:pPr>
                          <a:r>
                            <a:rPr lang="en-US" sz="1200" kern="0">
                              <a:solidFill>
                                <a:schemeClr val="bg1"/>
                              </a:solidFill>
                              <a:effectLst/>
                            </a:rPr>
                            <a:t>11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L</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710.3541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678204429"/>
                      </a:ext>
                    </a:extLst>
                  </a:tr>
                  <a:tr h="240629">
                    <a:tc>
                      <a:txBody>
                        <a:bodyPr/>
                        <a:lstStyle/>
                        <a:p>
                          <a:pPr marL="0" marR="0" algn="ctr">
                            <a:lnSpc>
                              <a:spcPct val="100000"/>
                            </a:lnSpc>
                            <a:spcAft>
                              <a:spcPts val="800"/>
                            </a:spcAft>
                            <a:buNone/>
                          </a:pPr>
                          <a:r>
                            <a:rPr lang="en-US" sz="1200" kern="0">
                              <a:solidFill>
                                <a:schemeClr val="bg1"/>
                              </a:solidFill>
                              <a:effectLst/>
                            </a:rPr>
                            <a:t>12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M</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122.3534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400292955"/>
                      </a:ext>
                    </a:extLst>
                  </a:tr>
                  <a:tr h="240629">
                    <a:tc>
                      <a:txBody>
                        <a:bodyPr/>
                        <a:lstStyle/>
                        <a:p>
                          <a:pPr marL="0" marR="0" algn="ctr">
                            <a:lnSpc>
                              <a:spcPct val="100000"/>
                            </a:lnSpc>
                            <a:spcAft>
                              <a:spcPts val="800"/>
                            </a:spcAft>
                            <a:buNone/>
                          </a:pPr>
                          <a:r>
                            <a:rPr lang="en-US" sz="1200" kern="0">
                              <a:solidFill>
                                <a:schemeClr val="bg1"/>
                              </a:solidFill>
                              <a:effectLst/>
                            </a:rPr>
                            <a:t>13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N</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367.7406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457927489"/>
                      </a:ext>
                    </a:extLst>
                  </a:tr>
                  <a:tr h="240629">
                    <a:tc>
                      <a:txBody>
                        <a:bodyPr/>
                        <a:lstStyle/>
                        <a:p>
                          <a:pPr marL="0" marR="0" algn="ctr">
                            <a:lnSpc>
                              <a:spcPct val="100000"/>
                            </a:lnSpc>
                            <a:spcAft>
                              <a:spcPts val="800"/>
                            </a:spcAft>
                            <a:buNone/>
                          </a:pPr>
                          <a:r>
                            <a:rPr lang="en-US" sz="1200" kern="0">
                              <a:solidFill>
                                <a:schemeClr val="bg1"/>
                              </a:solidFill>
                              <a:effectLst/>
                            </a:rPr>
                            <a:t>14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O</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1054.648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000675346"/>
                      </a:ext>
                    </a:extLst>
                  </a:tr>
                  <a:tr h="240629">
                    <a:tc>
                      <a:txBody>
                        <a:bodyPr/>
                        <a:lstStyle/>
                        <a:p>
                          <a:pPr marL="0" marR="0" algn="ctr">
                            <a:lnSpc>
                              <a:spcPct val="100000"/>
                            </a:lnSpc>
                            <a:spcAft>
                              <a:spcPts val="800"/>
                            </a:spcAft>
                            <a:buNone/>
                          </a:pPr>
                          <a:r>
                            <a:rPr lang="en-US" sz="1200" kern="0">
                              <a:solidFill>
                                <a:schemeClr val="bg1"/>
                              </a:solidFill>
                              <a:effectLst/>
                            </a:rPr>
                            <a:t>15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P</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396.097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4068782642"/>
                      </a:ext>
                    </a:extLst>
                  </a:tr>
                  <a:tr h="240629">
                    <a:tc>
                      <a:txBody>
                        <a:bodyPr/>
                        <a:lstStyle/>
                        <a:p>
                          <a:pPr marL="0" marR="0" algn="ctr">
                            <a:lnSpc>
                              <a:spcPct val="100000"/>
                            </a:lnSpc>
                            <a:spcAft>
                              <a:spcPts val="800"/>
                            </a:spcAft>
                            <a:buNone/>
                          </a:pPr>
                          <a:r>
                            <a:rPr lang="en-US" sz="1200" kern="0">
                              <a:solidFill>
                                <a:schemeClr val="bg1"/>
                              </a:solidFill>
                              <a:effectLst/>
                            </a:rPr>
                            <a:t>16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Q</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2228.991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861842765"/>
                      </a:ext>
                    </a:extLst>
                  </a:tr>
                  <a:tr h="240629">
                    <a:tc>
                      <a:txBody>
                        <a:bodyPr/>
                        <a:lstStyle/>
                        <a:p>
                          <a:pPr marL="0" marR="0" algn="ctr">
                            <a:lnSpc>
                              <a:spcPct val="100000"/>
                            </a:lnSpc>
                            <a:spcAft>
                              <a:spcPts val="800"/>
                            </a:spcAft>
                            <a:buNone/>
                          </a:pPr>
                          <a:r>
                            <a:rPr lang="en-US" sz="1200" kern="0">
                              <a:solidFill>
                                <a:schemeClr val="bg1"/>
                              </a:solidFill>
                              <a:effectLst/>
                            </a:rPr>
                            <a:t>17</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R</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463.3788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539733160"/>
                      </a:ext>
                    </a:extLst>
                  </a:tr>
                  <a:tr h="240629">
                    <a:tc>
                      <a:txBody>
                        <a:bodyPr/>
                        <a:lstStyle/>
                        <a:p>
                          <a:pPr marL="0" marR="0" algn="ctr">
                            <a:lnSpc>
                              <a:spcPct val="100000"/>
                            </a:lnSpc>
                            <a:spcAft>
                              <a:spcPts val="800"/>
                            </a:spcAft>
                            <a:buNone/>
                          </a:pPr>
                          <a:r>
                            <a:rPr lang="en-US" sz="1200" kern="0">
                              <a:solidFill>
                                <a:schemeClr val="bg1"/>
                              </a:solidFill>
                              <a:effectLst/>
                            </a:rPr>
                            <a:t>18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S</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366.7788</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321717116"/>
                      </a:ext>
                    </a:extLst>
                  </a:tr>
                  <a:tr h="240629">
                    <a:tc>
                      <a:txBody>
                        <a:bodyPr/>
                        <a:lstStyle/>
                        <a:p>
                          <a:pPr marL="0" marR="0" algn="ctr">
                            <a:lnSpc>
                              <a:spcPct val="100000"/>
                            </a:lnSpc>
                            <a:spcAft>
                              <a:spcPts val="800"/>
                            </a:spcAft>
                            <a:buNone/>
                          </a:pPr>
                          <a:r>
                            <a:rPr lang="en-US" sz="1200" kern="0">
                              <a:solidFill>
                                <a:schemeClr val="bg1"/>
                              </a:solidFill>
                              <a:effectLst/>
                            </a:rPr>
                            <a:t>19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chemeClr val="accent6">
                            <a:lumMod val="40000"/>
                            <a:lumOff val="60000"/>
                          </a:schemeClr>
                        </a:solidFill>
                      </a:tcPr>
                    </a:tc>
                    <a:tc>
                      <a:txBody>
                        <a:bodyPr/>
                        <a:lstStyle/>
                        <a:p>
                          <a:pPr marL="0" marR="0" algn="ctr">
                            <a:lnSpc>
                              <a:spcPct val="100000"/>
                            </a:lnSpc>
                            <a:spcAft>
                              <a:spcPts val="800"/>
                            </a:spcAft>
                            <a:buNone/>
                          </a:pPr>
                          <a:r>
                            <a:rPr lang="en-US" sz="1200" kern="0">
                              <a:solidFill>
                                <a:schemeClr val="bg1"/>
                              </a:solidFill>
                              <a:effectLst/>
                            </a:rPr>
                            <a:t>T</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chemeClr val="accent6">
                            <a:lumMod val="40000"/>
                            <a:lumOff val="60000"/>
                          </a:schemeClr>
                        </a:solidFill>
                      </a:tcPr>
                    </a:tc>
                    <a:tc>
                      <a:txBody>
                        <a:bodyPr/>
                        <a:lstStyle/>
                        <a:p>
                          <a:pPr marL="0" marR="0" algn="ctr">
                            <a:lnSpc>
                              <a:spcPct val="100000"/>
                            </a:lnSpc>
                            <a:spcAft>
                              <a:spcPts val="800"/>
                            </a:spcAft>
                            <a:buNone/>
                          </a:pPr>
                          <a:r>
                            <a:rPr lang="en-US" sz="1200" kern="0">
                              <a:solidFill>
                                <a:schemeClr val="bg1"/>
                              </a:solidFill>
                              <a:effectLst/>
                            </a:rPr>
                            <a:t>56.06026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chemeClr val="accent6">
                            <a:lumMod val="40000"/>
                            <a:lumOff val="60000"/>
                          </a:schemeClr>
                        </a:solidFill>
                      </a:tcPr>
                    </a:tc>
                    <a:extLst>
                      <a:ext uri="{0D108BD9-81ED-4DB2-BD59-A6C34878D82A}">
                        <a16:rowId xmlns:a16="http://schemas.microsoft.com/office/drawing/2014/main" val="3828204526"/>
                      </a:ext>
                    </a:extLst>
                  </a:tr>
                  <a:tr h="240629">
                    <a:tc>
                      <a:txBody>
                        <a:bodyPr/>
                        <a:lstStyle/>
                        <a:p>
                          <a:pPr marL="0" marR="0" algn="ctr">
                            <a:lnSpc>
                              <a:spcPct val="100000"/>
                            </a:lnSpc>
                            <a:spcAft>
                              <a:spcPts val="800"/>
                            </a:spcAft>
                            <a:buNone/>
                          </a:pPr>
                          <a:r>
                            <a:rPr lang="en-US" sz="1200" kern="0">
                              <a:solidFill>
                                <a:schemeClr val="bg1"/>
                              </a:solidFill>
                              <a:effectLst/>
                            </a:rPr>
                            <a:t>20</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U</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852.2529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713270604"/>
                      </a:ext>
                    </a:extLst>
                  </a:tr>
                  <a:tr h="240629">
                    <a:tc>
                      <a:txBody>
                        <a:bodyPr/>
                        <a:lstStyle/>
                        <a:p>
                          <a:pPr marL="0" marR="0" algn="ctr">
                            <a:lnSpc>
                              <a:spcPct val="100000"/>
                            </a:lnSpc>
                            <a:spcAft>
                              <a:spcPts val="800"/>
                            </a:spcAft>
                            <a:buNone/>
                          </a:pPr>
                          <a:r>
                            <a:rPr lang="en-US" sz="1200" kern="0">
                              <a:solidFill>
                                <a:schemeClr val="bg1"/>
                              </a:solidFill>
                              <a:effectLst/>
                            </a:rPr>
                            <a:t>21</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V</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234.7919</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620505132"/>
                      </a:ext>
                    </a:extLst>
                  </a:tr>
                  <a:tr h="240629">
                    <a:tc>
                      <a:txBody>
                        <a:bodyPr/>
                        <a:lstStyle/>
                        <a:p>
                          <a:pPr marL="0" marR="0" algn="ctr">
                            <a:lnSpc>
                              <a:spcPct val="100000"/>
                            </a:lnSpc>
                            <a:spcAft>
                              <a:spcPts val="800"/>
                            </a:spcAft>
                            <a:buNone/>
                          </a:pPr>
                          <a:r>
                            <a:rPr lang="en-US" sz="1200" kern="0">
                              <a:solidFill>
                                <a:schemeClr val="bg1"/>
                              </a:solidFill>
                              <a:effectLst/>
                            </a:rPr>
                            <a:t>22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W</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434.3692</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4007502580"/>
                      </a:ext>
                    </a:extLst>
                  </a:tr>
                  <a:tr h="240629">
                    <a:tc>
                      <a:txBody>
                        <a:bodyPr/>
                        <a:lstStyle/>
                        <a:p>
                          <a:pPr marL="0" marR="0" algn="ctr">
                            <a:lnSpc>
                              <a:spcPct val="100000"/>
                            </a:lnSpc>
                            <a:spcAft>
                              <a:spcPts val="800"/>
                            </a:spcAft>
                            <a:buNone/>
                          </a:pPr>
                          <a:r>
                            <a:rPr lang="en-US" sz="1200" kern="0">
                              <a:solidFill>
                                <a:schemeClr val="bg1"/>
                              </a:solidFill>
                              <a:effectLst/>
                            </a:rPr>
                            <a:t>23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X</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1583.066</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3498992413"/>
                      </a:ext>
                    </a:extLst>
                  </a:tr>
                  <a:tr h="240629">
                    <a:tc>
                      <a:txBody>
                        <a:bodyPr/>
                        <a:lstStyle/>
                        <a:p>
                          <a:pPr marL="0" marR="0" algn="ctr">
                            <a:lnSpc>
                              <a:spcPct val="100000"/>
                            </a:lnSpc>
                            <a:spcAft>
                              <a:spcPts val="800"/>
                            </a:spcAft>
                            <a:buNone/>
                          </a:pPr>
                          <a:r>
                            <a:rPr lang="en-US" sz="1200" kern="0">
                              <a:solidFill>
                                <a:schemeClr val="bg1"/>
                              </a:solidFill>
                              <a:effectLst/>
                            </a:rPr>
                            <a:t>24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Y</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1128.973</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1572790589"/>
                      </a:ext>
                    </a:extLst>
                  </a:tr>
                  <a:tr h="240629">
                    <a:tc>
                      <a:txBody>
                        <a:bodyPr/>
                        <a:lstStyle/>
                        <a:p>
                          <a:pPr marL="0" marR="0" algn="ctr">
                            <a:lnSpc>
                              <a:spcPct val="100000"/>
                            </a:lnSpc>
                            <a:spcAft>
                              <a:spcPts val="800"/>
                            </a:spcAft>
                            <a:buNone/>
                          </a:pPr>
                          <a:r>
                            <a:rPr lang="en-US" sz="1200" kern="0">
                              <a:solidFill>
                                <a:schemeClr val="bg1"/>
                              </a:solidFill>
                              <a:effectLst/>
                            </a:rPr>
                            <a:t>25</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Z</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tc>
                      <a:txBody>
                        <a:bodyPr/>
                        <a:lstStyle/>
                        <a:p>
                          <a:pPr marL="0" marR="0" algn="ctr">
                            <a:lnSpc>
                              <a:spcPct val="100000"/>
                            </a:lnSpc>
                            <a:spcAft>
                              <a:spcPts val="800"/>
                            </a:spcAft>
                            <a:buNone/>
                          </a:pPr>
                          <a:r>
                            <a:rPr lang="en-US" sz="1200" kern="0">
                              <a:solidFill>
                                <a:schemeClr val="bg1"/>
                              </a:solidFill>
                              <a:effectLst/>
                            </a:rPr>
                            <a:t>78.37134</a:t>
                          </a:r>
                          <a:endParaRPr lang="en-US" sz="12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43931" marR="43931" marT="0" marB="0" anchor="ctr">
                        <a:solidFill>
                          <a:srgbClr val="A0B0DC"/>
                        </a:solidFill>
                      </a:tcPr>
                    </a:tc>
                    <a:extLst>
                      <a:ext uri="{0D108BD9-81ED-4DB2-BD59-A6C34878D82A}">
                        <a16:rowId xmlns:a16="http://schemas.microsoft.com/office/drawing/2014/main" val="2555129205"/>
                      </a:ext>
                    </a:extLst>
                  </a:tr>
                </a:tbl>
              </a:graphicData>
            </a:graphic>
          </p:graphicFrame>
        </mc:Fallback>
      </mc:AlternateContent>
      <p:sp>
        <p:nvSpPr>
          <p:cNvPr id="5" name="Content Placeholder 4">
            <a:extLst>
              <a:ext uri="{FF2B5EF4-FFF2-40B4-BE49-F238E27FC236}">
                <a16:creationId xmlns:a16="http://schemas.microsoft.com/office/drawing/2014/main" id="{FCE2911F-45D8-80EF-682A-2A1F0780663E}"/>
              </a:ext>
            </a:extLst>
          </p:cNvPr>
          <p:cNvSpPr>
            <a:spLocks noGrp="1"/>
          </p:cNvSpPr>
          <p:nvPr>
            <p:ph idx="1"/>
          </p:nvPr>
        </p:nvSpPr>
        <p:spPr>
          <a:xfrm>
            <a:off x="2916317" y="896294"/>
            <a:ext cx="7940644" cy="4158040"/>
          </a:xfrm>
        </p:spPr>
        <p:txBody>
          <a:bodyPr>
            <a:normAutofit/>
          </a:bodyPr>
          <a:lstStyle/>
          <a:p>
            <a:pPr marL="0" indent="0">
              <a:lnSpc>
                <a:spcPct val="150000"/>
              </a:lnSpc>
              <a:buNone/>
            </a:pPr>
            <a:r>
              <a:rPr lang="vi-VN" sz="2000">
                <a:latin typeface="Calibri "/>
              </a:rPr>
              <a:t>Dựa vào kết quả trên, shift = 19 tương ứng với ký tự khóa “T” có chi bình phương nhỏ nhất là 56.06026, điều này cho thấy “T” rất có khả năng là ký tự khóa đúng cho vị trí đang xét. </a:t>
            </a:r>
            <a:endParaRPr lang="en-US" sz="2000">
              <a:latin typeface="Calibri "/>
            </a:endParaRPr>
          </a:p>
          <a:p>
            <a:pPr marL="0" indent="0">
              <a:lnSpc>
                <a:spcPct val="150000"/>
              </a:lnSpc>
              <a:buNone/>
            </a:pPr>
            <a:r>
              <a:rPr lang="vi-VN" sz="2000">
                <a:latin typeface="Calibri "/>
              </a:rPr>
              <a:t>Kết luận: ký tự khóa tiềm năng của K</a:t>
            </a:r>
            <a:r>
              <a:rPr lang="vi-VN" sz="2000" baseline="-25000">
                <a:latin typeface="Calibri "/>
              </a:rPr>
              <a:t>3</a:t>
            </a:r>
            <a:r>
              <a:rPr lang="vi-VN" sz="2000">
                <a:latin typeface="Calibri "/>
              </a:rPr>
              <a:t> là “T”.</a:t>
            </a:r>
            <a:endParaRPr lang="en-US" sz="2000">
              <a:latin typeface="Calibri "/>
            </a:endParaRPr>
          </a:p>
        </p:txBody>
      </p:sp>
    </p:spTree>
    <p:extLst>
      <p:ext uri="{BB962C8B-B14F-4D97-AF65-F5344CB8AC3E}">
        <p14:creationId xmlns:p14="http://schemas.microsoft.com/office/powerpoint/2010/main" val="11196848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CC319-A654-C7F4-7FF7-35FBC992EDF2}"/>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1F6DF442-F0E8-1EF1-2023-371319D63CCE}"/>
              </a:ext>
            </a:extLst>
          </p:cNvPr>
          <p:cNvSpPr txBox="1"/>
          <p:nvPr/>
        </p:nvSpPr>
        <p:spPr>
          <a:xfrm>
            <a:off x="219075" y="104775"/>
            <a:ext cx="11356818" cy="609782"/>
          </a:xfrm>
          <a:prstGeom prst="rect">
            <a:avLst/>
          </a:prstGeom>
          <a:noFill/>
        </p:spPr>
        <p:txBody>
          <a:bodyPr wrap="square">
            <a:spAutoFit/>
          </a:bodyPr>
          <a:lstStyle/>
          <a:p>
            <a:pPr algn="just">
              <a:lnSpc>
                <a:spcPct val="150000"/>
              </a:lnSpc>
            </a:pPr>
            <a:r>
              <a:rPr lang="en-US" sz="2500" b="1"/>
              <a:t>Tổng hợp các ký tự khóa</a:t>
            </a:r>
            <a:endParaRPr lang="en-US" sz="2500" b="1" kern="100">
              <a:solidFill>
                <a:srgbClr val="00B0F0"/>
              </a:solidFill>
              <a:effectLst/>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9F5ACFA6-54CB-A3F4-6831-AF71C7099460}"/>
              </a:ext>
            </a:extLst>
          </p:cNvPr>
          <p:cNvSpPr txBox="1"/>
          <p:nvPr/>
        </p:nvSpPr>
        <p:spPr>
          <a:xfrm>
            <a:off x="615636" y="920277"/>
            <a:ext cx="10746463" cy="3276282"/>
          </a:xfrm>
          <a:prstGeom prst="rect">
            <a:avLst/>
          </a:prstGeom>
          <a:noFill/>
        </p:spPr>
        <p:txBody>
          <a:bodyPr wrap="square" rtlCol="0">
            <a:spAutoFit/>
          </a:bodyPr>
          <a:lstStyle/>
          <a:p>
            <a:pPr>
              <a:lnSpc>
                <a:spcPct val="150000"/>
              </a:lnSpc>
            </a:pPr>
            <a:r>
              <a:rPr lang="en-US" sz="2000">
                <a:latin typeface="Calibri "/>
              </a:rPr>
              <a:t>Sau khi phân tích tần suất với bản mã, chúng ta nhận được 3 ký tự khóa tiềm năng (khóa có khả năng là khóa đúng) gồm</a:t>
            </a:r>
          </a:p>
          <a:p>
            <a:pPr marL="285750" indent="-285750">
              <a:lnSpc>
                <a:spcPct val="150000"/>
              </a:lnSpc>
              <a:buFont typeface="Arial" panose="020B0604020202020204" pitchFamily="34" charset="0"/>
              <a:buChar char="•"/>
            </a:pPr>
            <a:r>
              <a:rPr lang="en-US" sz="2000">
                <a:latin typeface="Calibri "/>
              </a:rPr>
              <a:t>K</a:t>
            </a:r>
            <a:r>
              <a:rPr lang="en-US" sz="2000" baseline="-25000">
                <a:latin typeface="Calibri "/>
              </a:rPr>
              <a:t>1</a:t>
            </a:r>
            <a:r>
              <a:rPr lang="en-US" sz="2000">
                <a:latin typeface="Calibri "/>
              </a:rPr>
              <a:t>: “C”</a:t>
            </a:r>
          </a:p>
          <a:p>
            <a:pPr marL="285750" indent="-285750">
              <a:lnSpc>
                <a:spcPct val="150000"/>
              </a:lnSpc>
              <a:buFont typeface="Arial" panose="020B0604020202020204" pitchFamily="34" charset="0"/>
              <a:buChar char="•"/>
            </a:pPr>
            <a:r>
              <a:rPr lang="en-US" sz="2000">
                <a:latin typeface="Calibri "/>
              </a:rPr>
              <a:t>K</a:t>
            </a:r>
            <a:r>
              <a:rPr lang="en-US" sz="2000" baseline="-25000">
                <a:latin typeface="Calibri "/>
              </a:rPr>
              <a:t>2</a:t>
            </a:r>
            <a:r>
              <a:rPr lang="en-US" sz="2000">
                <a:latin typeface="Calibri "/>
              </a:rPr>
              <a:t>: “A”</a:t>
            </a:r>
          </a:p>
          <a:p>
            <a:pPr marL="285750" indent="-285750">
              <a:lnSpc>
                <a:spcPct val="150000"/>
              </a:lnSpc>
              <a:buFont typeface="Arial" panose="020B0604020202020204" pitchFamily="34" charset="0"/>
              <a:buChar char="•"/>
            </a:pPr>
            <a:r>
              <a:rPr lang="en-US" sz="2000">
                <a:latin typeface="Calibri "/>
              </a:rPr>
              <a:t>K</a:t>
            </a:r>
            <a:r>
              <a:rPr lang="en-US" sz="2000" baseline="-25000">
                <a:latin typeface="Calibri "/>
              </a:rPr>
              <a:t>3</a:t>
            </a:r>
            <a:r>
              <a:rPr lang="en-US" sz="2000">
                <a:latin typeface="Calibri "/>
              </a:rPr>
              <a:t>: “T”</a:t>
            </a:r>
          </a:p>
          <a:p>
            <a:pPr>
              <a:lnSpc>
                <a:spcPct val="150000"/>
              </a:lnSpc>
            </a:pPr>
            <a:r>
              <a:rPr lang="en-US" sz="2000">
                <a:latin typeface="Calibri "/>
              </a:rPr>
              <a:t>Suy ra khóa tiềm năng là “CAT”.</a:t>
            </a:r>
          </a:p>
          <a:p>
            <a:pPr>
              <a:lnSpc>
                <a:spcPct val="150000"/>
              </a:lnSpc>
            </a:pPr>
            <a:endParaRPr lang="en-US" sz="2000"/>
          </a:p>
        </p:txBody>
      </p:sp>
      <p:sp>
        <p:nvSpPr>
          <p:cNvPr id="9" name="TextBox 8">
            <a:extLst>
              <a:ext uri="{FF2B5EF4-FFF2-40B4-BE49-F238E27FC236}">
                <a16:creationId xmlns:a16="http://schemas.microsoft.com/office/drawing/2014/main" id="{9A37CB42-9370-3F3E-66E9-64BCFF2078BD}"/>
              </a:ext>
            </a:extLst>
          </p:cNvPr>
          <p:cNvSpPr txBox="1"/>
          <p:nvPr/>
        </p:nvSpPr>
        <p:spPr>
          <a:xfrm>
            <a:off x="615637" y="3913453"/>
            <a:ext cx="10746462" cy="1711366"/>
          </a:xfrm>
          <a:prstGeom prst="rect">
            <a:avLst/>
          </a:prstGeom>
          <a:noFill/>
        </p:spPr>
        <p:txBody>
          <a:bodyPr wrap="square">
            <a:spAutoFit/>
          </a:bodyPr>
          <a:lstStyle/>
          <a:p>
            <a:pPr>
              <a:lnSpc>
                <a:spcPct val="150000"/>
              </a:lnSpc>
            </a:pPr>
            <a:r>
              <a:rPr lang="en-US" b="1"/>
              <a:t>Bản mã:</a:t>
            </a:r>
          </a:p>
          <a:p>
            <a:pPr>
              <a:lnSpc>
                <a:spcPct val="150000"/>
              </a:lnSpc>
            </a:pPr>
            <a:r>
              <a:rPr lang="en-US"/>
              <a:t>“PeogrzqngcgbxerqunrNxxekiogpaegtrquwqwgPeogrzqngcrnpakqugfagfdxuekvyhwNxxekiogpafckxaonerrPeogrzqngcstaghqduaeGgvxtghpntveenaeketpdawrmaon”</a:t>
            </a:r>
          </a:p>
          <a:p>
            <a:pPr>
              <a:lnSpc>
                <a:spcPct val="150000"/>
              </a:lnSpc>
            </a:pPr>
            <a:r>
              <a:rPr lang="en-US" b="1"/>
              <a:t>Khóa:</a:t>
            </a:r>
            <a:r>
              <a:rPr lang="en-US"/>
              <a:t> “CAT”</a:t>
            </a:r>
          </a:p>
        </p:txBody>
      </p:sp>
    </p:spTree>
    <p:extLst>
      <p:ext uri="{BB962C8B-B14F-4D97-AF65-F5344CB8AC3E}">
        <p14:creationId xmlns:p14="http://schemas.microsoft.com/office/powerpoint/2010/main" val="41269479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87D4A-38EE-CCC4-BD26-20AB78D56E82}"/>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8FB8291C-0913-6BE5-4551-E34A2A850030}"/>
              </a:ext>
            </a:extLst>
          </p:cNvPr>
          <p:cNvSpPr txBox="1"/>
          <p:nvPr/>
        </p:nvSpPr>
        <p:spPr>
          <a:xfrm>
            <a:off x="219075" y="104775"/>
            <a:ext cx="11356818" cy="609782"/>
          </a:xfrm>
          <a:prstGeom prst="rect">
            <a:avLst/>
          </a:prstGeom>
          <a:noFill/>
        </p:spPr>
        <p:txBody>
          <a:bodyPr wrap="square">
            <a:spAutoFit/>
          </a:bodyPr>
          <a:lstStyle/>
          <a:p>
            <a:pPr algn="just">
              <a:lnSpc>
                <a:spcPct val="150000"/>
              </a:lnSpc>
            </a:pPr>
            <a:r>
              <a:rPr lang="en-US" sz="2500" b="1"/>
              <a:t>Giải mã với khóa tiềm năng</a:t>
            </a:r>
            <a:endParaRPr lang="en-US" sz="2500" b="1" kern="100">
              <a:solidFill>
                <a:srgbClr val="00B0F0"/>
              </a:solidFill>
              <a:effectLst/>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326C60BE-76A5-F6AA-5394-2D4D4B3BF823}"/>
              </a:ext>
            </a:extLst>
          </p:cNvPr>
          <p:cNvSpPr txBox="1"/>
          <p:nvPr/>
        </p:nvSpPr>
        <p:spPr>
          <a:xfrm>
            <a:off x="722769" y="714557"/>
            <a:ext cx="10746462" cy="1711366"/>
          </a:xfrm>
          <a:prstGeom prst="rect">
            <a:avLst/>
          </a:prstGeom>
          <a:noFill/>
        </p:spPr>
        <p:txBody>
          <a:bodyPr wrap="square">
            <a:spAutoFit/>
          </a:bodyPr>
          <a:lstStyle/>
          <a:p>
            <a:pPr>
              <a:lnSpc>
                <a:spcPct val="150000"/>
              </a:lnSpc>
            </a:pPr>
            <a:r>
              <a:rPr lang="en-US" b="1"/>
              <a:t>Bản mã:</a:t>
            </a:r>
          </a:p>
          <a:p>
            <a:pPr>
              <a:lnSpc>
                <a:spcPct val="150000"/>
              </a:lnSpc>
            </a:pPr>
            <a:r>
              <a:rPr lang="en-US"/>
              <a:t>“PeogrzqngcgbxerqunrNxxekiogpaegtrquwqwgPeogrzqngcrnpakqugfagfdxuekvyhwNxxekiogpafckxaonerrPeogrzqngcstaghqduaeGgvxtghpntveenaeketpdawrmaon”</a:t>
            </a:r>
          </a:p>
          <a:p>
            <a:pPr>
              <a:lnSpc>
                <a:spcPct val="150000"/>
              </a:lnSpc>
            </a:pPr>
            <a:r>
              <a:rPr lang="en-US" b="1"/>
              <a:t>Khóa:</a:t>
            </a:r>
            <a:r>
              <a:rPr lang="en-US"/>
              <a:t> “CAT”</a:t>
            </a:r>
          </a:p>
        </p:txBody>
      </p:sp>
      <p:graphicFrame>
        <p:nvGraphicFramePr>
          <p:cNvPr id="2" name="Table 1">
            <a:extLst>
              <a:ext uri="{FF2B5EF4-FFF2-40B4-BE49-F238E27FC236}">
                <a16:creationId xmlns:a16="http://schemas.microsoft.com/office/drawing/2014/main" id="{F307E3F5-E837-27DD-1811-B5EFB368BCD7}"/>
              </a:ext>
            </a:extLst>
          </p:cNvPr>
          <p:cNvGraphicFramePr>
            <a:graphicFrameLocks noGrp="1"/>
          </p:cNvGraphicFramePr>
          <p:nvPr>
            <p:extLst>
              <p:ext uri="{D42A27DB-BD31-4B8C-83A1-F6EECF244321}">
                <p14:modId xmlns:p14="http://schemas.microsoft.com/office/powerpoint/2010/main" val="3359920281"/>
              </p:ext>
            </p:extLst>
          </p:nvPr>
        </p:nvGraphicFramePr>
        <p:xfrm>
          <a:off x="1461182" y="2534944"/>
          <a:ext cx="9269635" cy="1387956"/>
        </p:xfrm>
        <a:graphic>
          <a:graphicData uri="http://schemas.openxmlformats.org/drawingml/2006/table">
            <a:tbl>
              <a:tblPr firstRow="1" firstCol="1" bandRow="1">
                <a:tableStyleId>{5940675A-B579-460E-94D1-54222C63F5DA}</a:tableStyleId>
              </a:tblPr>
              <a:tblGrid>
                <a:gridCol w="549238">
                  <a:extLst>
                    <a:ext uri="{9D8B030D-6E8A-4147-A177-3AD203B41FA5}">
                      <a16:colId xmlns:a16="http://schemas.microsoft.com/office/drawing/2014/main" val="3811482755"/>
                    </a:ext>
                  </a:extLst>
                </a:gridCol>
                <a:gridCol w="544281">
                  <a:extLst>
                    <a:ext uri="{9D8B030D-6E8A-4147-A177-3AD203B41FA5}">
                      <a16:colId xmlns:a16="http://schemas.microsoft.com/office/drawing/2014/main" val="3065165891"/>
                    </a:ext>
                  </a:extLst>
                </a:gridCol>
                <a:gridCol w="547256">
                  <a:extLst>
                    <a:ext uri="{9D8B030D-6E8A-4147-A177-3AD203B41FA5}">
                      <a16:colId xmlns:a16="http://schemas.microsoft.com/office/drawing/2014/main" val="1289080156"/>
                    </a:ext>
                  </a:extLst>
                </a:gridCol>
                <a:gridCol w="547256">
                  <a:extLst>
                    <a:ext uri="{9D8B030D-6E8A-4147-A177-3AD203B41FA5}">
                      <a16:colId xmlns:a16="http://schemas.microsoft.com/office/drawing/2014/main" val="1062859185"/>
                    </a:ext>
                  </a:extLst>
                </a:gridCol>
                <a:gridCol w="540316">
                  <a:extLst>
                    <a:ext uri="{9D8B030D-6E8A-4147-A177-3AD203B41FA5}">
                      <a16:colId xmlns:a16="http://schemas.microsoft.com/office/drawing/2014/main" val="1743618133"/>
                    </a:ext>
                  </a:extLst>
                </a:gridCol>
                <a:gridCol w="544281">
                  <a:extLst>
                    <a:ext uri="{9D8B030D-6E8A-4147-A177-3AD203B41FA5}">
                      <a16:colId xmlns:a16="http://schemas.microsoft.com/office/drawing/2014/main" val="2194459384"/>
                    </a:ext>
                  </a:extLst>
                </a:gridCol>
                <a:gridCol w="546264">
                  <a:extLst>
                    <a:ext uri="{9D8B030D-6E8A-4147-A177-3AD203B41FA5}">
                      <a16:colId xmlns:a16="http://schemas.microsoft.com/office/drawing/2014/main" val="3416400015"/>
                    </a:ext>
                  </a:extLst>
                </a:gridCol>
                <a:gridCol w="546264">
                  <a:extLst>
                    <a:ext uri="{9D8B030D-6E8A-4147-A177-3AD203B41FA5}">
                      <a16:colId xmlns:a16="http://schemas.microsoft.com/office/drawing/2014/main" val="3614760969"/>
                    </a:ext>
                  </a:extLst>
                </a:gridCol>
                <a:gridCol w="544281">
                  <a:extLst>
                    <a:ext uri="{9D8B030D-6E8A-4147-A177-3AD203B41FA5}">
                      <a16:colId xmlns:a16="http://schemas.microsoft.com/office/drawing/2014/main" val="142902597"/>
                    </a:ext>
                  </a:extLst>
                </a:gridCol>
                <a:gridCol w="528419">
                  <a:extLst>
                    <a:ext uri="{9D8B030D-6E8A-4147-A177-3AD203B41FA5}">
                      <a16:colId xmlns:a16="http://schemas.microsoft.com/office/drawing/2014/main" val="691367261"/>
                    </a:ext>
                  </a:extLst>
                </a:gridCol>
                <a:gridCol w="544281">
                  <a:extLst>
                    <a:ext uri="{9D8B030D-6E8A-4147-A177-3AD203B41FA5}">
                      <a16:colId xmlns:a16="http://schemas.microsoft.com/office/drawing/2014/main" val="1716757245"/>
                    </a:ext>
                  </a:extLst>
                </a:gridCol>
                <a:gridCol w="554195">
                  <a:extLst>
                    <a:ext uri="{9D8B030D-6E8A-4147-A177-3AD203B41FA5}">
                      <a16:colId xmlns:a16="http://schemas.microsoft.com/office/drawing/2014/main" val="961861397"/>
                    </a:ext>
                  </a:extLst>
                </a:gridCol>
                <a:gridCol w="540316">
                  <a:extLst>
                    <a:ext uri="{9D8B030D-6E8A-4147-A177-3AD203B41FA5}">
                      <a16:colId xmlns:a16="http://schemas.microsoft.com/office/drawing/2014/main" val="3768972039"/>
                    </a:ext>
                  </a:extLst>
                </a:gridCol>
                <a:gridCol w="556178">
                  <a:extLst>
                    <a:ext uri="{9D8B030D-6E8A-4147-A177-3AD203B41FA5}">
                      <a16:colId xmlns:a16="http://schemas.microsoft.com/office/drawing/2014/main" val="2781148466"/>
                    </a:ext>
                  </a:extLst>
                </a:gridCol>
                <a:gridCol w="544281">
                  <a:extLst>
                    <a:ext uri="{9D8B030D-6E8A-4147-A177-3AD203B41FA5}">
                      <a16:colId xmlns:a16="http://schemas.microsoft.com/office/drawing/2014/main" val="560091224"/>
                    </a:ext>
                  </a:extLst>
                </a:gridCol>
                <a:gridCol w="546264">
                  <a:extLst>
                    <a:ext uri="{9D8B030D-6E8A-4147-A177-3AD203B41FA5}">
                      <a16:colId xmlns:a16="http://schemas.microsoft.com/office/drawing/2014/main" val="3434178380"/>
                    </a:ext>
                  </a:extLst>
                </a:gridCol>
                <a:gridCol w="546264">
                  <a:extLst>
                    <a:ext uri="{9D8B030D-6E8A-4147-A177-3AD203B41FA5}">
                      <a16:colId xmlns:a16="http://schemas.microsoft.com/office/drawing/2014/main" val="2709378924"/>
                    </a:ext>
                  </a:extLst>
                </a:gridCol>
              </a:tblGrid>
              <a:tr h="462652">
                <a:tc>
                  <a:txBody>
                    <a:bodyPr/>
                    <a:lstStyle/>
                    <a:p>
                      <a:pPr marL="0" marR="0" algn="ctr">
                        <a:lnSpc>
                          <a:spcPct val="150000"/>
                        </a:lnSpc>
                        <a:spcAft>
                          <a:spcPts val="800"/>
                        </a:spcAft>
                        <a:buNone/>
                      </a:pPr>
                      <a:r>
                        <a:rPr lang="en-US" sz="2000" kern="100">
                          <a:effectLst/>
                        </a:rPr>
                        <a:t>P</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tc>
                  <a:txBody>
                    <a:bodyPr/>
                    <a:lstStyle/>
                    <a:p>
                      <a:pPr marL="0" marR="0" algn="ctr">
                        <a:lnSpc>
                          <a:spcPct val="150000"/>
                        </a:lnSpc>
                        <a:spcAft>
                          <a:spcPts val="800"/>
                        </a:spcAft>
                        <a:buNone/>
                      </a:pPr>
                      <a:r>
                        <a:rPr lang="en-US" sz="2000" kern="100">
                          <a:effectLst/>
                        </a:rPr>
                        <a:t>e</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tc>
                  <a:txBody>
                    <a:bodyPr/>
                    <a:lstStyle/>
                    <a:p>
                      <a:pPr marL="0" marR="0" algn="ctr">
                        <a:lnSpc>
                          <a:spcPct val="150000"/>
                        </a:lnSpc>
                        <a:spcAft>
                          <a:spcPts val="800"/>
                        </a:spcAft>
                        <a:buNone/>
                      </a:pPr>
                      <a:r>
                        <a:rPr lang="en-US" sz="2000" kern="100">
                          <a:effectLst/>
                        </a:rPr>
                        <a:t>o</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tc>
                  <a:txBody>
                    <a:bodyPr/>
                    <a:lstStyle/>
                    <a:p>
                      <a:pPr marL="0" marR="0" algn="ctr">
                        <a:lnSpc>
                          <a:spcPct val="150000"/>
                        </a:lnSpc>
                        <a:spcAft>
                          <a:spcPts val="800"/>
                        </a:spcAft>
                        <a:buNone/>
                      </a:pPr>
                      <a:r>
                        <a:rPr lang="en-US" sz="2000" kern="100">
                          <a:effectLst/>
                        </a:rPr>
                        <a:t>g</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tc>
                  <a:txBody>
                    <a:bodyPr/>
                    <a:lstStyle/>
                    <a:p>
                      <a:pPr marL="0" marR="0" algn="ctr">
                        <a:lnSpc>
                          <a:spcPct val="150000"/>
                        </a:lnSpc>
                        <a:spcAft>
                          <a:spcPts val="800"/>
                        </a:spcAft>
                        <a:buNone/>
                      </a:pPr>
                      <a:r>
                        <a:rPr lang="en-US" sz="2000" kern="100">
                          <a:effectLst/>
                        </a:rPr>
                        <a:t>r</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tc>
                  <a:txBody>
                    <a:bodyPr/>
                    <a:lstStyle/>
                    <a:p>
                      <a:pPr marL="0" marR="0" algn="ctr">
                        <a:lnSpc>
                          <a:spcPct val="150000"/>
                        </a:lnSpc>
                        <a:spcAft>
                          <a:spcPts val="800"/>
                        </a:spcAft>
                        <a:buNone/>
                      </a:pPr>
                      <a:r>
                        <a:rPr lang="en-US" sz="2000" kern="100">
                          <a:effectLst/>
                        </a:rPr>
                        <a:t>z</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tc>
                  <a:txBody>
                    <a:bodyPr/>
                    <a:lstStyle/>
                    <a:p>
                      <a:pPr marL="0" marR="0" algn="ctr">
                        <a:lnSpc>
                          <a:spcPct val="150000"/>
                        </a:lnSpc>
                        <a:spcAft>
                          <a:spcPts val="800"/>
                        </a:spcAft>
                        <a:buNone/>
                      </a:pPr>
                      <a:r>
                        <a:rPr lang="en-US" sz="2000" kern="100">
                          <a:effectLst/>
                        </a:rPr>
                        <a:t>q</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tc>
                  <a:txBody>
                    <a:bodyPr/>
                    <a:lstStyle/>
                    <a:p>
                      <a:pPr marL="0" marR="0" algn="ctr">
                        <a:lnSpc>
                          <a:spcPct val="150000"/>
                        </a:lnSpc>
                        <a:spcAft>
                          <a:spcPts val="800"/>
                        </a:spcAft>
                        <a:buNone/>
                      </a:pPr>
                      <a:r>
                        <a:rPr lang="en-US" sz="2000" kern="100">
                          <a:effectLst/>
                        </a:rPr>
                        <a:t>n</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tc>
                  <a:txBody>
                    <a:bodyPr/>
                    <a:lstStyle/>
                    <a:p>
                      <a:pPr marL="0" marR="0" algn="ctr">
                        <a:lnSpc>
                          <a:spcPct val="150000"/>
                        </a:lnSpc>
                        <a:spcAft>
                          <a:spcPts val="800"/>
                        </a:spcAft>
                        <a:buNone/>
                      </a:pPr>
                      <a:r>
                        <a:rPr lang="en-US" sz="2000" kern="100">
                          <a:effectLst/>
                        </a:rPr>
                        <a:t>c</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tc>
                  <a:txBody>
                    <a:bodyPr/>
                    <a:lstStyle/>
                    <a:p>
                      <a:pPr marL="0" marR="0" algn="ctr">
                        <a:lnSpc>
                          <a:spcPct val="150000"/>
                        </a:lnSpc>
                        <a:spcAft>
                          <a:spcPts val="800"/>
                        </a:spcAft>
                        <a:buNone/>
                      </a:pPr>
                      <a:r>
                        <a:rPr lang="en-US" sz="2000" kern="100">
                          <a:effectLst/>
                        </a:rPr>
                        <a:t>…</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tc>
                  <a:txBody>
                    <a:bodyPr/>
                    <a:lstStyle/>
                    <a:p>
                      <a:pPr marL="0" marR="0" algn="ctr">
                        <a:lnSpc>
                          <a:spcPct val="150000"/>
                        </a:lnSpc>
                        <a:spcAft>
                          <a:spcPts val="800"/>
                        </a:spcAft>
                        <a:buNone/>
                      </a:pPr>
                      <a:r>
                        <a:rPr lang="en-US" sz="2000" kern="100">
                          <a:effectLst/>
                        </a:rPr>
                        <a:t>a</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tc>
                  <a:txBody>
                    <a:bodyPr/>
                    <a:lstStyle/>
                    <a:p>
                      <a:pPr marL="0" marR="0" algn="ctr">
                        <a:lnSpc>
                          <a:spcPct val="150000"/>
                        </a:lnSpc>
                        <a:spcAft>
                          <a:spcPts val="800"/>
                        </a:spcAft>
                        <a:buNone/>
                      </a:pPr>
                      <a:r>
                        <a:rPr lang="en-US" sz="2000" kern="100">
                          <a:effectLst/>
                        </a:rPr>
                        <a:t>w</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tc>
                  <a:txBody>
                    <a:bodyPr/>
                    <a:lstStyle/>
                    <a:p>
                      <a:pPr marL="0" marR="0" algn="ctr">
                        <a:lnSpc>
                          <a:spcPct val="150000"/>
                        </a:lnSpc>
                        <a:spcAft>
                          <a:spcPts val="800"/>
                        </a:spcAft>
                        <a:buNone/>
                      </a:pPr>
                      <a:r>
                        <a:rPr lang="en-US" sz="2000" kern="100">
                          <a:effectLst/>
                        </a:rPr>
                        <a:t>r</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tc>
                  <a:txBody>
                    <a:bodyPr/>
                    <a:lstStyle/>
                    <a:p>
                      <a:pPr marL="0" marR="0" algn="ctr">
                        <a:lnSpc>
                          <a:spcPct val="150000"/>
                        </a:lnSpc>
                        <a:spcAft>
                          <a:spcPts val="800"/>
                        </a:spcAft>
                        <a:buNone/>
                      </a:pPr>
                      <a:r>
                        <a:rPr lang="en-US" sz="2000" kern="100">
                          <a:effectLst/>
                        </a:rPr>
                        <a:t>m</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tc>
                  <a:txBody>
                    <a:bodyPr/>
                    <a:lstStyle/>
                    <a:p>
                      <a:pPr marL="0" marR="0" algn="ctr">
                        <a:lnSpc>
                          <a:spcPct val="150000"/>
                        </a:lnSpc>
                        <a:spcAft>
                          <a:spcPts val="800"/>
                        </a:spcAft>
                        <a:buNone/>
                      </a:pPr>
                      <a:r>
                        <a:rPr lang="en-US" sz="2000" kern="100">
                          <a:effectLst/>
                        </a:rPr>
                        <a:t>a</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tc>
                  <a:txBody>
                    <a:bodyPr/>
                    <a:lstStyle/>
                    <a:p>
                      <a:pPr marL="0" marR="0" algn="ctr">
                        <a:lnSpc>
                          <a:spcPct val="150000"/>
                        </a:lnSpc>
                        <a:spcAft>
                          <a:spcPts val="800"/>
                        </a:spcAft>
                        <a:buNone/>
                      </a:pPr>
                      <a:r>
                        <a:rPr lang="en-US" sz="2000" kern="100">
                          <a:effectLst/>
                        </a:rPr>
                        <a:t>o</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tc>
                  <a:txBody>
                    <a:bodyPr/>
                    <a:lstStyle/>
                    <a:p>
                      <a:pPr marL="0" marR="0" algn="ctr">
                        <a:lnSpc>
                          <a:spcPct val="150000"/>
                        </a:lnSpc>
                        <a:spcAft>
                          <a:spcPts val="800"/>
                        </a:spcAft>
                        <a:buNone/>
                      </a:pPr>
                      <a:r>
                        <a:rPr lang="en-US" sz="2000" kern="100">
                          <a:effectLst/>
                        </a:rPr>
                        <a:t>n</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tx2">
                        <a:lumMod val="25000"/>
                      </a:schemeClr>
                    </a:solidFill>
                  </a:tcPr>
                </a:tc>
                <a:extLst>
                  <a:ext uri="{0D108BD9-81ED-4DB2-BD59-A6C34878D82A}">
                    <a16:rowId xmlns:a16="http://schemas.microsoft.com/office/drawing/2014/main" val="103231823"/>
                  </a:ext>
                </a:extLst>
              </a:tr>
              <a:tr h="462652">
                <a:tc>
                  <a:txBody>
                    <a:bodyPr/>
                    <a:lstStyle/>
                    <a:p>
                      <a:pPr marL="0" marR="0" algn="ctr">
                        <a:lnSpc>
                          <a:spcPct val="150000"/>
                        </a:lnSpc>
                        <a:spcAft>
                          <a:spcPts val="800"/>
                        </a:spcAft>
                        <a:buNone/>
                      </a:pPr>
                      <a:r>
                        <a:rPr lang="en-US" sz="2000" kern="100">
                          <a:effectLst/>
                        </a:rPr>
                        <a:t>C</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gn="ctr">
                        <a:lnSpc>
                          <a:spcPct val="150000"/>
                        </a:lnSpc>
                        <a:spcAft>
                          <a:spcPts val="800"/>
                        </a:spcAft>
                        <a:buNone/>
                      </a:pPr>
                      <a:r>
                        <a:rPr lang="en-US" sz="2000" kern="100">
                          <a:effectLst/>
                        </a:rPr>
                        <a:t>A</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gn="ctr">
                        <a:lnSpc>
                          <a:spcPct val="150000"/>
                        </a:lnSpc>
                        <a:spcAft>
                          <a:spcPts val="800"/>
                        </a:spcAft>
                        <a:buNone/>
                      </a:pPr>
                      <a:r>
                        <a:rPr lang="en-US" sz="2000" kern="100">
                          <a:effectLst/>
                        </a:rPr>
                        <a:t>T</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gn="ctr">
                        <a:lnSpc>
                          <a:spcPct val="150000"/>
                        </a:lnSpc>
                        <a:spcAft>
                          <a:spcPts val="800"/>
                        </a:spcAft>
                        <a:buNone/>
                      </a:pPr>
                      <a:r>
                        <a:rPr lang="en-US" sz="2000" kern="100">
                          <a:effectLst/>
                        </a:rPr>
                        <a:t>C</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gn="ctr">
                        <a:lnSpc>
                          <a:spcPct val="150000"/>
                        </a:lnSpc>
                        <a:spcAft>
                          <a:spcPts val="800"/>
                        </a:spcAft>
                        <a:buNone/>
                      </a:pPr>
                      <a:r>
                        <a:rPr lang="en-US" sz="2000" kern="100">
                          <a:effectLst/>
                        </a:rPr>
                        <a:t>A</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gn="ctr">
                        <a:lnSpc>
                          <a:spcPct val="150000"/>
                        </a:lnSpc>
                        <a:spcAft>
                          <a:spcPts val="800"/>
                        </a:spcAft>
                        <a:buNone/>
                      </a:pPr>
                      <a:r>
                        <a:rPr lang="en-US" sz="2000" kern="100">
                          <a:effectLst/>
                        </a:rPr>
                        <a:t>T</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gn="ctr">
                        <a:lnSpc>
                          <a:spcPct val="150000"/>
                        </a:lnSpc>
                        <a:spcAft>
                          <a:spcPts val="800"/>
                        </a:spcAft>
                        <a:buNone/>
                      </a:pPr>
                      <a:r>
                        <a:rPr lang="en-US" sz="2000" kern="100">
                          <a:effectLst/>
                        </a:rPr>
                        <a:t>C</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gn="ctr">
                        <a:lnSpc>
                          <a:spcPct val="150000"/>
                        </a:lnSpc>
                        <a:spcAft>
                          <a:spcPts val="800"/>
                        </a:spcAft>
                        <a:buNone/>
                      </a:pPr>
                      <a:r>
                        <a:rPr lang="en-US" sz="2000" kern="100">
                          <a:effectLst/>
                        </a:rPr>
                        <a:t>A</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gn="ctr">
                        <a:lnSpc>
                          <a:spcPct val="150000"/>
                        </a:lnSpc>
                        <a:spcAft>
                          <a:spcPts val="800"/>
                        </a:spcAft>
                        <a:buNone/>
                      </a:pPr>
                      <a:r>
                        <a:rPr lang="en-US" sz="2000" kern="100">
                          <a:effectLst/>
                        </a:rPr>
                        <a:t>T</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gn="ctr">
                        <a:lnSpc>
                          <a:spcPct val="150000"/>
                        </a:lnSpc>
                        <a:spcAft>
                          <a:spcPts val="800"/>
                        </a:spcAft>
                        <a:buNone/>
                      </a:pPr>
                      <a:r>
                        <a:rPr lang="en-US" sz="2000" kern="100">
                          <a:effectLst/>
                        </a:rPr>
                        <a:t>…</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gn="ctr">
                        <a:lnSpc>
                          <a:spcPct val="150000"/>
                        </a:lnSpc>
                        <a:spcAft>
                          <a:spcPts val="800"/>
                        </a:spcAft>
                        <a:buNone/>
                      </a:pPr>
                      <a:r>
                        <a:rPr lang="en-US" sz="2000" kern="100">
                          <a:effectLst/>
                        </a:rPr>
                        <a:t>T</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gn="ctr">
                        <a:lnSpc>
                          <a:spcPct val="150000"/>
                        </a:lnSpc>
                        <a:spcAft>
                          <a:spcPts val="800"/>
                        </a:spcAft>
                        <a:buNone/>
                      </a:pPr>
                      <a:r>
                        <a:rPr lang="en-US" sz="2000" kern="100">
                          <a:effectLst/>
                        </a:rPr>
                        <a:t>C</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gn="ctr">
                        <a:lnSpc>
                          <a:spcPct val="150000"/>
                        </a:lnSpc>
                        <a:spcAft>
                          <a:spcPts val="800"/>
                        </a:spcAft>
                        <a:buNone/>
                      </a:pPr>
                      <a:r>
                        <a:rPr lang="en-US" sz="2000" kern="100">
                          <a:effectLst/>
                        </a:rPr>
                        <a:t>A</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gn="ctr">
                        <a:lnSpc>
                          <a:spcPct val="150000"/>
                        </a:lnSpc>
                        <a:spcAft>
                          <a:spcPts val="800"/>
                        </a:spcAft>
                        <a:buNone/>
                      </a:pPr>
                      <a:r>
                        <a:rPr lang="en-US" sz="2000" kern="100">
                          <a:effectLst/>
                        </a:rPr>
                        <a:t>T</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gn="ctr">
                        <a:lnSpc>
                          <a:spcPct val="150000"/>
                        </a:lnSpc>
                        <a:spcAft>
                          <a:spcPts val="800"/>
                        </a:spcAft>
                        <a:buNone/>
                      </a:pPr>
                      <a:r>
                        <a:rPr lang="en-US" sz="2000" kern="100">
                          <a:effectLst/>
                        </a:rPr>
                        <a:t>C</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gn="ctr">
                        <a:lnSpc>
                          <a:spcPct val="150000"/>
                        </a:lnSpc>
                        <a:spcAft>
                          <a:spcPts val="800"/>
                        </a:spcAft>
                        <a:buNone/>
                      </a:pPr>
                      <a:r>
                        <a:rPr lang="en-US" sz="2000" kern="100">
                          <a:effectLst/>
                        </a:rPr>
                        <a:t>A</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gn="ctr">
                        <a:lnSpc>
                          <a:spcPct val="150000"/>
                        </a:lnSpc>
                        <a:spcAft>
                          <a:spcPts val="800"/>
                        </a:spcAft>
                        <a:buNone/>
                      </a:pPr>
                      <a:r>
                        <a:rPr lang="en-US" sz="2000" kern="100">
                          <a:effectLst/>
                        </a:rPr>
                        <a:t>T</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6">
                        <a:lumMod val="75000"/>
                      </a:schemeClr>
                    </a:solidFill>
                  </a:tcPr>
                </a:tc>
                <a:extLst>
                  <a:ext uri="{0D108BD9-81ED-4DB2-BD59-A6C34878D82A}">
                    <a16:rowId xmlns:a16="http://schemas.microsoft.com/office/drawing/2014/main" val="1549976509"/>
                  </a:ext>
                </a:extLst>
              </a:tr>
              <a:tr h="462652">
                <a:tc>
                  <a:txBody>
                    <a:bodyPr/>
                    <a:lstStyle/>
                    <a:p>
                      <a:pPr marL="0" marR="0" algn="ctr">
                        <a:lnSpc>
                          <a:spcPct val="150000"/>
                        </a:lnSpc>
                        <a:spcAft>
                          <a:spcPts val="800"/>
                        </a:spcAft>
                        <a:buNone/>
                      </a:pPr>
                      <a:r>
                        <a:rPr lang="en-US" sz="2000" kern="100">
                          <a:effectLst/>
                        </a:rPr>
                        <a:t>N</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Aft>
                          <a:spcPts val="800"/>
                        </a:spcAft>
                        <a:buNone/>
                      </a:pPr>
                      <a:r>
                        <a:rPr lang="en-US" sz="2000" kern="100">
                          <a:effectLst/>
                        </a:rPr>
                        <a:t>e</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Aft>
                          <a:spcPts val="800"/>
                        </a:spcAft>
                        <a:buNone/>
                      </a:pPr>
                      <a:r>
                        <a:rPr lang="en-US" sz="2000" kern="100">
                          <a:effectLst/>
                        </a:rPr>
                        <a:t>v</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Aft>
                          <a:spcPts val="800"/>
                        </a:spcAft>
                        <a:buNone/>
                      </a:pPr>
                      <a:r>
                        <a:rPr lang="en-US" sz="2000" kern="100">
                          <a:effectLst/>
                        </a:rPr>
                        <a:t>e</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Aft>
                          <a:spcPts val="800"/>
                        </a:spcAft>
                        <a:buNone/>
                      </a:pPr>
                      <a:r>
                        <a:rPr lang="en-US" sz="2000" kern="100">
                          <a:effectLst/>
                        </a:rPr>
                        <a:t>r</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Aft>
                          <a:spcPts val="800"/>
                        </a:spcAft>
                        <a:buNone/>
                      </a:pPr>
                      <a:r>
                        <a:rPr lang="en-US" sz="2000" kern="100">
                          <a:effectLst/>
                        </a:rPr>
                        <a:t>g</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Aft>
                          <a:spcPts val="800"/>
                        </a:spcAft>
                        <a:buNone/>
                      </a:pPr>
                      <a:r>
                        <a:rPr lang="en-US" sz="2000" kern="100">
                          <a:effectLst/>
                        </a:rPr>
                        <a:t>o</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Aft>
                          <a:spcPts val="800"/>
                        </a:spcAft>
                        <a:buNone/>
                      </a:pPr>
                      <a:r>
                        <a:rPr lang="en-US" sz="2000" kern="100">
                          <a:effectLst/>
                        </a:rPr>
                        <a:t>n</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Aft>
                          <a:spcPts val="800"/>
                        </a:spcAft>
                        <a:buNone/>
                      </a:pPr>
                      <a:r>
                        <a:rPr lang="en-US" sz="2000" kern="100">
                          <a:effectLst/>
                        </a:rPr>
                        <a:t>n</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Aft>
                          <a:spcPts val="800"/>
                        </a:spcAft>
                        <a:buNone/>
                      </a:pPr>
                      <a:r>
                        <a:rPr lang="en-US" sz="2000" kern="100">
                          <a:effectLst/>
                        </a:rPr>
                        <a:t> </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Aft>
                          <a:spcPts val="800"/>
                        </a:spcAft>
                        <a:buNone/>
                      </a:pPr>
                      <a:r>
                        <a:rPr lang="en-US" sz="2000" kern="100">
                          <a:effectLst/>
                        </a:rPr>
                        <a:t>h</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Aft>
                          <a:spcPts val="800"/>
                        </a:spcAft>
                        <a:buNone/>
                      </a:pPr>
                      <a:r>
                        <a:rPr lang="en-US" sz="2000" kern="100">
                          <a:effectLst/>
                        </a:rPr>
                        <a:t>u</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Aft>
                          <a:spcPts val="800"/>
                        </a:spcAft>
                        <a:buNone/>
                      </a:pPr>
                      <a:r>
                        <a:rPr lang="en-US" sz="2000" kern="100">
                          <a:effectLst/>
                        </a:rPr>
                        <a:t>r</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Aft>
                          <a:spcPts val="800"/>
                        </a:spcAft>
                        <a:buNone/>
                      </a:pPr>
                      <a:r>
                        <a:rPr lang="en-US" sz="2000" kern="100">
                          <a:effectLst/>
                        </a:rPr>
                        <a:t>t</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Aft>
                          <a:spcPts val="800"/>
                        </a:spcAft>
                        <a:buNone/>
                      </a:pPr>
                      <a:r>
                        <a:rPr lang="en-US" sz="2000" kern="100">
                          <a:effectLst/>
                        </a:rPr>
                        <a:t>y</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Aft>
                          <a:spcPts val="800"/>
                        </a:spcAft>
                        <a:buNone/>
                      </a:pPr>
                      <a:r>
                        <a:rPr lang="en-US" sz="2000" kern="100">
                          <a:effectLst/>
                        </a:rPr>
                        <a:t>o</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tc>
                  <a:txBody>
                    <a:bodyPr/>
                    <a:lstStyle/>
                    <a:p>
                      <a:pPr marL="0" marR="0" algn="ctr">
                        <a:lnSpc>
                          <a:spcPct val="150000"/>
                        </a:lnSpc>
                        <a:spcAft>
                          <a:spcPts val="800"/>
                        </a:spcAft>
                        <a:buNone/>
                      </a:pPr>
                      <a:r>
                        <a:rPr lang="en-US" sz="2000" kern="100">
                          <a:effectLst/>
                        </a:rPr>
                        <a:t>u</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solidFill>
                      <a:schemeClr val="accent1">
                        <a:lumMod val="50000"/>
                      </a:schemeClr>
                    </a:solidFill>
                  </a:tcPr>
                </a:tc>
                <a:extLst>
                  <a:ext uri="{0D108BD9-81ED-4DB2-BD59-A6C34878D82A}">
                    <a16:rowId xmlns:a16="http://schemas.microsoft.com/office/drawing/2014/main" val="832410125"/>
                  </a:ext>
                </a:extLst>
              </a:tr>
            </a:tbl>
          </a:graphicData>
        </a:graphic>
      </p:graphicFrame>
      <p:sp>
        <p:nvSpPr>
          <p:cNvPr id="3" name="TextBox 2">
            <a:extLst>
              <a:ext uri="{FF2B5EF4-FFF2-40B4-BE49-F238E27FC236}">
                <a16:creationId xmlns:a16="http://schemas.microsoft.com/office/drawing/2014/main" id="{864295CE-6783-5620-803D-AA023ECDE477}"/>
              </a:ext>
            </a:extLst>
          </p:cNvPr>
          <p:cNvSpPr txBox="1"/>
          <p:nvPr/>
        </p:nvSpPr>
        <p:spPr>
          <a:xfrm>
            <a:off x="657886" y="4262006"/>
            <a:ext cx="10746462" cy="1295868"/>
          </a:xfrm>
          <a:prstGeom prst="rect">
            <a:avLst/>
          </a:prstGeom>
          <a:noFill/>
        </p:spPr>
        <p:txBody>
          <a:bodyPr wrap="square">
            <a:spAutoFit/>
          </a:bodyPr>
          <a:lstStyle/>
          <a:p>
            <a:pPr lvl="0">
              <a:lnSpc>
                <a:spcPct val="150000"/>
              </a:lnSpc>
            </a:pPr>
            <a:r>
              <a:rPr lang="en-US" b="1"/>
              <a:t>Bản rõ:</a:t>
            </a:r>
            <a:endParaRPr lang="en-US"/>
          </a:p>
          <a:p>
            <a:pPr>
              <a:lnSpc>
                <a:spcPct val="150000"/>
              </a:lnSpc>
            </a:pPr>
            <a:r>
              <a:rPr lang="en-US"/>
              <a:t>“NevergonnagiveyouupNevergonnaletyoudownNevergonnarunaroundanddesertyouNevergonnamakeyoucryNevergonnasaygoodbyeNevergonnatellalieandhurtyou”</a:t>
            </a:r>
          </a:p>
        </p:txBody>
      </p:sp>
    </p:spTree>
    <p:extLst>
      <p:ext uri="{BB962C8B-B14F-4D97-AF65-F5344CB8AC3E}">
        <p14:creationId xmlns:p14="http://schemas.microsoft.com/office/powerpoint/2010/main" val="6781916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D2D1C-9213-17C9-79D6-2C8B7F669030}"/>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AA8A6A7C-75C6-8D5D-FF72-B459824499F7}"/>
              </a:ext>
            </a:extLst>
          </p:cNvPr>
          <p:cNvSpPr txBox="1"/>
          <p:nvPr/>
        </p:nvSpPr>
        <p:spPr>
          <a:xfrm>
            <a:off x="219075" y="104775"/>
            <a:ext cx="11356818" cy="609782"/>
          </a:xfrm>
          <a:prstGeom prst="rect">
            <a:avLst/>
          </a:prstGeom>
          <a:noFill/>
        </p:spPr>
        <p:txBody>
          <a:bodyPr wrap="square">
            <a:spAutoFit/>
          </a:bodyPr>
          <a:lstStyle/>
          <a:p>
            <a:pPr algn="just">
              <a:lnSpc>
                <a:spcPct val="150000"/>
              </a:lnSpc>
            </a:pPr>
            <a:r>
              <a:rPr lang="en-US" sz="2500" b="1"/>
              <a:t>Kết quả cuối cùng của việc giải mã</a:t>
            </a:r>
            <a:endParaRPr lang="en-US" sz="2500" b="1" kern="100">
              <a:solidFill>
                <a:srgbClr val="00B0F0"/>
              </a:solidFill>
              <a:effectLst/>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40EAD00E-D055-E286-671A-67713A7E8800}"/>
              </a:ext>
            </a:extLst>
          </p:cNvPr>
          <p:cNvSpPr txBox="1"/>
          <p:nvPr/>
        </p:nvSpPr>
        <p:spPr>
          <a:xfrm>
            <a:off x="722769" y="714557"/>
            <a:ext cx="10746462" cy="880369"/>
          </a:xfrm>
          <a:prstGeom prst="rect">
            <a:avLst/>
          </a:prstGeom>
          <a:noFill/>
        </p:spPr>
        <p:txBody>
          <a:bodyPr wrap="square">
            <a:spAutoFit/>
          </a:bodyPr>
          <a:lstStyle/>
          <a:p>
            <a:pPr>
              <a:lnSpc>
                <a:spcPct val="150000"/>
              </a:lnSpc>
            </a:pPr>
            <a:r>
              <a:rPr lang="en-US"/>
              <a:t>Như vậy là chúng ta đã giải mã thành công bản mã trên, thông điệp của bản rõ được giải mã là lời bài hát Never gonna give you up của Rick Astley.</a:t>
            </a:r>
          </a:p>
        </p:txBody>
      </p:sp>
      <p:sp>
        <p:nvSpPr>
          <p:cNvPr id="7" name="TextBox 6">
            <a:extLst>
              <a:ext uri="{FF2B5EF4-FFF2-40B4-BE49-F238E27FC236}">
                <a16:creationId xmlns:a16="http://schemas.microsoft.com/office/drawing/2014/main" id="{F02CABE1-5E96-FDFB-38B5-C2AAA702136B}"/>
              </a:ext>
            </a:extLst>
          </p:cNvPr>
          <p:cNvSpPr txBox="1"/>
          <p:nvPr/>
        </p:nvSpPr>
        <p:spPr>
          <a:xfrm>
            <a:off x="857817" y="3165431"/>
            <a:ext cx="3976733" cy="3048527"/>
          </a:xfrm>
          <a:prstGeom prst="rect">
            <a:avLst/>
          </a:prstGeom>
          <a:noFill/>
        </p:spPr>
        <p:txBody>
          <a:bodyPr wrap="square">
            <a:spAutoFit/>
          </a:bodyPr>
          <a:lstStyle/>
          <a:p>
            <a:pPr marL="0" marR="0" algn="ctr">
              <a:lnSpc>
                <a:spcPct val="150000"/>
              </a:lnSpc>
              <a:spcAft>
                <a:spcPts val="800"/>
              </a:spcAft>
              <a:buNone/>
            </a:pPr>
            <a:r>
              <a:rPr lang="en-US" sz="1800" i="1" kern="100">
                <a:effectLst/>
                <a:latin typeface="Times New Roman" panose="02020603050405020304" pitchFamily="18" charset="0"/>
                <a:ea typeface="Aptos" panose="020B0004020202020204" pitchFamily="34" charset="0"/>
                <a:cs typeface="Times New Roman" panose="02020603050405020304" pitchFamily="18" charset="0"/>
              </a:rPr>
              <a:t>“Never gonna give you up</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a:p>
            <a:pPr marL="0" marR="0" algn="ctr">
              <a:lnSpc>
                <a:spcPct val="150000"/>
              </a:lnSpc>
              <a:spcAft>
                <a:spcPts val="800"/>
              </a:spcAft>
              <a:buNone/>
            </a:pPr>
            <a:r>
              <a:rPr lang="en-US" sz="1800" i="1" kern="100">
                <a:effectLst/>
                <a:latin typeface="Times New Roman" panose="02020603050405020304" pitchFamily="18" charset="0"/>
                <a:ea typeface="Aptos" panose="020B0004020202020204" pitchFamily="34" charset="0"/>
                <a:cs typeface="Times New Roman" panose="02020603050405020304" pitchFamily="18" charset="0"/>
              </a:rPr>
              <a:t>Never gonna let you down</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a:p>
            <a:pPr marL="0" marR="0" algn="ctr">
              <a:lnSpc>
                <a:spcPct val="150000"/>
              </a:lnSpc>
              <a:spcAft>
                <a:spcPts val="800"/>
              </a:spcAft>
              <a:buNone/>
            </a:pPr>
            <a:r>
              <a:rPr lang="en-US" sz="1800" i="1" kern="100">
                <a:effectLst/>
                <a:latin typeface="Times New Roman" panose="02020603050405020304" pitchFamily="18" charset="0"/>
                <a:ea typeface="Aptos" panose="020B0004020202020204" pitchFamily="34" charset="0"/>
                <a:cs typeface="Times New Roman" panose="02020603050405020304" pitchFamily="18" charset="0"/>
              </a:rPr>
              <a:t>Never gonna run around and desert you</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a:p>
            <a:pPr marL="0" marR="0" algn="ctr">
              <a:lnSpc>
                <a:spcPct val="150000"/>
              </a:lnSpc>
              <a:spcAft>
                <a:spcPts val="800"/>
              </a:spcAft>
              <a:buNone/>
            </a:pPr>
            <a:r>
              <a:rPr lang="en-US" sz="1800" i="1" kern="100">
                <a:effectLst/>
                <a:latin typeface="Times New Roman" panose="02020603050405020304" pitchFamily="18" charset="0"/>
                <a:ea typeface="Aptos" panose="020B0004020202020204" pitchFamily="34" charset="0"/>
                <a:cs typeface="Times New Roman" panose="02020603050405020304" pitchFamily="18" charset="0"/>
              </a:rPr>
              <a:t>Never gonna make you cry</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a:p>
            <a:pPr marL="0" marR="0" algn="ctr">
              <a:lnSpc>
                <a:spcPct val="150000"/>
              </a:lnSpc>
              <a:spcAft>
                <a:spcPts val="800"/>
              </a:spcAft>
              <a:buNone/>
            </a:pPr>
            <a:r>
              <a:rPr lang="en-US" sz="1800" i="1" kern="100">
                <a:effectLst/>
                <a:latin typeface="Times New Roman" panose="02020603050405020304" pitchFamily="18" charset="0"/>
                <a:ea typeface="Aptos" panose="020B0004020202020204" pitchFamily="34" charset="0"/>
                <a:cs typeface="Times New Roman" panose="02020603050405020304" pitchFamily="18" charset="0"/>
              </a:rPr>
              <a:t>Never gonna say goodbye</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a:p>
            <a:pPr marL="0" marR="0" algn="ctr">
              <a:lnSpc>
                <a:spcPct val="150000"/>
              </a:lnSpc>
              <a:spcAft>
                <a:spcPts val="800"/>
              </a:spcAft>
              <a:buNone/>
            </a:pPr>
            <a:r>
              <a:rPr lang="en-US" sz="1800" i="1" kern="100">
                <a:effectLst/>
                <a:latin typeface="Times New Roman" panose="02020603050405020304" pitchFamily="18" charset="0"/>
                <a:ea typeface="Aptos" panose="020B0004020202020204" pitchFamily="34" charset="0"/>
                <a:cs typeface="Times New Roman" panose="02020603050405020304" pitchFamily="18" charset="0"/>
              </a:rPr>
              <a:t>Never gonna tell a lie and hurt you”</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B6F0EE3C-27A7-23DF-7074-C84D4C431D6D}"/>
              </a:ext>
            </a:extLst>
          </p:cNvPr>
          <p:cNvSpPr txBox="1"/>
          <p:nvPr/>
        </p:nvSpPr>
        <p:spPr>
          <a:xfrm>
            <a:off x="722769" y="1637128"/>
            <a:ext cx="10746462" cy="1295868"/>
          </a:xfrm>
          <a:prstGeom prst="rect">
            <a:avLst/>
          </a:prstGeom>
          <a:noFill/>
        </p:spPr>
        <p:txBody>
          <a:bodyPr wrap="square">
            <a:spAutoFit/>
          </a:bodyPr>
          <a:lstStyle/>
          <a:p>
            <a:pPr lvl="0">
              <a:lnSpc>
                <a:spcPct val="150000"/>
              </a:lnSpc>
            </a:pPr>
            <a:r>
              <a:rPr lang="en-US" b="1"/>
              <a:t>Bản rõ:</a:t>
            </a:r>
            <a:endParaRPr lang="en-US"/>
          </a:p>
          <a:p>
            <a:pPr>
              <a:lnSpc>
                <a:spcPct val="150000"/>
              </a:lnSpc>
            </a:pPr>
            <a:r>
              <a:rPr lang="en-US"/>
              <a:t>“NevergonnagiveyouupNevergonnaletyoudownNevergonnarunaroundanddesertyouNevergonnamakeyoucryNevergonnasaygoodbyeNevergonnatellalieandhurtyou”</a:t>
            </a:r>
          </a:p>
        </p:txBody>
      </p:sp>
      <p:pic>
        <p:nvPicPr>
          <p:cNvPr id="10242" name="Picture 2" descr="Rickroll GIFs - Find &amp; Share on GIPHY">
            <a:extLst>
              <a:ext uri="{FF2B5EF4-FFF2-40B4-BE49-F238E27FC236}">
                <a16:creationId xmlns:a16="http://schemas.microsoft.com/office/drawing/2014/main" id="{8FA8D2DB-7E8D-FCA9-C97D-A4E9FB273F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3489" y="2932996"/>
            <a:ext cx="457200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74641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D2701-1606-9E77-A3B8-B674C80D9651}"/>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D5DD977B-5BA4-7852-9E14-7D09C2838407}"/>
              </a:ext>
            </a:extLst>
          </p:cNvPr>
          <p:cNvSpPr txBox="1"/>
          <p:nvPr/>
        </p:nvSpPr>
        <p:spPr>
          <a:xfrm>
            <a:off x="4555685" y="204363"/>
            <a:ext cx="11356818" cy="609782"/>
          </a:xfrm>
          <a:prstGeom prst="rect">
            <a:avLst/>
          </a:prstGeom>
          <a:noFill/>
        </p:spPr>
        <p:txBody>
          <a:bodyPr wrap="square">
            <a:spAutoFit/>
          </a:bodyPr>
          <a:lstStyle/>
          <a:p>
            <a:pPr algn="just">
              <a:lnSpc>
                <a:spcPct val="150000"/>
              </a:lnSpc>
            </a:pPr>
            <a:r>
              <a:rPr lang="en-US" sz="2500" b="1"/>
              <a:t>DEMO CHƯƠNG TRÌNH</a:t>
            </a:r>
            <a:endParaRPr lang="en-US" sz="2500" b="1" kern="100">
              <a:solidFill>
                <a:srgbClr val="00B0F0"/>
              </a:solidFill>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9834823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A0FF0-6515-E2FD-FC61-97C0151D8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B90C79-FB3A-D202-AE9E-73BB51426DB8}"/>
              </a:ext>
            </a:extLst>
          </p:cNvPr>
          <p:cNvSpPr>
            <a:spLocks noGrp="1"/>
          </p:cNvSpPr>
          <p:nvPr>
            <p:ph type="title"/>
          </p:nvPr>
        </p:nvSpPr>
        <p:spPr>
          <a:xfrm>
            <a:off x="838200" y="365126"/>
            <a:ext cx="10515600" cy="766558"/>
          </a:xfrm>
        </p:spPr>
        <p:txBody>
          <a:bodyPr>
            <a:normAutofit/>
          </a:bodyPr>
          <a:lstStyle/>
          <a:p>
            <a:r>
              <a:rPr lang="en-US" sz="3000" b="1">
                <a:latin typeface="Arial" panose="020B0604020202020204" pitchFamily="34" charset="0"/>
                <a:cs typeface="Arial" panose="020B0604020202020204" pitchFamily="34" charset="0"/>
              </a:rPr>
              <a:t>Tổng kết</a:t>
            </a:r>
          </a:p>
        </p:txBody>
      </p:sp>
      <p:sp>
        <p:nvSpPr>
          <p:cNvPr id="10" name="TextBox 9">
            <a:extLst>
              <a:ext uri="{FF2B5EF4-FFF2-40B4-BE49-F238E27FC236}">
                <a16:creationId xmlns:a16="http://schemas.microsoft.com/office/drawing/2014/main" id="{E1830707-1AF5-8514-3839-95952748A08C}"/>
              </a:ext>
            </a:extLst>
          </p:cNvPr>
          <p:cNvSpPr txBox="1"/>
          <p:nvPr/>
        </p:nvSpPr>
        <p:spPr>
          <a:xfrm>
            <a:off x="838200" y="1196265"/>
            <a:ext cx="11103321" cy="4661276"/>
          </a:xfrm>
          <a:prstGeom prst="rect">
            <a:avLst/>
          </a:prstGeom>
          <a:noFill/>
        </p:spPr>
        <p:txBody>
          <a:bodyPr wrap="square">
            <a:spAutoFit/>
          </a:bodyPr>
          <a:lstStyle/>
          <a:p>
            <a:pPr>
              <a:lnSpc>
                <a:spcPct val="150000"/>
              </a:lnSpc>
              <a:buNone/>
            </a:pPr>
            <a:r>
              <a:rPr lang="vi-VN" sz="2000" b="1">
                <a:latin typeface="Calibri "/>
              </a:rPr>
              <a:t>Ưu điểm:</a:t>
            </a:r>
            <a:endParaRPr lang="vi-VN" sz="2000">
              <a:latin typeface="Calibri "/>
            </a:endParaRPr>
          </a:p>
          <a:p>
            <a:pPr marL="342900" indent="-342900">
              <a:lnSpc>
                <a:spcPct val="150000"/>
              </a:lnSpc>
              <a:buFont typeface="Arial" panose="020B0604020202020204" pitchFamily="34" charset="0"/>
              <a:buChar char="•"/>
            </a:pPr>
            <a:r>
              <a:rPr lang="vi-VN" sz="2000">
                <a:latin typeface="Calibri "/>
              </a:rPr>
              <a:t>Kết hợp Kasiski và phân tích tần suất kèm kiểm định </a:t>
            </a:r>
            <a:r>
              <a:rPr lang="en-US" sz="2000">
                <a:latin typeface="Calibri "/>
              </a:rPr>
              <a:t>Chi bình phương</a:t>
            </a:r>
            <a:r>
              <a:rPr lang="vi-VN" sz="2000">
                <a:latin typeface="Calibri "/>
              </a:rPr>
              <a:t> giúp tăng độ chính xác khi phá Vigenère.</a:t>
            </a:r>
          </a:p>
          <a:p>
            <a:pPr marL="342900" indent="-342900">
              <a:lnSpc>
                <a:spcPct val="150000"/>
              </a:lnSpc>
              <a:buFont typeface="Arial" panose="020B0604020202020204" pitchFamily="34" charset="0"/>
              <a:buChar char="•"/>
            </a:pPr>
            <a:r>
              <a:rPr lang="vi-VN" sz="2000">
                <a:latin typeface="Calibri "/>
              </a:rPr>
              <a:t>Rút ngắn thời gian xác định độ dài khóa và hỗ trợ chọn khóa một cách khách quan dựa trên thống kê.</a:t>
            </a:r>
          </a:p>
          <a:p>
            <a:pPr marL="342900" indent="-342900">
              <a:lnSpc>
                <a:spcPct val="150000"/>
              </a:lnSpc>
              <a:buFont typeface="Arial" panose="020B0604020202020204" pitchFamily="34" charset="0"/>
              <a:buChar char="•"/>
            </a:pPr>
            <a:r>
              <a:rPr lang="vi-VN" sz="2000">
                <a:latin typeface="Calibri "/>
              </a:rPr>
              <a:t>Loại bỏ nhiễu tốt hơn, giảm sai số và tăng khả năng tự động hóa.</a:t>
            </a:r>
          </a:p>
          <a:p>
            <a:pPr marL="342900" indent="-342900">
              <a:lnSpc>
                <a:spcPct val="150000"/>
              </a:lnSpc>
              <a:buFont typeface="Arial" panose="020B0604020202020204" pitchFamily="34" charset="0"/>
              <a:buChar char="•"/>
            </a:pPr>
            <a:r>
              <a:rPr lang="vi-VN" sz="2000">
                <a:latin typeface="Calibri "/>
              </a:rPr>
              <a:t>Có thể mở rộng áp dụng cho các dạng mật mã cổ điển tương tự.</a:t>
            </a:r>
          </a:p>
          <a:p>
            <a:pPr>
              <a:lnSpc>
                <a:spcPct val="150000"/>
              </a:lnSpc>
              <a:buNone/>
            </a:pPr>
            <a:r>
              <a:rPr lang="vi-VN" sz="2000" b="1">
                <a:latin typeface="Calibri "/>
              </a:rPr>
              <a:t>Nhược điểm:</a:t>
            </a:r>
            <a:endParaRPr lang="vi-VN" sz="2000">
              <a:latin typeface="Calibri "/>
            </a:endParaRPr>
          </a:p>
          <a:p>
            <a:pPr marL="342900" indent="-342900">
              <a:lnSpc>
                <a:spcPct val="150000"/>
              </a:lnSpc>
              <a:buFont typeface="Arial" panose="020B0604020202020204" pitchFamily="34" charset="0"/>
              <a:buChar char="•"/>
            </a:pPr>
            <a:r>
              <a:rPr lang="vi-VN" sz="2000">
                <a:latin typeface="Calibri "/>
              </a:rPr>
              <a:t>Độ chính xác phụ thuộc nhiều vào độ dài bản mã, bản mã ngắn sẽ cho kết quả lệch.</a:t>
            </a:r>
          </a:p>
          <a:p>
            <a:pPr marL="342900" indent="-342900">
              <a:lnSpc>
                <a:spcPct val="150000"/>
              </a:lnSpc>
              <a:buFont typeface="Arial" panose="020B0604020202020204" pitchFamily="34" charset="0"/>
              <a:buChar char="•"/>
            </a:pPr>
            <a:r>
              <a:rPr lang="vi-VN" sz="2000">
                <a:latin typeface="Calibri "/>
              </a:rPr>
              <a:t>Hiệu quả giảm với bản mã nhiễu nặng hoặc mã hóa nhiều lớp.</a:t>
            </a:r>
          </a:p>
          <a:p>
            <a:pPr marL="342900" indent="-342900">
              <a:lnSpc>
                <a:spcPct val="150000"/>
              </a:lnSpc>
              <a:buFont typeface="Arial" panose="020B0604020202020204" pitchFamily="34" charset="0"/>
              <a:buChar char="•"/>
            </a:pPr>
            <a:r>
              <a:rPr lang="vi-VN" sz="2000">
                <a:latin typeface="Calibri "/>
              </a:rPr>
              <a:t>Tốn thời gian tính toán khi không tối ưu, đặc biệt với không gian khóa lớn.</a:t>
            </a:r>
          </a:p>
        </p:txBody>
      </p:sp>
    </p:spTree>
    <p:extLst>
      <p:ext uri="{BB962C8B-B14F-4D97-AF65-F5344CB8AC3E}">
        <p14:creationId xmlns:p14="http://schemas.microsoft.com/office/powerpoint/2010/main" val="66675880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2192</TotalTime>
  <Words>5047</Words>
  <Application>Microsoft Office PowerPoint</Application>
  <PresentationFormat>Widescreen</PresentationFormat>
  <Paragraphs>1710</Paragraphs>
  <Slides>41</Slides>
  <Notes>25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41</vt:i4>
      </vt:variant>
    </vt:vector>
  </HeadingPairs>
  <TitlesOfParts>
    <vt:vector size="53" baseType="lpstr">
      <vt:lpstr>Aptos</vt:lpstr>
      <vt:lpstr>Arial</vt:lpstr>
      <vt:lpstr>Calibri</vt:lpstr>
      <vt:lpstr>Calibri </vt:lpstr>
      <vt:lpstr>Calibri (Body)</vt:lpstr>
      <vt:lpstr>Calibri Light</vt:lpstr>
      <vt:lpstr>Cambria Math</vt:lpstr>
      <vt:lpstr>Google Sans Text</vt:lpstr>
      <vt:lpstr>Symbol</vt:lpstr>
      <vt:lpstr>Times New Roman</vt:lpstr>
      <vt:lpstr>Wingdings</vt:lpstr>
      <vt:lpstr>Office 2013 - 2022 Theme</vt:lpstr>
      <vt:lpstr>ĐỒ ÁN MÔN HỌC: MÃ HÓA VÀ ỨNG DỤNG</vt:lpstr>
      <vt:lpstr>Thành viên nhóm 5</vt:lpstr>
      <vt:lpstr>Nội dung chính</vt:lpstr>
      <vt:lpstr>1. Cơ sở lý thuyết mật mã Vigenère</vt:lpstr>
      <vt:lpstr>1. Cơ sở lý thuyết mật mã Vigenère</vt:lpstr>
      <vt:lpstr>1. Cơ sở lý thuyết mật mã Vigenère</vt:lpstr>
      <vt:lpstr>1. Cơ sở lý thuyết mật mã Vigenère</vt:lpstr>
      <vt:lpstr>1. Cơ sở lý thuyết mật mã Vigenère</vt:lpstr>
      <vt:lpstr>1. Cơ sở lý thuyết mật mã Vigenère</vt:lpstr>
      <vt:lpstr>2. Phương pháp Kasiski</vt:lpstr>
      <vt:lpstr>2. Phương pháp Kasiski</vt:lpstr>
      <vt:lpstr>2. Phương pháp Kasiski</vt:lpstr>
      <vt:lpstr>2. Phương pháp Kasiski</vt:lpstr>
      <vt:lpstr>2. Phương pháp Kasiski</vt:lpstr>
      <vt:lpstr>3. Kỹ thuật phân tích tần suất </vt:lpstr>
      <vt:lpstr>3. Kỹ thuật phân tích tần suất </vt:lpstr>
      <vt:lpstr>3. Kỹ thuật phân tích tần suất </vt:lpstr>
      <vt:lpstr>3. Kỹ thuật phân tích tần suất </vt:lpstr>
      <vt:lpstr>3. Kỹ thuật phân tích tần suất </vt:lpstr>
      <vt:lpstr>3. Kỹ thuật phân tích tần suất </vt:lpstr>
      <vt:lpstr>PowerPoint Presentation</vt:lpstr>
      <vt:lpstr>4. Thực hiện giải mã</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Tổng kết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Phát Đạt Võ</dc:creator>
  <cp:lastModifiedBy>Phát Đạt Võ</cp:lastModifiedBy>
  <cp:revision>22</cp:revision>
  <dcterms:created xsi:type="dcterms:W3CDTF">2025-11-05T16:20:44Z</dcterms:created>
  <dcterms:modified xsi:type="dcterms:W3CDTF">2025-12-16T10:44:40Z</dcterms:modified>
</cp:coreProperties>
</file>